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image" Target="../media/image-22-5.png"/><Relationship Id="rId6" Type="http://schemas.openxmlformats.org/officeDocument/2006/relationships/image" Target="../media/image-2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image" Target="../media/image-23-5.png"/><Relationship Id="rId6" Type="http://schemas.openxmlformats.org/officeDocument/2006/relationships/image" Target="../media/image-2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image" Target="../media/image-24-4.png"/><Relationship Id="rId5" Type="http://schemas.openxmlformats.org/officeDocument/2006/relationships/image" Target="../media/image-24-5.png"/><Relationship Id="rId6" Type="http://schemas.openxmlformats.org/officeDocument/2006/relationships/image" Target="../media/image-24-6.png"/><Relationship Id="rId7" Type="http://schemas.openxmlformats.org/officeDocument/2006/relationships/image" Target="../media/image-2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image" Target="../media/image-25-4.png"/><Relationship Id="rId5" Type="http://schemas.openxmlformats.org/officeDocument/2006/relationships/image" Target="../media/image-2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13357"/>
          </a:solidFill>
          <a:ln/>
        </p:spPr>
      </p:sp>
      <p:sp>
        <p:nvSpPr>
          <p:cNvPr id="3" name="Shape 1"/>
          <p:cNvSpPr/>
          <p:nvPr/>
        </p:nvSpPr>
        <p:spPr>
          <a:xfrm>
            <a:off x="685692" y="1639139"/>
            <a:ext cx="1414950" cy="270055"/>
          </a:xfrm>
          <a:prstGeom prst="roundRect">
            <a:avLst>
              <a:gd name="adj" fmla="val 50000"/>
            </a:avLst>
          </a:prstGeom>
          <a:solidFill>
            <a:srgbClr val="15203A"/>
          </a:solidFill>
          <a:ln w="8659">
            <a:solidFill>
              <a:srgbClr val="314363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8149" y="1707464"/>
            <a:ext cx="133269" cy="13326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27591" y="1704894"/>
            <a:ext cx="1016794" cy="1766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C4D0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ASP.NET Core 9</a:t>
            </a:r>
            <a:endParaRPr lang="en-US" sz="975" dirty="0"/>
          </a:p>
        </p:txBody>
      </p:sp>
      <p:sp>
        <p:nvSpPr>
          <p:cNvPr id="6" name="Shape 3"/>
          <p:cNvSpPr/>
          <p:nvPr/>
        </p:nvSpPr>
        <p:spPr>
          <a:xfrm>
            <a:off x="2186285" y="1639139"/>
            <a:ext cx="983754" cy="270055"/>
          </a:xfrm>
          <a:prstGeom prst="roundRect">
            <a:avLst>
              <a:gd name="adj" fmla="val 50000"/>
            </a:avLst>
          </a:prstGeom>
          <a:solidFill>
            <a:srgbClr val="15203A"/>
          </a:solidFill>
          <a:ln w="8659">
            <a:solidFill>
              <a:srgbClr val="314363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8742" y="1707464"/>
            <a:ext cx="133269" cy="13326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2528184" y="1704894"/>
            <a:ext cx="585598" cy="1766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C4D0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18</a:t>
            </a:r>
            <a:endParaRPr lang="en-US" sz="975" dirty="0"/>
          </a:p>
        </p:txBody>
      </p:sp>
      <p:sp>
        <p:nvSpPr>
          <p:cNvPr id="9" name="Shape 5"/>
          <p:cNvSpPr/>
          <p:nvPr/>
        </p:nvSpPr>
        <p:spPr>
          <a:xfrm>
            <a:off x="3255683" y="1639139"/>
            <a:ext cx="1146653" cy="270055"/>
          </a:xfrm>
          <a:prstGeom prst="roundRect">
            <a:avLst>
              <a:gd name="adj" fmla="val 50000"/>
            </a:avLst>
          </a:prstGeom>
          <a:solidFill>
            <a:srgbClr val="15203A"/>
          </a:solidFill>
          <a:ln w="8659">
            <a:solidFill>
              <a:srgbClr val="314363"/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8140" y="1707464"/>
            <a:ext cx="133269" cy="133269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3597582" y="1704894"/>
            <a:ext cx="748497" cy="1766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C4D0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Server</a:t>
            </a:r>
            <a:endParaRPr lang="en-US" sz="975" dirty="0"/>
          </a:p>
        </p:txBody>
      </p:sp>
      <p:sp>
        <p:nvSpPr>
          <p:cNvPr id="12" name="Text 7"/>
          <p:cNvSpPr/>
          <p:nvPr/>
        </p:nvSpPr>
        <p:spPr>
          <a:xfrm>
            <a:off x="685692" y="2118636"/>
            <a:ext cx="7809580" cy="7474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5700" b="1" spc="-171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Reloj</a:t>
            </a:r>
            <a:pPr algn="l" indent="0" marL="0">
              <a:lnSpc>
                <a:spcPct val="98000"/>
              </a:lnSpc>
              <a:buNone/>
            </a:pPr>
            <a:r>
              <a:rPr lang="en-US" sz="5700" b="1" spc="-171" kern="0" dirty="0">
                <a:solidFill>
                  <a:srgbClr val="4FC3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</a:t>
            </a:r>
            <a:endParaRPr lang="en-US" sz="57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692" y="2981163"/>
            <a:ext cx="323769" cy="323769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133259" y="2961274"/>
            <a:ext cx="3403383" cy="401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C4D0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Dominican Watch Men</a:t>
            </a:r>
            <a:endParaRPr lang="en-US" sz="2250" dirty="0"/>
          </a:p>
        </p:txBody>
      </p:sp>
      <p:sp>
        <p:nvSpPr>
          <p:cNvPr id="15" name="Text 9"/>
          <p:cNvSpPr/>
          <p:nvPr/>
        </p:nvSpPr>
        <p:spPr>
          <a:xfrm>
            <a:off x="685692" y="3496378"/>
            <a:ext cx="4976029" cy="5811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425" dirty="0">
                <a:solidFill>
                  <a:srgbClr val="8DA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Tienda de relojes de lujo con API REST, panel de administración y frontend en React.</a:t>
            </a:r>
            <a:endParaRPr lang="en-US" sz="1425" dirty="0"/>
          </a:p>
        </p:txBody>
      </p:sp>
      <p:sp>
        <p:nvSpPr>
          <p:cNvPr id="16" name="Shape 10"/>
          <p:cNvSpPr/>
          <p:nvPr/>
        </p:nvSpPr>
        <p:spPr>
          <a:xfrm>
            <a:off x="685692" y="4344158"/>
            <a:ext cx="7582116" cy="9525"/>
          </a:xfrm>
          <a:prstGeom prst="rect">
            <a:avLst/>
          </a:prstGeom>
          <a:solidFill>
            <a:srgbClr val="314363"/>
          </a:solidFill>
          <a:ln/>
        </p:spPr>
      </p:sp>
      <p:sp>
        <p:nvSpPr>
          <p:cNvPr id="17" name="Text 11"/>
          <p:cNvSpPr/>
          <p:nvPr/>
        </p:nvSpPr>
        <p:spPr>
          <a:xfrm>
            <a:off x="685692" y="4543317"/>
            <a:ext cx="7809580" cy="770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90000"/>
              </a:lnSpc>
              <a:buNone/>
            </a:pPr>
            <a:r>
              <a:rPr lang="en-US" sz="1013" spc="41" kern="0" dirty="0">
                <a:solidFill>
                  <a:srgbClr val="8DA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Primera Evaluación Parcial Programación Web II Prof. </a:t>
            </a:r>
            <a:pPr algn="l" indent="0" marL="0">
              <a:lnSpc>
                <a:spcPct val="190000"/>
              </a:lnSpc>
              <a:buNone/>
            </a:pPr>
            <a:r>
              <a:rPr lang="en-US" sz="1013" b="1" spc="41" kern="0" dirty="0">
                <a:solidFill>
                  <a:srgbClr val="C4D0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Ing. Johanna Elisa Rodríguez Ricardo UNPHU </a:t>
            </a:r>
            <a:pPr algn="l" indent="0" marL="0">
              <a:lnSpc>
                <a:spcPct val="190000"/>
              </a:lnSpc>
              <a:buNone/>
            </a:pPr>
            <a:r>
              <a:rPr lang="en-US" sz="1013" spc="41" kern="0" dirty="0">
                <a:solidFill>
                  <a:srgbClr val="8DA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Junio 2026</a:t>
            </a:r>
            <a:endParaRPr lang="en-US" sz="1013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39308" y="2102400"/>
            <a:ext cx="2667000" cy="2667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13357"/>
          </a:solidFill>
          <a:ln/>
        </p:spPr>
      </p:sp>
      <p:sp>
        <p:nvSpPr>
          <p:cNvPr id="3" name="Shape 1"/>
          <p:cNvSpPr/>
          <p:nvPr/>
        </p:nvSpPr>
        <p:spPr>
          <a:xfrm>
            <a:off x="685692" y="514269"/>
            <a:ext cx="285750" cy="285750"/>
          </a:xfrm>
          <a:prstGeom prst="roundRect">
            <a:avLst>
              <a:gd name="adj" fmla="val 26667"/>
            </a:avLst>
          </a:prstGeom>
          <a:solidFill>
            <a:srgbClr val="4FC3F7">
              <a:alpha val="12000"/>
            </a:srgbClr>
          </a:solidFill>
          <a:ln w="8659">
            <a:solidFill>
              <a:srgbClr val="314363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7658" y="576235"/>
            <a:ext cx="161817" cy="16181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76163" y="592201"/>
            <a:ext cx="1555416" cy="1679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b="1" spc="169" kern="0" dirty="0">
                <a:solidFill>
                  <a:srgbClr val="4FC3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¿QUIÉNES SOMOS?</a:t>
            </a:r>
            <a:endParaRPr lang="en-US" sz="938" dirty="0"/>
          </a:p>
        </p:txBody>
      </p:sp>
      <p:sp>
        <p:nvSpPr>
          <p:cNvPr id="6" name="Text 3"/>
          <p:cNvSpPr/>
          <p:nvPr/>
        </p:nvSpPr>
        <p:spPr>
          <a:xfrm>
            <a:off x="11029381" y="596530"/>
            <a:ext cx="553126" cy="1593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41" kern="0" dirty="0">
                <a:solidFill>
                  <a:srgbClr val="8DA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/ 25</a:t>
            </a:r>
            <a:endParaRPr lang="en-US" sz="825" dirty="0"/>
          </a:p>
        </p:txBody>
      </p:sp>
      <p:sp>
        <p:nvSpPr>
          <p:cNvPr id="7" name="Text 4"/>
          <p:cNvSpPr/>
          <p:nvPr/>
        </p:nvSpPr>
        <p:spPr>
          <a:xfrm>
            <a:off x="685692" y="971442"/>
            <a:ext cx="11145235" cy="4361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850" b="1" spc="-29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Integrantes del Grupo</a:t>
            </a:r>
            <a:endParaRPr lang="en-US" sz="2850" dirty="0"/>
          </a:p>
        </p:txBody>
      </p:sp>
      <p:sp>
        <p:nvSpPr>
          <p:cNvPr id="8" name="Shape 5"/>
          <p:cNvSpPr/>
          <p:nvPr/>
        </p:nvSpPr>
        <p:spPr>
          <a:xfrm>
            <a:off x="685692" y="1559854"/>
            <a:ext cx="438096" cy="28548"/>
          </a:xfrm>
          <a:prstGeom prst="roundRect">
            <a:avLst>
              <a:gd name="adj" fmla="val 50000"/>
            </a:avLst>
          </a:prstGeom>
          <a:solidFill>
            <a:srgbClr val="4FC3F7"/>
          </a:solidFill>
          <a:ln/>
        </p:spPr>
      </p:sp>
      <p:sp>
        <p:nvSpPr>
          <p:cNvPr id="9" name="Shape 6"/>
          <p:cNvSpPr/>
          <p:nvPr/>
        </p:nvSpPr>
        <p:spPr>
          <a:xfrm>
            <a:off x="685692" y="1798141"/>
            <a:ext cx="5334135" cy="874297"/>
          </a:xfrm>
          <a:prstGeom prst="roundRect">
            <a:avLst>
              <a:gd name="adj" fmla="val 15252"/>
            </a:avLst>
          </a:prstGeom>
          <a:solidFill>
            <a:srgbClr val="22324F"/>
          </a:solidFill>
          <a:ln w="8659">
            <a:solidFill>
              <a:srgbClr val="314363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922870" y="2016242"/>
            <a:ext cx="438096" cy="438096"/>
          </a:xfrm>
          <a:prstGeom prst="roundRect">
            <a:avLst>
              <a:gd name="adj" fmla="val 23916"/>
            </a:avLst>
          </a:prstGeom>
          <a:solidFill>
            <a:srgbClr val="4FC3F7">
              <a:alpha val="12000"/>
            </a:srgbClr>
          </a:solidFill>
          <a:ln w="8659">
            <a:solidFill>
              <a:srgbClr val="314363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7591" y="2120963"/>
            <a:ext cx="228519" cy="22851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513311" y="2034372"/>
            <a:ext cx="3003985" cy="2459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Roberto Rafael Sánchez Gutiérrez</a:t>
            </a:r>
            <a:endParaRPr lang="en-US" sz="1425" dirty="0"/>
          </a:p>
        </p:txBody>
      </p:sp>
      <p:sp>
        <p:nvSpPr>
          <p:cNvPr id="13" name="Text 9"/>
          <p:cNvSpPr/>
          <p:nvPr/>
        </p:nvSpPr>
        <p:spPr>
          <a:xfrm>
            <a:off x="1513311" y="2280209"/>
            <a:ext cx="3003985" cy="1939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Matrícula 24-0177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172173" y="1798141"/>
            <a:ext cx="5334135" cy="874297"/>
          </a:xfrm>
          <a:prstGeom prst="roundRect">
            <a:avLst>
              <a:gd name="adj" fmla="val 15252"/>
            </a:avLst>
          </a:prstGeom>
          <a:solidFill>
            <a:srgbClr val="22324F"/>
          </a:solidFill>
          <a:ln w="8659">
            <a:solidFill>
              <a:srgbClr val="314363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409351" y="2016242"/>
            <a:ext cx="438096" cy="438096"/>
          </a:xfrm>
          <a:prstGeom prst="roundRect">
            <a:avLst>
              <a:gd name="adj" fmla="val 23916"/>
            </a:avLst>
          </a:prstGeom>
          <a:solidFill>
            <a:srgbClr val="4FC3F7">
              <a:alpha val="12000"/>
            </a:srgbClr>
          </a:solidFill>
          <a:ln w="8659">
            <a:solidFill>
              <a:srgbClr val="314363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4072" y="2120963"/>
            <a:ext cx="228519" cy="228519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999793" y="2034372"/>
            <a:ext cx="1436624" cy="2459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Axel Santana</a:t>
            </a:r>
            <a:endParaRPr lang="en-US" sz="1425" dirty="0"/>
          </a:p>
        </p:txBody>
      </p:sp>
      <p:sp>
        <p:nvSpPr>
          <p:cNvPr id="18" name="Text 13"/>
          <p:cNvSpPr/>
          <p:nvPr/>
        </p:nvSpPr>
        <p:spPr>
          <a:xfrm>
            <a:off x="6999793" y="2280209"/>
            <a:ext cx="1436624" cy="1939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Matrícula 23-1568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685692" y="2843564"/>
            <a:ext cx="5334135" cy="874298"/>
          </a:xfrm>
          <a:prstGeom prst="roundRect">
            <a:avLst>
              <a:gd name="adj" fmla="val 15252"/>
            </a:avLst>
          </a:prstGeom>
          <a:solidFill>
            <a:srgbClr val="22324F"/>
          </a:solidFill>
          <a:ln w="8659">
            <a:solidFill>
              <a:srgbClr val="314363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922870" y="3061665"/>
            <a:ext cx="438096" cy="438096"/>
          </a:xfrm>
          <a:prstGeom prst="roundRect">
            <a:avLst>
              <a:gd name="adj" fmla="val 23916"/>
            </a:avLst>
          </a:prstGeom>
          <a:solidFill>
            <a:srgbClr val="7EE787">
              <a:alpha val="10000"/>
            </a:srgbClr>
          </a:solidFill>
          <a:ln w="8659">
            <a:solidFill>
              <a:srgbClr val="7EE787">
                <a:alpha val="25000"/>
              </a:srgbClr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7591" y="3166386"/>
            <a:ext cx="228519" cy="228519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494234" y="3115378"/>
            <a:ext cx="2182253" cy="1679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90" kern="0" dirty="0">
                <a:solidFill>
                  <a:srgbClr val="8DA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EDITORES</a:t>
            </a:r>
            <a:endParaRPr lang="en-US" sz="900" dirty="0"/>
          </a:p>
        </p:txBody>
      </p:sp>
      <p:sp>
        <p:nvSpPr>
          <p:cNvPr id="23" name="Text 17"/>
          <p:cNvSpPr/>
          <p:nvPr/>
        </p:nvSpPr>
        <p:spPr>
          <a:xfrm>
            <a:off x="1494234" y="3264207"/>
            <a:ext cx="2182253" cy="2199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Studio 2022 · VS Code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6172173" y="2843564"/>
            <a:ext cx="5334135" cy="874298"/>
          </a:xfrm>
          <a:prstGeom prst="roundRect">
            <a:avLst>
              <a:gd name="adj" fmla="val 15252"/>
            </a:avLst>
          </a:prstGeom>
          <a:solidFill>
            <a:srgbClr val="22324F"/>
          </a:solidFill>
          <a:ln w="8659">
            <a:solidFill>
              <a:srgbClr val="314363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6409351" y="3061665"/>
            <a:ext cx="438096" cy="438096"/>
          </a:xfrm>
          <a:prstGeom prst="roundRect">
            <a:avLst>
              <a:gd name="adj" fmla="val 23916"/>
            </a:avLst>
          </a:prstGeom>
          <a:solidFill>
            <a:srgbClr val="4FC3F7">
              <a:alpha val="12000"/>
            </a:srgbClr>
          </a:solidFill>
          <a:ln w="8659">
            <a:solidFill>
              <a:srgbClr val="314363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14072" y="3166386"/>
            <a:ext cx="228519" cy="228519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6980715" y="3115378"/>
            <a:ext cx="1701809" cy="1679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90" kern="0" dirty="0">
                <a:solidFill>
                  <a:srgbClr val="8DA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REPOSITORIO</a:t>
            </a:r>
            <a:endParaRPr lang="en-US" sz="900" dirty="0"/>
          </a:p>
        </p:txBody>
      </p:sp>
      <p:sp>
        <p:nvSpPr>
          <p:cNvPr id="28" name="Text 21"/>
          <p:cNvSpPr/>
          <p:nvPr/>
        </p:nvSpPr>
        <p:spPr>
          <a:xfrm>
            <a:off x="6980715" y="3264207"/>
            <a:ext cx="1701809" cy="2199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FC3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Link de GitHub aquí ]</a:t>
            </a:r>
            <a:endParaRPr lang="en-US" sz="1200" dirty="0"/>
          </a:p>
        </p:txBody>
      </p:sp>
      <p:sp>
        <p:nvSpPr>
          <p:cNvPr id="29" name="Text 22"/>
          <p:cNvSpPr/>
          <p:nvPr/>
        </p:nvSpPr>
        <p:spPr>
          <a:xfrm>
            <a:off x="685692" y="6279600"/>
            <a:ext cx="1965505" cy="1593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spc="66" kern="0" dirty="0">
                <a:solidFill>
                  <a:srgbClr val="C4D0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RelojAPI · Dominican Watch Men</a:t>
            </a:r>
            <a:endParaRPr lang="en-US" sz="825" dirty="0"/>
          </a:p>
        </p:txBody>
      </p:sp>
      <p:sp>
        <p:nvSpPr>
          <p:cNvPr id="30" name="Text 23"/>
          <p:cNvSpPr/>
          <p:nvPr/>
        </p:nvSpPr>
        <p:spPr>
          <a:xfrm>
            <a:off x="11127202" y="6279600"/>
            <a:ext cx="455306" cy="1593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66" kern="0" dirty="0">
                <a:solidFill>
                  <a:srgbClr val="8DA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25</a:t>
            </a:r>
            <a:endParaRPr lang="en-US" sz="82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13357"/>
          </a:solidFill>
          <a:ln/>
        </p:spPr>
      </p:sp>
      <p:sp>
        <p:nvSpPr>
          <p:cNvPr id="3" name="Shape 1"/>
          <p:cNvSpPr/>
          <p:nvPr/>
        </p:nvSpPr>
        <p:spPr>
          <a:xfrm>
            <a:off x="685692" y="514269"/>
            <a:ext cx="285750" cy="285750"/>
          </a:xfrm>
          <a:prstGeom prst="roundRect">
            <a:avLst>
              <a:gd name="adj" fmla="val 26667"/>
            </a:avLst>
          </a:prstGeom>
          <a:solidFill>
            <a:srgbClr val="4FC3F7">
              <a:alpha val="12000"/>
            </a:srgbClr>
          </a:solidFill>
          <a:ln w="8659">
            <a:solidFill>
              <a:srgbClr val="314363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7658" y="576235"/>
            <a:ext cx="161817" cy="16181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76163" y="592201"/>
            <a:ext cx="1167651" cy="1679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b="1" spc="169" kern="0" dirty="0">
                <a:solidFill>
                  <a:srgbClr val="4FC3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CONCEPTO</a:t>
            </a:r>
            <a:endParaRPr lang="en-US" sz="938" dirty="0"/>
          </a:p>
        </p:txBody>
      </p:sp>
      <p:sp>
        <p:nvSpPr>
          <p:cNvPr id="6" name="Text 3"/>
          <p:cNvSpPr/>
          <p:nvPr/>
        </p:nvSpPr>
        <p:spPr>
          <a:xfrm>
            <a:off x="11029381" y="596530"/>
            <a:ext cx="553126" cy="1593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41" kern="0" dirty="0">
                <a:solidFill>
                  <a:srgbClr val="8DA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/ 25</a:t>
            </a:r>
            <a:endParaRPr lang="en-US" sz="825" dirty="0"/>
          </a:p>
        </p:txBody>
      </p:sp>
      <p:sp>
        <p:nvSpPr>
          <p:cNvPr id="7" name="Text 4"/>
          <p:cNvSpPr/>
          <p:nvPr/>
        </p:nvSpPr>
        <p:spPr>
          <a:xfrm>
            <a:off x="685692" y="971442"/>
            <a:ext cx="11145235" cy="4361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850" b="1" spc="-29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¿Cuál es la idea del proyecto?</a:t>
            </a:r>
            <a:endParaRPr lang="en-US" sz="2850" dirty="0"/>
          </a:p>
        </p:txBody>
      </p:sp>
      <p:sp>
        <p:nvSpPr>
          <p:cNvPr id="8" name="Shape 5"/>
          <p:cNvSpPr/>
          <p:nvPr/>
        </p:nvSpPr>
        <p:spPr>
          <a:xfrm>
            <a:off x="685692" y="1559854"/>
            <a:ext cx="438096" cy="28548"/>
          </a:xfrm>
          <a:prstGeom prst="roundRect">
            <a:avLst>
              <a:gd name="adj" fmla="val 50000"/>
            </a:avLst>
          </a:prstGeom>
          <a:solidFill>
            <a:srgbClr val="4FC3F7"/>
          </a:solidFill>
          <a:ln/>
        </p:spPr>
      </p:sp>
      <p:sp>
        <p:nvSpPr>
          <p:cNvPr id="9" name="Text 6"/>
          <p:cNvSpPr/>
          <p:nvPr/>
        </p:nvSpPr>
        <p:spPr>
          <a:xfrm>
            <a:off x="685692" y="1798243"/>
            <a:ext cx="8829674" cy="5102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200" dirty="0">
                <a:solidFill>
                  <a:srgbClr val="C4D0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aplicación </a:t>
            </a:r>
            <a:pPr algn="l" indent="0" marL="0">
              <a:lnSpc>
                <a:spcPct val="155000"/>
              </a:lnSpc>
              <a:buNone/>
            </a:pPr>
            <a:r>
              <a:rPr lang="en-US" sz="1200" b="1" dirty="0">
                <a:solidFill>
                  <a:srgbClr val="4FC3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fullstack </a:t>
            </a:r>
            <a:pPr algn="l" indent="0" marL="0">
              <a:lnSpc>
                <a:spcPct val="155000"/>
              </a:lnSpc>
              <a:buNone/>
            </a:pPr>
            <a:r>
              <a:rPr lang="en-US" sz="1200" dirty="0">
                <a:solidFill>
                  <a:srgbClr val="C4D0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completa: API REST en el backend y SPA en React en el frontend, conectadas para gestionar una tienda de relojes de lujo.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85692" y="2441458"/>
            <a:ext cx="3505308" cy="1757119"/>
          </a:xfrm>
          <a:prstGeom prst="roundRect">
            <a:avLst>
              <a:gd name="adj" fmla="val 7589"/>
            </a:avLst>
          </a:prstGeom>
          <a:solidFill>
            <a:srgbClr val="22324F"/>
          </a:solidFill>
          <a:ln w="8659">
            <a:solidFill>
              <a:srgbClr val="31436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03793" y="2640617"/>
            <a:ext cx="438096" cy="438096"/>
          </a:xfrm>
          <a:prstGeom prst="roundRect">
            <a:avLst>
              <a:gd name="adj" fmla="val 23916"/>
            </a:avLst>
          </a:prstGeom>
          <a:solidFill>
            <a:srgbClr val="4FC3F7">
              <a:alpha val="12000"/>
            </a:srgbClr>
          </a:solidFill>
          <a:ln w="8659">
            <a:solidFill>
              <a:srgbClr val="314363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8513" y="2745338"/>
            <a:ext cx="228519" cy="22851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903793" y="3211982"/>
            <a:ext cx="3161180" cy="2372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entidades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903793" y="3458766"/>
            <a:ext cx="3161180" cy="2244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013" dirty="0">
                <a:solidFill>
                  <a:srgbClr val="8DA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Marcas, Relojes y Usuarios con relaciones</a:t>
            </a:r>
            <a:endParaRPr lang="en-US" sz="1013" dirty="0"/>
          </a:p>
        </p:txBody>
      </p:sp>
      <p:sp>
        <p:nvSpPr>
          <p:cNvPr id="15" name="Shape 11"/>
          <p:cNvSpPr/>
          <p:nvPr/>
        </p:nvSpPr>
        <p:spPr>
          <a:xfrm>
            <a:off x="4343346" y="2441458"/>
            <a:ext cx="3505308" cy="1757119"/>
          </a:xfrm>
          <a:prstGeom prst="roundRect">
            <a:avLst>
              <a:gd name="adj" fmla="val 7589"/>
            </a:avLst>
          </a:prstGeom>
          <a:solidFill>
            <a:srgbClr val="22324F"/>
          </a:solidFill>
          <a:ln w="8659">
            <a:solidFill>
              <a:srgbClr val="314363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4561447" y="2640617"/>
            <a:ext cx="438096" cy="438096"/>
          </a:xfrm>
          <a:prstGeom prst="roundRect">
            <a:avLst>
              <a:gd name="adj" fmla="val 23916"/>
            </a:avLst>
          </a:prstGeom>
          <a:solidFill>
            <a:srgbClr val="4FC3F7">
              <a:alpha val="12000"/>
            </a:srgbClr>
          </a:solidFill>
          <a:ln w="8659">
            <a:solidFill>
              <a:srgbClr val="314363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6168" y="2745338"/>
            <a:ext cx="228519" cy="228519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561447" y="3211982"/>
            <a:ext cx="3161180" cy="2372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CRUD completo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4561447" y="3458766"/>
            <a:ext cx="3161180" cy="2244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013" dirty="0">
                <a:solidFill>
                  <a:srgbClr val="8DA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Crear, leer, actualizar y eliminar vía HTTP</a:t>
            </a:r>
            <a:endParaRPr lang="en-US" sz="1013" dirty="0"/>
          </a:p>
        </p:txBody>
      </p:sp>
      <p:sp>
        <p:nvSpPr>
          <p:cNvPr id="20" name="Shape 15"/>
          <p:cNvSpPr/>
          <p:nvPr/>
        </p:nvSpPr>
        <p:spPr>
          <a:xfrm>
            <a:off x="8001000" y="2441458"/>
            <a:ext cx="3505308" cy="1757119"/>
          </a:xfrm>
          <a:prstGeom prst="roundRect">
            <a:avLst>
              <a:gd name="adj" fmla="val 7589"/>
            </a:avLst>
          </a:prstGeom>
          <a:solidFill>
            <a:srgbClr val="22324F"/>
          </a:solidFill>
          <a:ln w="8659">
            <a:solidFill>
              <a:srgbClr val="314363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8219101" y="2640617"/>
            <a:ext cx="438096" cy="438096"/>
          </a:xfrm>
          <a:prstGeom prst="roundRect">
            <a:avLst>
              <a:gd name="adj" fmla="val 23916"/>
            </a:avLst>
          </a:prstGeom>
          <a:solidFill>
            <a:srgbClr val="4FC3F7">
              <a:alpha val="12000"/>
            </a:srgbClr>
          </a:solidFill>
          <a:ln w="8659">
            <a:solidFill>
              <a:srgbClr val="314363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3822" y="2745338"/>
            <a:ext cx="228519" cy="228519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8219101" y="3211982"/>
            <a:ext cx="3161180" cy="2372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Autenticación</a:t>
            </a:r>
            <a:endParaRPr lang="en-US" sz="1350" dirty="0"/>
          </a:p>
        </p:txBody>
      </p:sp>
      <p:sp>
        <p:nvSpPr>
          <p:cNvPr id="24" name="Text 18"/>
          <p:cNvSpPr/>
          <p:nvPr/>
        </p:nvSpPr>
        <p:spPr>
          <a:xfrm>
            <a:off x="8219101" y="3458766"/>
            <a:ext cx="3161180" cy="2244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013" dirty="0">
                <a:solidFill>
                  <a:srgbClr val="8DA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Login con hash SHA256 de contraseñas</a:t>
            </a:r>
            <a:endParaRPr lang="en-US" sz="1013" dirty="0"/>
          </a:p>
        </p:txBody>
      </p:sp>
      <p:sp>
        <p:nvSpPr>
          <p:cNvPr id="25" name="Shape 19"/>
          <p:cNvSpPr/>
          <p:nvPr/>
        </p:nvSpPr>
        <p:spPr>
          <a:xfrm>
            <a:off x="685692" y="4350923"/>
            <a:ext cx="3505308" cy="1757254"/>
          </a:xfrm>
          <a:prstGeom prst="roundRect">
            <a:avLst>
              <a:gd name="adj" fmla="val 7589"/>
            </a:avLst>
          </a:prstGeom>
          <a:solidFill>
            <a:srgbClr val="22324F"/>
          </a:solidFill>
          <a:ln w="8659">
            <a:solidFill>
              <a:srgbClr val="314363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903793" y="4550082"/>
            <a:ext cx="438096" cy="438096"/>
          </a:xfrm>
          <a:prstGeom prst="roundRect">
            <a:avLst>
              <a:gd name="adj" fmla="val 23916"/>
            </a:avLst>
          </a:prstGeom>
          <a:solidFill>
            <a:srgbClr val="4FC3F7">
              <a:alpha val="12000"/>
            </a:srgbClr>
          </a:solidFill>
          <a:ln w="8659">
            <a:solidFill>
              <a:srgbClr val="314363"/>
            </a:solidFill>
            <a:prstDash val="solid"/>
          </a:ln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8513" y="4654803"/>
            <a:ext cx="228519" cy="228519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903793" y="5121446"/>
            <a:ext cx="3161180" cy="2372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 administrador</a:t>
            </a:r>
            <a:endParaRPr lang="en-US" sz="1350" dirty="0"/>
          </a:p>
        </p:txBody>
      </p:sp>
      <p:sp>
        <p:nvSpPr>
          <p:cNvPr id="29" name="Text 22"/>
          <p:cNvSpPr/>
          <p:nvPr/>
        </p:nvSpPr>
        <p:spPr>
          <a:xfrm>
            <a:off x="903793" y="5368230"/>
            <a:ext cx="3161180" cy="2244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013" dirty="0">
                <a:solidFill>
                  <a:srgbClr val="8DA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panel de gestión protegido</a:t>
            </a:r>
            <a:endParaRPr lang="en-US" sz="1013" dirty="0"/>
          </a:p>
        </p:txBody>
      </p:sp>
      <p:sp>
        <p:nvSpPr>
          <p:cNvPr id="30" name="Shape 23"/>
          <p:cNvSpPr/>
          <p:nvPr/>
        </p:nvSpPr>
        <p:spPr>
          <a:xfrm>
            <a:off x="4343346" y="4350923"/>
            <a:ext cx="3505308" cy="1757254"/>
          </a:xfrm>
          <a:prstGeom prst="roundRect">
            <a:avLst>
              <a:gd name="adj" fmla="val 7589"/>
            </a:avLst>
          </a:prstGeom>
          <a:solidFill>
            <a:srgbClr val="22324F"/>
          </a:solidFill>
          <a:ln w="8659">
            <a:solidFill>
              <a:srgbClr val="314363"/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4561447" y="4550082"/>
            <a:ext cx="438096" cy="438096"/>
          </a:xfrm>
          <a:prstGeom prst="roundRect">
            <a:avLst>
              <a:gd name="adj" fmla="val 23916"/>
            </a:avLst>
          </a:prstGeom>
          <a:solidFill>
            <a:srgbClr val="4FC3F7">
              <a:alpha val="12000"/>
            </a:srgbClr>
          </a:solidFill>
          <a:ln w="8659">
            <a:solidFill>
              <a:srgbClr val="314363"/>
            </a:solidFill>
            <a:prstDash val="solid"/>
          </a:ln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66168" y="4654803"/>
            <a:ext cx="228519" cy="228519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4561447" y="5121446"/>
            <a:ext cx="3161180" cy="2372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Subida de imágenes</a:t>
            </a:r>
            <a:endParaRPr lang="en-US" sz="1350" dirty="0"/>
          </a:p>
        </p:txBody>
      </p:sp>
      <p:sp>
        <p:nvSpPr>
          <p:cNvPr id="34" name="Text 26"/>
          <p:cNvSpPr/>
          <p:nvPr/>
        </p:nvSpPr>
        <p:spPr>
          <a:xfrm>
            <a:off x="4561447" y="5368230"/>
            <a:ext cx="3161180" cy="2244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013" dirty="0">
                <a:solidFill>
                  <a:srgbClr val="8DA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 de fotos de relojes al servidor</a:t>
            </a:r>
            <a:endParaRPr lang="en-US" sz="1013" dirty="0"/>
          </a:p>
        </p:txBody>
      </p:sp>
      <p:sp>
        <p:nvSpPr>
          <p:cNvPr id="35" name="Shape 27"/>
          <p:cNvSpPr/>
          <p:nvPr/>
        </p:nvSpPr>
        <p:spPr>
          <a:xfrm>
            <a:off x="8001000" y="4350923"/>
            <a:ext cx="3505308" cy="1757254"/>
          </a:xfrm>
          <a:prstGeom prst="roundRect">
            <a:avLst>
              <a:gd name="adj" fmla="val 7589"/>
            </a:avLst>
          </a:prstGeom>
          <a:solidFill>
            <a:srgbClr val="22324F"/>
          </a:solidFill>
          <a:ln w="8659">
            <a:solidFill>
              <a:srgbClr val="314363"/>
            </a:solidFill>
            <a:prstDash val="solid"/>
          </a:ln>
        </p:spPr>
      </p:sp>
      <p:sp>
        <p:nvSpPr>
          <p:cNvPr id="36" name="Shape 28"/>
          <p:cNvSpPr/>
          <p:nvPr/>
        </p:nvSpPr>
        <p:spPr>
          <a:xfrm>
            <a:off x="8219101" y="4550082"/>
            <a:ext cx="438096" cy="438096"/>
          </a:xfrm>
          <a:prstGeom prst="roundRect">
            <a:avLst>
              <a:gd name="adj" fmla="val 23916"/>
            </a:avLst>
          </a:prstGeom>
          <a:solidFill>
            <a:srgbClr val="4FC3F7">
              <a:alpha val="12000"/>
            </a:srgbClr>
          </a:solidFill>
          <a:ln w="8659">
            <a:solidFill>
              <a:srgbClr val="314363"/>
            </a:solidFill>
            <a:prstDash val="solid"/>
          </a:ln>
        </p:spPr>
      </p:sp>
      <p:pic>
        <p:nvPicPr>
          <p:cNvPr id="3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23822" y="4654803"/>
            <a:ext cx="228519" cy="228519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8219101" y="5121446"/>
            <a:ext cx="3161180" cy="2372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React</a:t>
            </a:r>
            <a:endParaRPr lang="en-US" sz="1350" dirty="0"/>
          </a:p>
        </p:txBody>
      </p:sp>
      <p:sp>
        <p:nvSpPr>
          <p:cNvPr id="39" name="Text 30"/>
          <p:cNvSpPr/>
          <p:nvPr/>
        </p:nvSpPr>
        <p:spPr>
          <a:xfrm>
            <a:off x="8219101" y="5368230"/>
            <a:ext cx="3161180" cy="2244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013" dirty="0">
                <a:solidFill>
                  <a:srgbClr val="8DA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 conectada a la API en tiempo real</a:t>
            </a:r>
            <a:endParaRPr lang="en-US" sz="1013" dirty="0"/>
          </a:p>
        </p:txBody>
      </p:sp>
      <p:sp>
        <p:nvSpPr>
          <p:cNvPr id="40" name="Text 31"/>
          <p:cNvSpPr/>
          <p:nvPr/>
        </p:nvSpPr>
        <p:spPr>
          <a:xfrm>
            <a:off x="685692" y="6279600"/>
            <a:ext cx="1965505" cy="1593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spc="66" kern="0" dirty="0">
                <a:solidFill>
                  <a:srgbClr val="C4D0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RelojAPI · Dominican Watch Men</a:t>
            </a:r>
            <a:endParaRPr lang="en-US" sz="825" dirty="0"/>
          </a:p>
        </p:txBody>
      </p:sp>
      <p:sp>
        <p:nvSpPr>
          <p:cNvPr id="41" name="Text 32"/>
          <p:cNvSpPr/>
          <p:nvPr/>
        </p:nvSpPr>
        <p:spPr>
          <a:xfrm>
            <a:off x="11127202" y="6279600"/>
            <a:ext cx="455306" cy="1593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66" kern="0" dirty="0">
                <a:solidFill>
                  <a:srgbClr val="8DA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25</a:t>
            </a:r>
            <a:endParaRPr lang="en-US" sz="82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13357"/>
          </a:solidFill>
          <a:ln/>
        </p:spPr>
      </p:sp>
      <p:sp>
        <p:nvSpPr>
          <p:cNvPr id="3" name="Shape 1"/>
          <p:cNvSpPr/>
          <p:nvPr/>
        </p:nvSpPr>
        <p:spPr>
          <a:xfrm>
            <a:off x="685692" y="514269"/>
            <a:ext cx="285750" cy="285750"/>
          </a:xfrm>
          <a:prstGeom prst="roundRect">
            <a:avLst>
              <a:gd name="adj" fmla="val 26667"/>
            </a:avLst>
          </a:prstGeom>
          <a:solidFill>
            <a:srgbClr val="4FC3F7">
              <a:alpha val="12000"/>
            </a:srgbClr>
          </a:solidFill>
          <a:ln w="8659">
            <a:solidFill>
              <a:srgbClr val="314363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7658" y="576235"/>
            <a:ext cx="161817" cy="16181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76163" y="592201"/>
            <a:ext cx="2021789" cy="1679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b="1" spc="169" kern="0" dirty="0">
                <a:solidFill>
                  <a:srgbClr val="4FC3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ESTRUCTURA · BACKEND</a:t>
            </a:r>
            <a:endParaRPr lang="en-US" sz="938" dirty="0"/>
          </a:p>
        </p:txBody>
      </p:sp>
      <p:sp>
        <p:nvSpPr>
          <p:cNvPr id="6" name="Text 3"/>
          <p:cNvSpPr/>
          <p:nvPr/>
        </p:nvSpPr>
        <p:spPr>
          <a:xfrm>
            <a:off x="11029381" y="596530"/>
            <a:ext cx="553126" cy="1593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41" kern="0" dirty="0">
                <a:solidFill>
                  <a:srgbClr val="8DA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/ 25</a:t>
            </a:r>
            <a:endParaRPr lang="en-US" sz="825" dirty="0"/>
          </a:p>
        </p:txBody>
      </p:sp>
      <p:sp>
        <p:nvSpPr>
          <p:cNvPr id="7" name="Text 4"/>
          <p:cNvSpPr/>
          <p:nvPr/>
        </p:nvSpPr>
        <p:spPr>
          <a:xfrm>
            <a:off x="685692" y="971442"/>
            <a:ext cx="11145235" cy="4361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850" b="1" spc="-29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Arquitectura del Backend</a:t>
            </a:r>
            <a:endParaRPr lang="en-US" sz="2850" dirty="0"/>
          </a:p>
        </p:txBody>
      </p:sp>
      <p:sp>
        <p:nvSpPr>
          <p:cNvPr id="8" name="Shape 5"/>
          <p:cNvSpPr/>
          <p:nvPr/>
        </p:nvSpPr>
        <p:spPr>
          <a:xfrm>
            <a:off x="685692" y="1559854"/>
            <a:ext cx="438096" cy="28548"/>
          </a:xfrm>
          <a:prstGeom prst="roundRect">
            <a:avLst>
              <a:gd name="adj" fmla="val 50000"/>
            </a:avLst>
          </a:prstGeom>
          <a:solidFill>
            <a:srgbClr val="4FC3F7"/>
          </a:solidFill>
          <a:ln/>
        </p:spPr>
      </p:sp>
      <p:sp>
        <p:nvSpPr>
          <p:cNvPr id="9" name="Shape 6"/>
          <p:cNvSpPr/>
          <p:nvPr/>
        </p:nvSpPr>
        <p:spPr>
          <a:xfrm>
            <a:off x="685692" y="1797844"/>
            <a:ext cx="6227645" cy="4310333"/>
          </a:xfrm>
          <a:prstGeom prst="roundRect">
            <a:avLst>
              <a:gd name="adj" fmla="val 3094"/>
            </a:avLst>
          </a:prstGeom>
          <a:solidFill>
            <a:srgbClr val="0A0E18"/>
          </a:solidFill>
          <a:ln w="8659">
            <a:solidFill>
              <a:srgbClr val="1C2C4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22870" y="2867783"/>
            <a:ext cx="873513" cy="2594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163" b="1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RelojAPI/</a:t>
            </a:r>
            <a:endParaRPr lang="en-US" sz="1163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370" y="3171121"/>
            <a:ext cx="171423" cy="17142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370436" y="3172204"/>
            <a:ext cx="1139374" cy="2026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163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Controllers/</a:t>
            </a:r>
            <a:endParaRPr lang="en-US" sz="1163" dirty="0"/>
          </a:p>
        </p:txBody>
      </p:sp>
      <p:sp>
        <p:nvSpPr>
          <p:cNvPr id="13" name="Text 9"/>
          <p:cNvSpPr/>
          <p:nvPr/>
        </p:nvSpPr>
        <p:spPr>
          <a:xfrm>
            <a:off x="2519254" y="3164086"/>
            <a:ext cx="2454068" cy="2237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dirty="0">
                <a:solidFill>
                  <a:srgbClr val="5F72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Reloj · Marca · Usuario · Upload</a:t>
            </a:r>
            <a:endParaRPr lang="en-US" sz="975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3370" y="3449565"/>
            <a:ext cx="171423" cy="171423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370436" y="3450648"/>
            <a:ext cx="696407" cy="2026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163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Models/</a:t>
            </a:r>
            <a:endParaRPr lang="en-US" sz="1163" dirty="0"/>
          </a:p>
        </p:txBody>
      </p:sp>
      <p:sp>
        <p:nvSpPr>
          <p:cNvPr id="16" name="Text 11"/>
          <p:cNvSpPr/>
          <p:nvPr/>
        </p:nvSpPr>
        <p:spPr>
          <a:xfrm>
            <a:off x="2076288" y="3442530"/>
            <a:ext cx="2454068" cy="2237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dirty="0">
                <a:solidFill>
                  <a:srgbClr val="5F72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Reloj.cs · Marca.cs · Usuario.cs</a:t>
            </a:r>
            <a:endParaRPr lang="en-US" sz="975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3370" y="3728009"/>
            <a:ext cx="171423" cy="171423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370436" y="3729092"/>
            <a:ext cx="1050889" cy="2026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163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Interfaces/</a:t>
            </a:r>
            <a:endParaRPr lang="en-US" sz="1163" dirty="0"/>
          </a:p>
        </p:txBody>
      </p:sp>
      <p:sp>
        <p:nvSpPr>
          <p:cNvPr id="19" name="Text 13"/>
          <p:cNvSpPr/>
          <p:nvPr/>
        </p:nvSpPr>
        <p:spPr>
          <a:xfrm>
            <a:off x="2430769" y="3720973"/>
            <a:ext cx="1265201" cy="2237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dirty="0">
                <a:solidFill>
                  <a:srgbClr val="5F72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IRelojService.cs</a:t>
            </a:r>
            <a:endParaRPr lang="en-US" sz="975" dirty="0"/>
          </a:p>
        </p:txBody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3370" y="4006453"/>
            <a:ext cx="171423" cy="171423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370436" y="4007535"/>
            <a:ext cx="873648" cy="2026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163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Services/</a:t>
            </a:r>
            <a:endParaRPr lang="en-US" sz="1163" dirty="0"/>
          </a:p>
        </p:txBody>
      </p:sp>
      <p:sp>
        <p:nvSpPr>
          <p:cNvPr id="22" name="Text 15"/>
          <p:cNvSpPr/>
          <p:nvPr/>
        </p:nvSpPr>
        <p:spPr>
          <a:xfrm>
            <a:off x="2253528" y="3999418"/>
            <a:ext cx="1190923" cy="2237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dirty="0">
                <a:solidFill>
                  <a:srgbClr val="5F72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RelojService.cs</a:t>
            </a:r>
            <a:endParaRPr lang="en-US" sz="975" dirty="0"/>
          </a:p>
        </p:txBody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3370" y="4284897"/>
            <a:ext cx="171423" cy="171423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1370436" y="4285979"/>
            <a:ext cx="519302" cy="2026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163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Data/</a:t>
            </a:r>
            <a:endParaRPr lang="en-US" sz="1163" dirty="0"/>
          </a:p>
        </p:txBody>
      </p:sp>
      <p:sp>
        <p:nvSpPr>
          <p:cNvPr id="25" name="Text 17"/>
          <p:cNvSpPr/>
          <p:nvPr/>
        </p:nvSpPr>
        <p:spPr>
          <a:xfrm>
            <a:off x="1899182" y="4277861"/>
            <a:ext cx="1190923" cy="2237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dirty="0">
                <a:solidFill>
                  <a:srgbClr val="5F72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AppDbContext.cs</a:t>
            </a:r>
            <a:endParaRPr lang="en-US" sz="975" dirty="0"/>
          </a:p>
        </p:txBody>
      </p:sp>
      <p:pic>
        <p:nvPicPr>
          <p:cNvPr id="2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13370" y="4563341"/>
            <a:ext cx="171423" cy="171423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1370436" y="4564423"/>
            <a:ext cx="1405235" cy="2026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163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wwwroot/images/</a:t>
            </a:r>
            <a:endParaRPr lang="en-US" sz="1163" dirty="0"/>
          </a:p>
        </p:txBody>
      </p:sp>
      <p:sp>
        <p:nvSpPr>
          <p:cNvPr id="28" name="Text 19"/>
          <p:cNvSpPr/>
          <p:nvPr/>
        </p:nvSpPr>
        <p:spPr>
          <a:xfrm>
            <a:off x="2785115" y="4556305"/>
            <a:ext cx="1265201" cy="2237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dirty="0">
                <a:solidFill>
                  <a:srgbClr val="5F72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imágenes subidas</a:t>
            </a:r>
            <a:endParaRPr lang="en-US" sz="975" dirty="0"/>
          </a:p>
        </p:txBody>
      </p:sp>
      <p:pic>
        <p:nvPicPr>
          <p:cNvPr id="2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13370" y="4841785"/>
            <a:ext cx="171423" cy="171423"/>
          </a:xfrm>
          <a:prstGeom prst="rect">
            <a:avLst/>
          </a:prstGeom>
        </p:spPr>
      </p:pic>
      <p:sp>
        <p:nvSpPr>
          <p:cNvPr id="30" name="Text 20"/>
          <p:cNvSpPr/>
          <p:nvPr/>
        </p:nvSpPr>
        <p:spPr>
          <a:xfrm>
            <a:off x="1370436" y="4842867"/>
            <a:ext cx="962268" cy="2026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163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Program.cs</a:t>
            </a:r>
            <a:endParaRPr lang="en-US" sz="1163" dirty="0"/>
          </a:p>
        </p:txBody>
      </p:sp>
      <p:sp>
        <p:nvSpPr>
          <p:cNvPr id="31" name="Shape 21"/>
          <p:cNvSpPr/>
          <p:nvPr/>
        </p:nvSpPr>
        <p:spPr>
          <a:xfrm>
            <a:off x="7122779" y="2629116"/>
            <a:ext cx="4383529" cy="583406"/>
          </a:xfrm>
          <a:prstGeom prst="rect">
            <a:avLst/>
          </a:prstGeom>
          <a:solidFill>
            <a:srgbClr val="22324F"/>
          </a:solidFill>
          <a:ln/>
        </p:spPr>
      </p:sp>
      <p:sp>
        <p:nvSpPr>
          <p:cNvPr id="32" name="Shape 22"/>
          <p:cNvSpPr/>
          <p:nvPr/>
        </p:nvSpPr>
        <p:spPr>
          <a:xfrm>
            <a:off x="7122779" y="2629116"/>
            <a:ext cx="25977" cy="583406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33" name="Text 23"/>
          <p:cNvSpPr/>
          <p:nvPr/>
        </p:nvSpPr>
        <p:spPr>
          <a:xfrm>
            <a:off x="7301101" y="2743308"/>
            <a:ext cx="4174446" cy="2112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63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Controllers</a:t>
            </a:r>
            <a:endParaRPr lang="en-US" sz="1163" dirty="0"/>
          </a:p>
        </p:txBody>
      </p:sp>
      <p:sp>
        <p:nvSpPr>
          <p:cNvPr id="34" name="Text 24"/>
          <p:cNvSpPr/>
          <p:nvPr/>
        </p:nvSpPr>
        <p:spPr>
          <a:xfrm>
            <a:off x="7301101" y="2942467"/>
            <a:ext cx="2537952" cy="1766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8DA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Reciben peticiones HTTP y devuelven JSON</a:t>
            </a:r>
            <a:endParaRPr lang="en-US" sz="975" dirty="0"/>
          </a:p>
        </p:txBody>
      </p:sp>
      <p:sp>
        <p:nvSpPr>
          <p:cNvPr id="35" name="Shape 25"/>
          <p:cNvSpPr/>
          <p:nvPr/>
        </p:nvSpPr>
        <p:spPr>
          <a:xfrm>
            <a:off x="7122779" y="3317243"/>
            <a:ext cx="4383529" cy="583406"/>
          </a:xfrm>
          <a:prstGeom prst="rect">
            <a:avLst/>
          </a:prstGeom>
          <a:solidFill>
            <a:srgbClr val="22324F"/>
          </a:solidFill>
          <a:ln/>
        </p:spPr>
      </p:sp>
      <p:sp>
        <p:nvSpPr>
          <p:cNvPr id="36" name="Shape 26"/>
          <p:cNvSpPr/>
          <p:nvPr/>
        </p:nvSpPr>
        <p:spPr>
          <a:xfrm>
            <a:off x="7122779" y="3317243"/>
            <a:ext cx="25977" cy="583406"/>
          </a:xfrm>
          <a:prstGeom prst="rect">
            <a:avLst/>
          </a:prstGeom>
          <a:solidFill>
            <a:srgbClr val="7EE787"/>
          </a:solidFill>
          <a:ln/>
        </p:spPr>
      </p:sp>
      <p:sp>
        <p:nvSpPr>
          <p:cNvPr id="37" name="Text 27"/>
          <p:cNvSpPr/>
          <p:nvPr/>
        </p:nvSpPr>
        <p:spPr>
          <a:xfrm>
            <a:off x="7301101" y="3431435"/>
            <a:ext cx="4174446" cy="2112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63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Services / Interfaces</a:t>
            </a:r>
            <a:endParaRPr lang="en-US" sz="1163" dirty="0"/>
          </a:p>
        </p:txBody>
      </p:sp>
      <p:sp>
        <p:nvSpPr>
          <p:cNvPr id="38" name="Text 28"/>
          <p:cNvSpPr/>
          <p:nvPr/>
        </p:nvSpPr>
        <p:spPr>
          <a:xfrm>
            <a:off x="7301101" y="3630594"/>
            <a:ext cx="2175894" cy="1766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8DA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Lógica de negocio desacoplada vía DI</a:t>
            </a:r>
            <a:endParaRPr lang="en-US" sz="975" dirty="0"/>
          </a:p>
        </p:txBody>
      </p:sp>
      <p:sp>
        <p:nvSpPr>
          <p:cNvPr id="39" name="Shape 29"/>
          <p:cNvSpPr/>
          <p:nvPr/>
        </p:nvSpPr>
        <p:spPr>
          <a:xfrm>
            <a:off x="7122779" y="4005371"/>
            <a:ext cx="4383529" cy="583406"/>
          </a:xfrm>
          <a:prstGeom prst="rect">
            <a:avLst/>
          </a:prstGeom>
          <a:solidFill>
            <a:srgbClr val="22324F"/>
          </a:solidFill>
          <a:ln/>
        </p:spPr>
      </p:sp>
      <p:sp>
        <p:nvSpPr>
          <p:cNvPr id="40" name="Shape 30"/>
          <p:cNvSpPr/>
          <p:nvPr/>
        </p:nvSpPr>
        <p:spPr>
          <a:xfrm>
            <a:off x="7122779" y="4005371"/>
            <a:ext cx="25977" cy="583406"/>
          </a:xfrm>
          <a:prstGeom prst="rect">
            <a:avLst/>
          </a:prstGeom>
          <a:solidFill>
            <a:srgbClr val="FFD479"/>
          </a:solidFill>
          <a:ln/>
        </p:spPr>
      </p:sp>
      <p:sp>
        <p:nvSpPr>
          <p:cNvPr id="41" name="Text 31"/>
          <p:cNvSpPr/>
          <p:nvPr/>
        </p:nvSpPr>
        <p:spPr>
          <a:xfrm>
            <a:off x="7301101" y="4119562"/>
            <a:ext cx="4174446" cy="2112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63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Models</a:t>
            </a:r>
            <a:endParaRPr lang="en-US" sz="1163" dirty="0"/>
          </a:p>
        </p:txBody>
      </p:sp>
      <p:sp>
        <p:nvSpPr>
          <p:cNvPr id="42" name="Text 32"/>
          <p:cNvSpPr/>
          <p:nvPr/>
        </p:nvSpPr>
        <p:spPr>
          <a:xfrm>
            <a:off x="7301101" y="4318722"/>
            <a:ext cx="1948458" cy="1766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8DA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Clases que representan las tablas</a:t>
            </a:r>
            <a:endParaRPr lang="en-US" sz="975" dirty="0"/>
          </a:p>
        </p:txBody>
      </p:sp>
      <p:sp>
        <p:nvSpPr>
          <p:cNvPr id="43" name="Shape 33"/>
          <p:cNvSpPr/>
          <p:nvPr/>
        </p:nvSpPr>
        <p:spPr>
          <a:xfrm>
            <a:off x="7122779" y="4693498"/>
            <a:ext cx="4383529" cy="583406"/>
          </a:xfrm>
          <a:prstGeom prst="rect">
            <a:avLst/>
          </a:prstGeom>
          <a:solidFill>
            <a:srgbClr val="22324F"/>
          </a:solidFill>
          <a:ln/>
        </p:spPr>
      </p:sp>
      <p:sp>
        <p:nvSpPr>
          <p:cNvPr id="44" name="Shape 34"/>
          <p:cNvSpPr/>
          <p:nvPr/>
        </p:nvSpPr>
        <p:spPr>
          <a:xfrm>
            <a:off x="7122779" y="4693498"/>
            <a:ext cx="25977" cy="583406"/>
          </a:xfrm>
          <a:prstGeom prst="rect">
            <a:avLst/>
          </a:prstGeom>
          <a:solidFill>
            <a:srgbClr val="C4A5FF"/>
          </a:solidFill>
          <a:ln/>
        </p:spPr>
      </p:sp>
      <p:sp>
        <p:nvSpPr>
          <p:cNvPr id="45" name="Text 35"/>
          <p:cNvSpPr/>
          <p:nvPr/>
        </p:nvSpPr>
        <p:spPr>
          <a:xfrm>
            <a:off x="7301101" y="4807689"/>
            <a:ext cx="4174446" cy="2112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63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</a:t>
            </a:r>
            <a:endParaRPr lang="en-US" sz="1163" dirty="0"/>
          </a:p>
        </p:txBody>
      </p:sp>
      <p:sp>
        <p:nvSpPr>
          <p:cNvPr id="46" name="Text 36"/>
          <p:cNvSpPr/>
          <p:nvPr/>
        </p:nvSpPr>
        <p:spPr>
          <a:xfrm>
            <a:off x="7301101" y="5006848"/>
            <a:ext cx="2232990" cy="1766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8DA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AppDbContext — puente a SQL Server</a:t>
            </a:r>
            <a:endParaRPr lang="en-US" sz="975" dirty="0"/>
          </a:p>
        </p:txBody>
      </p:sp>
      <p:sp>
        <p:nvSpPr>
          <p:cNvPr id="47" name="Text 37"/>
          <p:cNvSpPr/>
          <p:nvPr/>
        </p:nvSpPr>
        <p:spPr>
          <a:xfrm>
            <a:off x="685692" y="6279600"/>
            <a:ext cx="1965505" cy="1593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spc="66" kern="0" dirty="0">
                <a:solidFill>
                  <a:srgbClr val="C4D0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RelojAPI · Dominican Watch Men</a:t>
            </a:r>
            <a:endParaRPr lang="en-US" sz="825" dirty="0"/>
          </a:p>
        </p:txBody>
      </p:sp>
      <p:sp>
        <p:nvSpPr>
          <p:cNvPr id="48" name="Text 38"/>
          <p:cNvSpPr/>
          <p:nvPr/>
        </p:nvSpPr>
        <p:spPr>
          <a:xfrm>
            <a:off x="11127202" y="6279600"/>
            <a:ext cx="455306" cy="1593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66" kern="0" dirty="0">
                <a:solidFill>
                  <a:srgbClr val="8DA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25</a:t>
            </a:r>
            <a:endParaRPr lang="en-US" sz="82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13357"/>
          </a:solidFill>
          <a:ln/>
        </p:spPr>
      </p:sp>
      <p:sp>
        <p:nvSpPr>
          <p:cNvPr id="3" name="Shape 1"/>
          <p:cNvSpPr/>
          <p:nvPr/>
        </p:nvSpPr>
        <p:spPr>
          <a:xfrm>
            <a:off x="685692" y="514269"/>
            <a:ext cx="285750" cy="285750"/>
          </a:xfrm>
          <a:prstGeom prst="roundRect">
            <a:avLst>
              <a:gd name="adj" fmla="val 26667"/>
            </a:avLst>
          </a:prstGeom>
          <a:solidFill>
            <a:srgbClr val="4FC3F7">
              <a:alpha val="12000"/>
            </a:srgbClr>
          </a:solidFill>
          <a:ln w="8659">
            <a:solidFill>
              <a:srgbClr val="314363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7658" y="576235"/>
            <a:ext cx="161817" cy="16181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76163" y="592201"/>
            <a:ext cx="2109327" cy="1679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b="1" spc="169" kern="0" dirty="0">
                <a:solidFill>
                  <a:srgbClr val="4FC3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ESTRUCTURA · FRONTEND</a:t>
            </a:r>
            <a:endParaRPr lang="en-US" sz="938" dirty="0"/>
          </a:p>
        </p:txBody>
      </p:sp>
      <p:sp>
        <p:nvSpPr>
          <p:cNvPr id="6" name="Text 3"/>
          <p:cNvSpPr/>
          <p:nvPr/>
        </p:nvSpPr>
        <p:spPr>
          <a:xfrm>
            <a:off x="11029381" y="596530"/>
            <a:ext cx="553126" cy="1593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41" kern="0" dirty="0">
                <a:solidFill>
                  <a:srgbClr val="8DA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/ 25</a:t>
            </a:r>
            <a:endParaRPr lang="en-US" sz="825" dirty="0"/>
          </a:p>
        </p:txBody>
      </p:sp>
      <p:sp>
        <p:nvSpPr>
          <p:cNvPr id="7" name="Text 4"/>
          <p:cNvSpPr/>
          <p:nvPr/>
        </p:nvSpPr>
        <p:spPr>
          <a:xfrm>
            <a:off x="685692" y="971442"/>
            <a:ext cx="11145235" cy="4361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850" b="1" spc="-29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Arquitectura del Frontend</a:t>
            </a:r>
            <a:endParaRPr lang="en-US" sz="2850" dirty="0"/>
          </a:p>
        </p:txBody>
      </p:sp>
      <p:sp>
        <p:nvSpPr>
          <p:cNvPr id="8" name="Shape 5"/>
          <p:cNvSpPr/>
          <p:nvPr/>
        </p:nvSpPr>
        <p:spPr>
          <a:xfrm>
            <a:off x="685692" y="1559854"/>
            <a:ext cx="438096" cy="28548"/>
          </a:xfrm>
          <a:prstGeom prst="roundRect">
            <a:avLst>
              <a:gd name="adj" fmla="val 50000"/>
            </a:avLst>
          </a:prstGeom>
          <a:solidFill>
            <a:srgbClr val="4FC3F7"/>
          </a:solidFill>
          <a:ln/>
        </p:spPr>
      </p:sp>
      <p:sp>
        <p:nvSpPr>
          <p:cNvPr id="9" name="Text 6"/>
          <p:cNvSpPr/>
          <p:nvPr/>
        </p:nvSpPr>
        <p:spPr>
          <a:xfrm>
            <a:off x="685692" y="1798055"/>
            <a:ext cx="8829674" cy="5102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200" dirty="0">
                <a:solidFill>
                  <a:srgbClr val="C4D0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solo archivo </a:t>
            </a:r>
            <a:pPr algn="l" indent="0" marL="0">
              <a:lnSpc>
                <a:spcPct val="155000"/>
              </a:lnSpc>
              <a:buNone/>
            </a:pPr>
            <a:r>
              <a:rPr lang="en-US" sz="1104" b="1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index.html </a:t>
            </a:r>
            <a:pPr algn="l" indent="0" marL="0">
              <a:lnSpc>
                <a:spcPct val="155000"/>
              </a:lnSpc>
              <a:buNone/>
            </a:pPr>
            <a:r>
              <a:rPr lang="en-US" sz="1200" dirty="0">
                <a:solidFill>
                  <a:srgbClr val="C4D0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(SPA) con </a:t>
            </a:r>
            <a:pPr algn="l" indent="0" marL="0">
              <a:lnSpc>
                <a:spcPct val="155000"/>
              </a:lnSpc>
              <a:buNone/>
            </a:pPr>
            <a:r>
              <a:rPr lang="en-US" sz="1200" b="1" dirty="0">
                <a:solidFill>
                  <a:srgbClr val="4FC3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18 + Babel standalone </a:t>
            </a:r>
            <a:pPr algn="l" indent="0" marL="0">
              <a:lnSpc>
                <a:spcPct val="155000"/>
              </a:lnSpc>
              <a:buNone/>
            </a:pPr>
            <a:r>
              <a:rPr lang="en-US" sz="1200" dirty="0">
                <a:solidFill>
                  <a:srgbClr val="C4D0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vía CDN — sin proceso de build. Servido con </a:t>
            </a:r>
            <a:pPr algn="l" indent="0" marL="0">
              <a:lnSpc>
                <a:spcPct val="155000"/>
              </a:lnSpc>
              <a:buNone/>
            </a:pPr>
            <a:r>
              <a:rPr lang="en-US" sz="1104" b="1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dotnet-serve </a:t>
            </a:r>
            <a:pPr algn="l" indent="0" marL="0">
              <a:lnSpc>
                <a:spcPct val="155000"/>
              </a:lnSpc>
              <a:buNone/>
            </a:pPr>
            <a:r>
              <a:rPr lang="en-US" sz="1200" dirty="0">
                <a:solidFill>
                  <a:srgbClr val="C4D0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</a:t>
            </a:r>
            <a:pPr algn="l" indent="0" marL="0">
              <a:lnSpc>
                <a:spcPct val="155000"/>
              </a:lnSpc>
              <a:buNone/>
            </a:pPr>
            <a:r>
              <a:rPr lang="en-US" sz="1104" b="1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localhost:5500</a:t>
            </a:r>
            <a:pPr algn="l" indent="0" marL="0">
              <a:lnSpc>
                <a:spcPct val="155000"/>
              </a:lnSpc>
              <a:buNone/>
            </a:pPr>
            <a:r>
              <a:rPr lang="en-US" sz="1200" dirty="0">
                <a:solidFill>
                  <a:srgbClr val="C4D0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85692" y="3461065"/>
            <a:ext cx="4831908" cy="512510"/>
          </a:xfrm>
          <a:prstGeom prst="roundRect">
            <a:avLst>
              <a:gd name="adj" fmla="val 22302"/>
            </a:avLst>
          </a:prstGeom>
          <a:solidFill>
            <a:srgbClr val="22324F"/>
          </a:solidFill>
          <a:ln w="8659">
            <a:solidFill>
              <a:srgbClr val="4FC3F7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3793" y="3612600"/>
            <a:ext cx="209442" cy="20944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208484" y="3622070"/>
            <a:ext cx="1408212" cy="219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18 vía CDN</a:t>
            </a:r>
            <a:endParaRPr lang="en-US" sz="1275" dirty="0"/>
          </a:p>
        </p:txBody>
      </p:sp>
      <p:sp>
        <p:nvSpPr>
          <p:cNvPr id="13" name="Text 9"/>
          <p:cNvSpPr/>
          <p:nvPr/>
        </p:nvSpPr>
        <p:spPr>
          <a:xfrm>
            <a:off x="613213" y="4087767"/>
            <a:ext cx="4976865" cy="1679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38" spc="28" kern="0" dirty="0">
                <a:solidFill>
                  <a:srgbClr val="8DA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Babel standalone (JSX en el navegador)</a:t>
            </a:r>
            <a:endParaRPr lang="en-US" sz="938" dirty="0"/>
          </a:p>
        </p:txBody>
      </p:sp>
      <p:sp>
        <p:nvSpPr>
          <p:cNvPr id="14" name="Shape 10"/>
          <p:cNvSpPr/>
          <p:nvPr/>
        </p:nvSpPr>
        <p:spPr>
          <a:xfrm>
            <a:off x="685692" y="4331845"/>
            <a:ext cx="4831908" cy="512510"/>
          </a:xfrm>
          <a:prstGeom prst="roundRect">
            <a:avLst>
              <a:gd name="adj" fmla="val 22302"/>
            </a:avLst>
          </a:prstGeom>
          <a:solidFill>
            <a:srgbClr val="22324F"/>
          </a:solidFill>
          <a:ln w="8659">
            <a:solidFill>
              <a:srgbClr val="314363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3793" y="4483380"/>
            <a:ext cx="209442" cy="20944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208484" y="4492850"/>
            <a:ext cx="1606153" cy="219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dotnet-serve · :5500</a:t>
            </a:r>
            <a:endParaRPr lang="en-US" sz="1275" dirty="0"/>
          </a:p>
        </p:txBody>
      </p:sp>
      <p:sp>
        <p:nvSpPr>
          <p:cNvPr id="17" name="Text 12"/>
          <p:cNvSpPr/>
          <p:nvPr/>
        </p:nvSpPr>
        <p:spPr>
          <a:xfrm>
            <a:off x="613213" y="4958547"/>
            <a:ext cx="4976865" cy="1679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38" spc="28" kern="0" dirty="0">
                <a:solidFill>
                  <a:srgbClr val="8DA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consume la API en :5157</a:t>
            </a:r>
            <a:endParaRPr lang="en-US" sz="938" dirty="0"/>
          </a:p>
        </p:txBody>
      </p:sp>
      <p:sp>
        <p:nvSpPr>
          <p:cNvPr id="18" name="Shape 13"/>
          <p:cNvSpPr/>
          <p:nvPr/>
        </p:nvSpPr>
        <p:spPr>
          <a:xfrm>
            <a:off x="5708100" y="3458495"/>
            <a:ext cx="2846676" cy="474356"/>
          </a:xfrm>
          <a:prstGeom prst="roundRect">
            <a:avLst>
              <a:gd name="adj" fmla="val 22088"/>
            </a:avLst>
          </a:prstGeom>
          <a:solidFill>
            <a:srgbClr val="22324F"/>
          </a:solidFill>
          <a:ln w="8659">
            <a:solidFill>
              <a:srgbClr val="314363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88182" y="3609894"/>
            <a:ext cx="171423" cy="171423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154855" y="3600423"/>
            <a:ext cx="3334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Nav</a:t>
            </a:r>
            <a:endParaRPr lang="en-US" sz="1125" dirty="0"/>
          </a:p>
        </p:txBody>
      </p:sp>
      <p:sp>
        <p:nvSpPr>
          <p:cNvPr id="21" name="Shape 15"/>
          <p:cNvSpPr/>
          <p:nvPr/>
        </p:nvSpPr>
        <p:spPr>
          <a:xfrm>
            <a:off x="8659496" y="3458495"/>
            <a:ext cx="2846811" cy="474356"/>
          </a:xfrm>
          <a:prstGeom prst="roundRect">
            <a:avLst>
              <a:gd name="adj" fmla="val 22088"/>
            </a:avLst>
          </a:prstGeom>
          <a:solidFill>
            <a:srgbClr val="22324F"/>
          </a:solidFill>
          <a:ln w="8659">
            <a:solidFill>
              <a:srgbClr val="314363"/>
            </a:solidFill>
            <a:prstDash val="solid"/>
          </a:ln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39578" y="3609894"/>
            <a:ext cx="171423" cy="171423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9106252" y="3600423"/>
            <a:ext cx="41918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Hero</a:t>
            </a:r>
            <a:endParaRPr lang="en-US" sz="1125" dirty="0"/>
          </a:p>
        </p:txBody>
      </p:sp>
      <p:sp>
        <p:nvSpPr>
          <p:cNvPr id="24" name="Shape 17"/>
          <p:cNvSpPr/>
          <p:nvPr/>
        </p:nvSpPr>
        <p:spPr>
          <a:xfrm>
            <a:off x="5708100" y="4037572"/>
            <a:ext cx="2846676" cy="474356"/>
          </a:xfrm>
          <a:prstGeom prst="roundRect">
            <a:avLst>
              <a:gd name="adj" fmla="val 22088"/>
            </a:avLst>
          </a:prstGeom>
          <a:solidFill>
            <a:srgbClr val="22324F"/>
          </a:solidFill>
          <a:ln w="8659">
            <a:solidFill>
              <a:srgbClr val="314363"/>
            </a:solidFill>
            <a:prstDash val="solid"/>
          </a:ln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88182" y="4188970"/>
            <a:ext cx="171423" cy="171423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6154855" y="4179500"/>
            <a:ext cx="127643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CollectionGrid</a:t>
            </a:r>
            <a:endParaRPr lang="en-US" sz="1125" dirty="0"/>
          </a:p>
        </p:txBody>
      </p:sp>
      <p:sp>
        <p:nvSpPr>
          <p:cNvPr id="27" name="Shape 19"/>
          <p:cNvSpPr/>
          <p:nvPr/>
        </p:nvSpPr>
        <p:spPr>
          <a:xfrm>
            <a:off x="8659496" y="4037572"/>
            <a:ext cx="2846811" cy="474356"/>
          </a:xfrm>
          <a:prstGeom prst="roundRect">
            <a:avLst>
              <a:gd name="adj" fmla="val 22088"/>
            </a:avLst>
          </a:prstGeom>
          <a:solidFill>
            <a:srgbClr val="22324F"/>
          </a:solidFill>
          <a:ln w="8659">
            <a:solidFill>
              <a:srgbClr val="314363"/>
            </a:solidFill>
            <a:prstDash val="solid"/>
          </a:ln>
        </p:spPr>
      </p:sp>
      <p:pic>
        <p:nvPicPr>
          <p:cNvPr id="2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39578" y="4188970"/>
            <a:ext cx="171423" cy="171423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9106252" y="4179500"/>
            <a:ext cx="101922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PanelCuenta</a:t>
            </a:r>
            <a:endParaRPr lang="en-US" sz="1125" dirty="0"/>
          </a:p>
        </p:txBody>
      </p:sp>
      <p:sp>
        <p:nvSpPr>
          <p:cNvPr id="30" name="Shape 21"/>
          <p:cNvSpPr/>
          <p:nvPr/>
        </p:nvSpPr>
        <p:spPr>
          <a:xfrm>
            <a:off x="5708100" y="4616648"/>
            <a:ext cx="2846676" cy="474356"/>
          </a:xfrm>
          <a:prstGeom prst="roundRect">
            <a:avLst>
              <a:gd name="adj" fmla="val 22088"/>
            </a:avLst>
          </a:prstGeom>
          <a:solidFill>
            <a:srgbClr val="22324F"/>
          </a:solidFill>
          <a:ln w="8659">
            <a:solidFill>
              <a:srgbClr val="314363"/>
            </a:solidFill>
            <a:prstDash val="solid"/>
          </a:ln>
        </p:spPr>
      </p:sp>
      <p:pic>
        <p:nvPicPr>
          <p:cNvPr id="3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88182" y="4768047"/>
            <a:ext cx="171423" cy="171423"/>
          </a:xfrm>
          <a:prstGeom prst="rect">
            <a:avLst/>
          </a:prstGeom>
        </p:spPr>
      </p:pic>
      <p:sp>
        <p:nvSpPr>
          <p:cNvPr id="32" name="Text 22"/>
          <p:cNvSpPr/>
          <p:nvPr/>
        </p:nvSpPr>
        <p:spPr>
          <a:xfrm>
            <a:off x="6154855" y="4758576"/>
            <a:ext cx="84780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AdminPage</a:t>
            </a:r>
            <a:endParaRPr lang="en-US" sz="1125" dirty="0"/>
          </a:p>
        </p:txBody>
      </p:sp>
      <p:sp>
        <p:nvSpPr>
          <p:cNvPr id="33" name="Shape 23"/>
          <p:cNvSpPr/>
          <p:nvPr/>
        </p:nvSpPr>
        <p:spPr>
          <a:xfrm>
            <a:off x="8659496" y="4616648"/>
            <a:ext cx="2846811" cy="474356"/>
          </a:xfrm>
          <a:prstGeom prst="roundRect">
            <a:avLst>
              <a:gd name="adj" fmla="val 22088"/>
            </a:avLst>
          </a:prstGeom>
          <a:solidFill>
            <a:srgbClr val="22324F"/>
          </a:solidFill>
          <a:ln w="8659">
            <a:solidFill>
              <a:srgbClr val="314363"/>
            </a:solidFill>
            <a:prstDash val="solid"/>
          </a:ln>
        </p:spPr>
      </p:sp>
      <p:pic>
        <p:nvPicPr>
          <p:cNvPr id="34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839578" y="4768047"/>
            <a:ext cx="171423" cy="171423"/>
          </a:xfrm>
          <a:prstGeom prst="rect">
            <a:avLst/>
          </a:prstGeom>
        </p:spPr>
      </p:pic>
      <p:sp>
        <p:nvSpPr>
          <p:cNvPr id="35" name="Text 24"/>
          <p:cNvSpPr/>
          <p:nvPr/>
        </p:nvSpPr>
        <p:spPr>
          <a:xfrm>
            <a:off x="9106252" y="4758576"/>
            <a:ext cx="93344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RelojModal</a:t>
            </a:r>
            <a:endParaRPr lang="en-US" sz="1125" dirty="0"/>
          </a:p>
        </p:txBody>
      </p:sp>
      <p:sp>
        <p:nvSpPr>
          <p:cNvPr id="36" name="Text 25"/>
          <p:cNvSpPr/>
          <p:nvPr/>
        </p:nvSpPr>
        <p:spPr>
          <a:xfrm>
            <a:off x="685692" y="6279600"/>
            <a:ext cx="1965505" cy="1593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spc="66" kern="0" dirty="0">
                <a:solidFill>
                  <a:srgbClr val="C4D0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RelojAPI · Dominican Watch Men</a:t>
            </a:r>
            <a:endParaRPr lang="en-US" sz="825" dirty="0"/>
          </a:p>
        </p:txBody>
      </p:sp>
      <p:sp>
        <p:nvSpPr>
          <p:cNvPr id="37" name="Text 26"/>
          <p:cNvSpPr/>
          <p:nvPr/>
        </p:nvSpPr>
        <p:spPr>
          <a:xfrm>
            <a:off x="11127202" y="6279600"/>
            <a:ext cx="455306" cy="1593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66" kern="0" dirty="0">
                <a:solidFill>
                  <a:srgbClr val="8DA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25</a:t>
            </a:r>
            <a:endParaRPr lang="en-US" sz="82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13357"/>
          </a:solidFill>
          <a:ln/>
        </p:spPr>
      </p:sp>
      <p:sp>
        <p:nvSpPr>
          <p:cNvPr id="3" name="Shape 1"/>
          <p:cNvSpPr/>
          <p:nvPr/>
        </p:nvSpPr>
        <p:spPr>
          <a:xfrm>
            <a:off x="685692" y="514269"/>
            <a:ext cx="285750" cy="285750"/>
          </a:xfrm>
          <a:prstGeom prst="roundRect">
            <a:avLst>
              <a:gd name="adj" fmla="val 26667"/>
            </a:avLst>
          </a:prstGeom>
          <a:solidFill>
            <a:srgbClr val="4FC3F7">
              <a:alpha val="12000"/>
            </a:srgbClr>
          </a:solidFill>
          <a:ln w="8659">
            <a:solidFill>
              <a:srgbClr val="314363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7658" y="576235"/>
            <a:ext cx="161817" cy="16181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76163" y="592201"/>
            <a:ext cx="1557581" cy="1679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b="1" spc="169" kern="0" dirty="0">
                <a:solidFill>
                  <a:srgbClr val="4FC3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 DE DATOS</a:t>
            </a:r>
            <a:endParaRPr lang="en-US" sz="938" dirty="0"/>
          </a:p>
        </p:txBody>
      </p:sp>
      <p:sp>
        <p:nvSpPr>
          <p:cNvPr id="6" name="Text 3"/>
          <p:cNvSpPr/>
          <p:nvPr/>
        </p:nvSpPr>
        <p:spPr>
          <a:xfrm>
            <a:off x="11029381" y="596530"/>
            <a:ext cx="553126" cy="1593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41" kern="0" dirty="0">
                <a:solidFill>
                  <a:srgbClr val="8DA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/ 25</a:t>
            </a:r>
            <a:endParaRPr lang="en-US" sz="825" dirty="0"/>
          </a:p>
        </p:txBody>
      </p:sp>
      <p:sp>
        <p:nvSpPr>
          <p:cNvPr id="7" name="Text 4"/>
          <p:cNvSpPr/>
          <p:nvPr/>
        </p:nvSpPr>
        <p:spPr>
          <a:xfrm>
            <a:off x="685692" y="971442"/>
            <a:ext cx="11145235" cy="4361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850" b="1" spc="-29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Tablas de la Base de Datos</a:t>
            </a:r>
            <a:endParaRPr lang="en-US" sz="2850" dirty="0"/>
          </a:p>
        </p:txBody>
      </p:sp>
      <p:sp>
        <p:nvSpPr>
          <p:cNvPr id="8" name="Shape 5"/>
          <p:cNvSpPr/>
          <p:nvPr/>
        </p:nvSpPr>
        <p:spPr>
          <a:xfrm>
            <a:off x="685692" y="1559854"/>
            <a:ext cx="438096" cy="28548"/>
          </a:xfrm>
          <a:prstGeom prst="roundRect">
            <a:avLst>
              <a:gd name="adj" fmla="val 50000"/>
            </a:avLst>
          </a:prstGeom>
          <a:solidFill>
            <a:srgbClr val="4FC3F7"/>
          </a:solidFill>
          <a:ln/>
        </p:spPr>
      </p:sp>
      <p:sp>
        <p:nvSpPr>
          <p:cNvPr id="9" name="Shape 6"/>
          <p:cNvSpPr/>
          <p:nvPr/>
        </p:nvSpPr>
        <p:spPr>
          <a:xfrm>
            <a:off x="1943289" y="3044347"/>
            <a:ext cx="2400192" cy="1817327"/>
          </a:xfrm>
          <a:prstGeom prst="roundRect">
            <a:avLst>
              <a:gd name="adj" fmla="val 6289"/>
            </a:avLst>
          </a:prstGeom>
          <a:solidFill>
            <a:srgbClr val="22324F"/>
          </a:solidFill>
          <a:ln w="8659">
            <a:solidFill>
              <a:srgbClr val="314363"/>
            </a:solidFill>
            <a:prstDash val="solid"/>
          </a:ln>
          <a:effectLst>
            <a:outerShdw sx="100000" sy="100000" kx="0" ky="0" algn="bl" rotWithShape="0" blurRad="304800" dist="133350" dir="5400000">
              <a:srgbClr val="000000">
                <a:alpha val="3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1951948" y="3053006"/>
            <a:ext cx="2382873" cy="462179"/>
          </a:xfrm>
          <a:prstGeom prst="rect">
            <a:avLst/>
          </a:prstGeom>
          <a:solidFill>
            <a:srgbClr val="4FC3F7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4294" y="3198316"/>
            <a:ext cx="171423" cy="17142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361361" y="3167198"/>
            <a:ext cx="726714" cy="2718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0A0E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Marcas</a:t>
            </a:r>
            <a:endParaRPr lang="en-US" sz="1275" dirty="0"/>
          </a:p>
        </p:txBody>
      </p:sp>
      <p:sp>
        <p:nvSpPr>
          <p:cNvPr id="13" name="Shape 9"/>
          <p:cNvSpPr/>
          <p:nvPr/>
        </p:nvSpPr>
        <p:spPr>
          <a:xfrm>
            <a:off x="1951948" y="3845583"/>
            <a:ext cx="2382873" cy="9525"/>
          </a:xfrm>
          <a:prstGeom prst="rect">
            <a:avLst/>
          </a:prstGeom>
          <a:solidFill>
            <a:srgbClr val="314363"/>
          </a:solidFill>
          <a:ln/>
        </p:spPr>
      </p:sp>
      <p:sp>
        <p:nvSpPr>
          <p:cNvPr id="14" name="Shape 10"/>
          <p:cNvSpPr/>
          <p:nvPr/>
        </p:nvSpPr>
        <p:spPr>
          <a:xfrm>
            <a:off x="2104294" y="3600829"/>
            <a:ext cx="209577" cy="159111"/>
          </a:xfrm>
          <a:prstGeom prst="roundRect">
            <a:avLst>
              <a:gd name="adj" fmla="val 29932"/>
            </a:avLst>
          </a:prstGeom>
          <a:solidFill>
            <a:srgbClr val="FFD479">
              <a:alpha val="18000"/>
            </a:srgbClr>
          </a:solidFill>
          <a:ln/>
        </p:spPr>
      </p:sp>
      <p:sp>
        <p:nvSpPr>
          <p:cNvPr id="15" name="Text 11"/>
          <p:cNvSpPr/>
          <p:nvPr/>
        </p:nvSpPr>
        <p:spPr>
          <a:xfrm>
            <a:off x="2151919" y="3619879"/>
            <a:ext cx="190527" cy="1591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FD4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PK</a:t>
            </a:r>
            <a:endParaRPr lang="en-US" sz="750" dirty="0"/>
          </a:p>
        </p:txBody>
      </p:sp>
      <p:sp>
        <p:nvSpPr>
          <p:cNvPr id="16" name="Text 12"/>
          <p:cNvSpPr/>
          <p:nvPr/>
        </p:nvSpPr>
        <p:spPr>
          <a:xfrm>
            <a:off x="2409121" y="3602452"/>
            <a:ext cx="191474" cy="185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88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</a:t>
            </a:r>
            <a:endParaRPr lang="en-US" sz="1088" dirty="0"/>
          </a:p>
        </p:txBody>
      </p:sp>
      <p:sp>
        <p:nvSpPr>
          <p:cNvPr id="17" name="Text 13"/>
          <p:cNvSpPr/>
          <p:nvPr/>
        </p:nvSpPr>
        <p:spPr>
          <a:xfrm>
            <a:off x="3985211" y="3615441"/>
            <a:ext cx="273465" cy="1679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dirty="0">
                <a:solidFill>
                  <a:srgbClr val="8DA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endParaRPr lang="en-US" sz="863" dirty="0"/>
          </a:p>
        </p:txBody>
      </p:sp>
      <p:sp>
        <p:nvSpPr>
          <p:cNvPr id="18" name="Shape 14"/>
          <p:cNvSpPr/>
          <p:nvPr/>
        </p:nvSpPr>
        <p:spPr>
          <a:xfrm>
            <a:off x="1951948" y="4181394"/>
            <a:ext cx="2382873" cy="9525"/>
          </a:xfrm>
          <a:prstGeom prst="rect">
            <a:avLst/>
          </a:prstGeom>
          <a:solidFill>
            <a:srgbClr val="314363"/>
          </a:solidFill>
          <a:ln/>
        </p:spPr>
      </p:sp>
      <p:sp>
        <p:nvSpPr>
          <p:cNvPr id="19" name="Text 15"/>
          <p:cNvSpPr/>
          <p:nvPr/>
        </p:nvSpPr>
        <p:spPr>
          <a:xfrm>
            <a:off x="2408986" y="3939886"/>
            <a:ext cx="567468" cy="185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88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Nombre</a:t>
            </a:r>
            <a:endParaRPr lang="en-US" sz="1088" dirty="0"/>
          </a:p>
        </p:txBody>
      </p:sp>
      <p:sp>
        <p:nvSpPr>
          <p:cNvPr id="20" name="Text 16"/>
          <p:cNvSpPr/>
          <p:nvPr/>
        </p:nvSpPr>
        <p:spPr>
          <a:xfrm>
            <a:off x="3656572" y="3952875"/>
            <a:ext cx="602104" cy="1679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dirty="0">
                <a:solidFill>
                  <a:srgbClr val="8DA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nvarchar</a:t>
            </a:r>
            <a:endParaRPr lang="en-US" sz="863" dirty="0"/>
          </a:p>
        </p:txBody>
      </p:sp>
      <p:sp>
        <p:nvSpPr>
          <p:cNvPr id="21" name="Shape 17"/>
          <p:cNvSpPr/>
          <p:nvPr/>
        </p:nvSpPr>
        <p:spPr>
          <a:xfrm>
            <a:off x="1951948" y="4517204"/>
            <a:ext cx="2382873" cy="9525"/>
          </a:xfrm>
          <a:prstGeom prst="rect">
            <a:avLst/>
          </a:prstGeom>
          <a:solidFill>
            <a:srgbClr val="314363"/>
          </a:solidFill>
          <a:ln/>
        </p:spPr>
      </p:sp>
      <p:sp>
        <p:nvSpPr>
          <p:cNvPr id="22" name="Text 18"/>
          <p:cNvSpPr/>
          <p:nvPr/>
        </p:nvSpPr>
        <p:spPr>
          <a:xfrm>
            <a:off x="2408986" y="4275697"/>
            <a:ext cx="759456" cy="185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88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PaisOrigen</a:t>
            </a:r>
            <a:endParaRPr lang="en-US" sz="1088" dirty="0"/>
          </a:p>
        </p:txBody>
      </p:sp>
      <p:sp>
        <p:nvSpPr>
          <p:cNvPr id="23" name="Text 19"/>
          <p:cNvSpPr/>
          <p:nvPr/>
        </p:nvSpPr>
        <p:spPr>
          <a:xfrm>
            <a:off x="3656572" y="4288685"/>
            <a:ext cx="602104" cy="1679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dirty="0">
                <a:solidFill>
                  <a:srgbClr val="8DA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nvarchar</a:t>
            </a:r>
            <a:endParaRPr lang="en-US" sz="863" dirty="0"/>
          </a:p>
        </p:txBody>
      </p:sp>
      <p:sp>
        <p:nvSpPr>
          <p:cNvPr id="24" name="Text 20"/>
          <p:cNvSpPr/>
          <p:nvPr/>
        </p:nvSpPr>
        <p:spPr>
          <a:xfrm>
            <a:off x="2408986" y="4611507"/>
            <a:ext cx="797746" cy="185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88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Descripcion</a:t>
            </a:r>
            <a:endParaRPr lang="en-US" sz="1088" dirty="0"/>
          </a:p>
        </p:txBody>
      </p:sp>
      <p:sp>
        <p:nvSpPr>
          <p:cNvPr id="25" name="Text 21"/>
          <p:cNvSpPr/>
          <p:nvPr/>
        </p:nvSpPr>
        <p:spPr>
          <a:xfrm>
            <a:off x="3656572" y="4624496"/>
            <a:ext cx="602104" cy="1679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dirty="0">
                <a:solidFill>
                  <a:srgbClr val="8DA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nvarchar</a:t>
            </a:r>
            <a:endParaRPr lang="en-US" sz="863" dirty="0"/>
          </a:p>
        </p:txBody>
      </p:sp>
      <p:sp>
        <p:nvSpPr>
          <p:cNvPr id="26" name="Text 22"/>
          <p:cNvSpPr/>
          <p:nvPr/>
        </p:nvSpPr>
        <p:spPr>
          <a:xfrm>
            <a:off x="4766288" y="3689855"/>
            <a:ext cx="144796" cy="1679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900" dirty="0"/>
          </a:p>
        </p:txBody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3981" y="3857760"/>
            <a:ext cx="533346" cy="190500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4766288" y="4086279"/>
            <a:ext cx="144796" cy="1679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endParaRPr lang="en-US" sz="900" dirty="0"/>
          </a:p>
        </p:txBody>
      </p:sp>
      <p:sp>
        <p:nvSpPr>
          <p:cNvPr id="29" name="Shape 24"/>
          <p:cNvSpPr/>
          <p:nvPr/>
        </p:nvSpPr>
        <p:spPr>
          <a:xfrm>
            <a:off x="5257827" y="2539008"/>
            <a:ext cx="2400192" cy="2828005"/>
          </a:xfrm>
          <a:prstGeom prst="roundRect">
            <a:avLst>
              <a:gd name="adj" fmla="val 4762"/>
            </a:avLst>
          </a:prstGeom>
          <a:solidFill>
            <a:srgbClr val="22324F"/>
          </a:solidFill>
          <a:ln w="8659">
            <a:solidFill>
              <a:srgbClr val="314363"/>
            </a:solidFill>
            <a:prstDash val="solid"/>
          </a:ln>
          <a:effectLst>
            <a:outerShdw sx="100000" sy="100000" kx="0" ky="0" algn="bl" rotWithShape="0" blurRad="304800" dist="133350" dir="5400000">
              <a:srgbClr val="000000">
                <a:alpha val="30000"/>
              </a:srgbClr>
            </a:outerShdw>
          </a:effectLst>
        </p:spPr>
      </p:sp>
      <p:sp>
        <p:nvSpPr>
          <p:cNvPr id="30" name="Shape 25"/>
          <p:cNvSpPr/>
          <p:nvPr/>
        </p:nvSpPr>
        <p:spPr>
          <a:xfrm>
            <a:off x="5266486" y="2547667"/>
            <a:ext cx="2382873" cy="462179"/>
          </a:xfrm>
          <a:prstGeom prst="rect">
            <a:avLst/>
          </a:prstGeom>
          <a:solidFill>
            <a:srgbClr val="4FC3F7"/>
          </a:solidFill>
          <a:ln/>
        </p:spPr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18832" y="2692977"/>
            <a:ext cx="171423" cy="171423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5675898" y="2661858"/>
            <a:ext cx="729015" cy="271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0A0E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Relojes</a:t>
            </a:r>
            <a:endParaRPr lang="en-US" sz="1275" dirty="0"/>
          </a:p>
        </p:txBody>
      </p:sp>
      <p:sp>
        <p:nvSpPr>
          <p:cNvPr id="33" name="Shape 27"/>
          <p:cNvSpPr/>
          <p:nvPr/>
        </p:nvSpPr>
        <p:spPr>
          <a:xfrm>
            <a:off x="5266486" y="3340244"/>
            <a:ext cx="2382873" cy="9525"/>
          </a:xfrm>
          <a:prstGeom prst="rect">
            <a:avLst/>
          </a:prstGeom>
          <a:solidFill>
            <a:srgbClr val="314363"/>
          </a:solidFill>
          <a:ln/>
        </p:spPr>
      </p:sp>
      <p:sp>
        <p:nvSpPr>
          <p:cNvPr id="34" name="Shape 28"/>
          <p:cNvSpPr/>
          <p:nvPr/>
        </p:nvSpPr>
        <p:spPr>
          <a:xfrm>
            <a:off x="5418832" y="3095490"/>
            <a:ext cx="209577" cy="159111"/>
          </a:xfrm>
          <a:prstGeom prst="roundRect">
            <a:avLst>
              <a:gd name="adj" fmla="val 29932"/>
            </a:avLst>
          </a:prstGeom>
          <a:solidFill>
            <a:srgbClr val="FFD479">
              <a:alpha val="18000"/>
            </a:srgbClr>
          </a:solidFill>
          <a:ln/>
        </p:spPr>
      </p:sp>
      <p:sp>
        <p:nvSpPr>
          <p:cNvPr id="35" name="Text 29"/>
          <p:cNvSpPr/>
          <p:nvPr/>
        </p:nvSpPr>
        <p:spPr>
          <a:xfrm>
            <a:off x="5466457" y="3114540"/>
            <a:ext cx="190527" cy="1591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FD4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PK</a:t>
            </a:r>
            <a:endParaRPr lang="en-US" sz="750" dirty="0"/>
          </a:p>
        </p:txBody>
      </p:sp>
      <p:sp>
        <p:nvSpPr>
          <p:cNvPr id="36" name="Text 30"/>
          <p:cNvSpPr/>
          <p:nvPr/>
        </p:nvSpPr>
        <p:spPr>
          <a:xfrm>
            <a:off x="5723659" y="3097113"/>
            <a:ext cx="191474" cy="185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88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</a:t>
            </a:r>
            <a:endParaRPr lang="en-US" sz="1088" dirty="0"/>
          </a:p>
        </p:txBody>
      </p:sp>
      <p:sp>
        <p:nvSpPr>
          <p:cNvPr id="37" name="Text 31"/>
          <p:cNvSpPr/>
          <p:nvPr/>
        </p:nvSpPr>
        <p:spPr>
          <a:xfrm>
            <a:off x="7299749" y="3110102"/>
            <a:ext cx="273465" cy="1679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dirty="0">
                <a:solidFill>
                  <a:srgbClr val="8DA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endParaRPr lang="en-US" sz="863" dirty="0"/>
          </a:p>
        </p:txBody>
      </p:sp>
      <p:sp>
        <p:nvSpPr>
          <p:cNvPr id="38" name="Shape 32"/>
          <p:cNvSpPr/>
          <p:nvPr/>
        </p:nvSpPr>
        <p:spPr>
          <a:xfrm>
            <a:off x="5266486" y="3676054"/>
            <a:ext cx="2382873" cy="9525"/>
          </a:xfrm>
          <a:prstGeom prst="rect">
            <a:avLst/>
          </a:prstGeom>
          <a:solidFill>
            <a:srgbClr val="314363"/>
          </a:solidFill>
          <a:ln/>
        </p:spPr>
      </p:sp>
      <p:sp>
        <p:nvSpPr>
          <p:cNvPr id="39" name="Text 33"/>
          <p:cNvSpPr/>
          <p:nvPr/>
        </p:nvSpPr>
        <p:spPr>
          <a:xfrm>
            <a:off x="5723523" y="3434547"/>
            <a:ext cx="567468" cy="185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88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Nombre</a:t>
            </a:r>
            <a:endParaRPr lang="en-US" sz="1088" dirty="0"/>
          </a:p>
        </p:txBody>
      </p:sp>
      <p:sp>
        <p:nvSpPr>
          <p:cNvPr id="40" name="Text 34"/>
          <p:cNvSpPr/>
          <p:nvPr/>
        </p:nvSpPr>
        <p:spPr>
          <a:xfrm>
            <a:off x="6971109" y="3447536"/>
            <a:ext cx="602104" cy="1679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dirty="0">
                <a:solidFill>
                  <a:srgbClr val="8DA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nvarchar</a:t>
            </a:r>
            <a:endParaRPr lang="en-US" sz="863" dirty="0"/>
          </a:p>
        </p:txBody>
      </p:sp>
      <p:sp>
        <p:nvSpPr>
          <p:cNvPr id="41" name="Shape 35"/>
          <p:cNvSpPr/>
          <p:nvPr/>
        </p:nvSpPr>
        <p:spPr>
          <a:xfrm>
            <a:off x="5266486" y="4011865"/>
            <a:ext cx="2382873" cy="9525"/>
          </a:xfrm>
          <a:prstGeom prst="rect">
            <a:avLst/>
          </a:prstGeom>
          <a:solidFill>
            <a:srgbClr val="314363"/>
          </a:solidFill>
          <a:ln/>
        </p:spPr>
      </p:sp>
      <p:sp>
        <p:nvSpPr>
          <p:cNvPr id="42" name="Text 36"/>
          <p:cNvSpPr/>
          <p:nvPr/>
        </p:nvSpPr>
        <p:spPr>
          <a:xfrm>
            <a:off x="5723523" y="3770357"/>
            <a:ext cx="529314" cy="185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88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</a:t>
            </a:r>
            <a:endParaRPr lang="en-US" sz="1088" dirty="0"/>
          </a:p>
        </p:txBody>
      </p:sp>
      <p:sp>
        <p:nvSpPr>
          <p:cNvPr id="43" name="Text 37"/>
          <p:cNvSpPr/>
          <p:nvPr/>
        </p:nvSpPr>
        <p:spPr>
          <a:xfrm>
            <a:off x="6971109" y="3783346"/>
            <a:ext cx="602104" cy="1679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dirty="0">
                <a:solidFill>
                  <a:srgbClr val="8DA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nvarchar</a:t>
            </a:r>
            <a:endParaRPr lang="en-US" sz="863" dirty="0"/>
          </a:p>
        </p:txBody>
      </p:sp>
      <p:sp>
        <p:nvSpPr>
          <p:cNvPr id="44" name="Shape 38"/>
          <p:cNvSpPr/>
          <p:nvPr/>
        </p:nvSpPr>
        <p:spPr>
          <a:xfrm>
            <a:off x="5266486" y="4347675"/>
            <a:ext cx="2382873" cy="9525"/>
          </a:xfrm>
          <a:prstGeom prst="rect">
            <a:avLst/>
          </a:prstGeom>
          <a:solidFill>
            <a:srgbClr val="314363"/>
          </a:solidFill>
          <a:ln/>
        </p:spPr>
      </p:sp>
      <p:sp>
        <p:nvSpPr>
          <p:cNvPr id="45" name="Text 39"/>
          <p:cNvSpPr/>
          <p:nvPr/>
        </p:nvSpPr>
        <p:spPr>
          <a:xfrm>
            <a:off x="5723523" y="4106168"/>
            <a:ext cx="467753" cy="185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88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Precio</a:t>
            </a:r>
            <a:endParaRPr lang="en-US" sz="1088" dirty="0"/>
          </a:p>
        </p:txBody>
      </p:sp>
      <p:sp>
        <p:nvSpPr>
          <p:cNvPr id="46" name="Text 40"/>
          <p:cNvSpPr/>
          <p:nvPr/>
        </p:nvSpPr>
        <p:spPr>
          <a:xfrm>
            <a:off x="7036864" y="4119156"/>
            <a:ext cx="536349" cy="1679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dirty="0">
                <a:solidFill>
                  <a:srgbClr val="8DA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decimal</a:t>
            </a:r>
            <a:endParaRPr lang="en-US" sz="863" dirty="0"/>
          </a:p>
        </p:txBody>
      </p:sp>
      <p:sp>
        <p:nvSpPr>
          <p:cNvPr id="47" name="Shape 41"/>
          <p:cNvSpPr/>
          <p:nvPr/>
        </p:nvSpPr>
        <p:spPr>
          <a:xfrm>
            <a:off x="5266486" y="4683486"/>
            <a:ext cx="2382873" cy="9525"/>
          </a:xfrm>
          <a:prstGeom prst="rect">
            <a:avLst/>
          </a:prstGeom>
          <a:solidFill>
            <a:srgbClr val="314363"/>
          </a:solidFill>
          <a:ln/>
        </p:spPr>
      </p:sp>
      <p:sp>
        <p:nvSpPr>
          <p:cNvPr id="48" name="Text 42"/>
          <p:cNvSpPr/>
          <p:nvPr/>
        </p:nvSpPr>
        <p:spPr>
          <a:xfrm>
            <a:off x="5723523" y="4441978"/>
            <a:ext cx="421617" cy="185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88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Stock</a:t>
            </a:r>
            <a:endParaRPr lang="en-US" sz="1088" dirty="0"/>
          </a:p>
        </p:txBody>
      </p:sp>
      <p:sp>
        <p:nvSpPr>
          <p:cNvPr id="49" name="Text 43"/>
          <p:cNvSpPr/>
          <p:nvPr/>
        </p:nvSpPr>
        <p:spPr>
          <a:xfrm>
            <a:off x="7299749" y="4454967"/>
            <a:ext cx="273465" cy="1679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dirty="0">
                <a:solidFill>
                  <a:srgbClr val="8DA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endParaRPr lang="en-US" sz="863" dirty="0"/>
          </a:p>
        </p:txBody>
      </p:sp>
      <p:sp>
        <p:nvSpPr>
          <p:cNvPr id="50" name="Shape 44"/>
          <p:cNvSpPr/>
          <p:nvPr/>
        </p:nvSpPr>
        <p:spPr>
          <a:xfrm>
            <a:off x="5266486" y="5019296"/>
            <a:ext cx="2382873" cy="9525"/>
          </a:xfrm>
          <a:prstGeom prst="rect">
            <a:avLst/>
          </a:prstGeom>
          <a:solidFill>
            <a:srgbClr val="314363"/>
          </a:solidFill>
          <a:ln/>
        </p:spPr>
      </p:sp>
      <p:sp>
        <p:nvSpPr>
          <p:cNvPr id="51" name="Text 45"/>
          <p:cNvSpPr/>
          <p:nvPr/>
        </p:nvSpPr>
        <p:spPr>
          <a:xfrm>
            <a:off x="5723523" y="4777789"/>
            <a:ext cx="713320" cy="185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88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ImagenUrl</a:t>
            </a:r>
            <a:endParaRPr lang="en-US" sz="1088" dirty="0"/>
          </a:p>
        </p:txBody>
      </p:sp>
      <p:sp>
        <p:nvSpPr>
          <p:cNvPr id="52" name="Text 46"/>
          <p:cNvSpPr/>
          <p:nvPr/>
        </p:nvSpPr>
        <p:spPr>
          <a:xfrm>
            <a:off x="6971109" y="4790777"/>
            <a:ext cx="602104" cy="1679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dirty="0">
                <a:solidFill>
                  <a:srgbClr val="8DA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nvarchar</a:t>
            </a:r>
            <a:endParaRPr lang="en-US" sz="863" dirty="0"/>
          </a:p>
        </p:txBody>
      </p:sp>
      <p:sp>
        <p:nvSpPr>
          <p:cNvPr id="53" name="Shape 47"/>
          <p:cNvSpPr/>
          <p:nvPr/>
        </p:nvSpPr>
        <p:spPr>
          <a:xfrm>
            <a:off x="5418832" y="5113599"/>
            <a:ext cx="209577" cy="159111"/>
          </a:xfrm>
          <a:prstGeom prst="roundRect">
            <a:avLst>
              <a:gd name="adj" fmla="val 29932"/>
            </a:avLst>
          </a:prstGeom>
          <a:solidFill>
            <a:srgbClr val="4FC3F7">
              <a:alpha val="18000"/>
            </a:srgbClr>
          </a:solidFill>
          <a:ln/>
        </p:spPr>
      </p:sp>
      <p:sp>
        <p:nvSpPr>
          <p:cNvPr id="54" name="Text 48"/>
          <p:cNvSpPr/>
          <p:nvPr/>
        </p:nvSpPr>
        <p:spPr>
          <a:xfrm>
            <a:off x="5466457" y="5132649"/>
            <a:ext cx="190527" cy="1591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FK</a:t>
            </a:r>
            <a:endParaRPr lang="en-US" sz="750" dirty="0"/>
          </a:p>
        </p:txBody>
      </p:sp>
      <p:sp>
        <p:nvSpPr>
          <p:cNvPr id="55" name="Text 49"/>
          <p:cNvSpPr/>
          <p:nvPr/>
        </p:nvSpPr>
        <p:spPr>
          <a:xfrm>
            <a:off x="5723659" y="5115223"/>
            <a:ext cx="575180" cy="185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88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MarcaId</a:t>
            </a:r>
            <a:endParaRPr lang="en-US" sz="1088" dirty="0"/>
          </a:p>
        </p:txBody>
      </p:sp>
      <p:sp>
        <p:nvSpPr>
          <p:cNvPr id="56" name="Text 50"/>
          <p:cNvSpPr/>
          <p:nvPr/>
        </p:nvSpPr>
        <p:spPr>
          <a:xfrm>
            <a:off x="7299749" y="5128211"/>
            <a:ext cx="273465" cy="1679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dirty="0">
                <a:solidFill>
                  <a:srgbClr val="8DA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endParaRPr lang="en-US" sz="863" dirty="0"/>
          </a:p>
        </p:txBody>
      </p:sp>
      <p:sp>
        <p:nvSpPr>
          <p:cNvPr id="57" name="Shape 51"/>
          <p:cNvSpPr/>
          <p:nvPr/>
        </p:nvSpPr>
        <p:spPr>
          <a:xfrm>
            <a:off x="7848519" y="2461303"/>
            <a:ext cx="2400192" cy="2983868"/>
          </a:xfrm>
          <a:prstGeom prst="roundRect">
            <a:avLst>
              <a:gd name="adj" fmla="val 4762"/>
            </a:avLst>
          </a:prstGeom>
          <a:solidFill>
            <a:srgbClr val="22324F"/>
          </a:solidFill>
          <a:ln w="8659">
            <a:solidFill>
              <a:srgbClr val="314363"/>
            </a:solidFill>
            <a:prstDash val="solid"/>
          </a:ln>
          <a:effectLst>
            <a:outerShdw sx="100000" sy="100000" kx="0" ky="0" algn="bl" rotWithShape="0" blurRad="304800" dist="133350" dir="5400000">
              <a:srgbClr val="000000">
                <a:alpha val="30000"/>
              </a:srgbClr>
            </a:outerShdw>
          </a:effectLst>
        </p:spPr>
      </p:sp>
      <p:sp>
        <p:nvSpPr>
          <p:cNvPr id="58" name="Shape 52"/>
          <p:cNvSpPr/>
          <p:nvPr/>
        </p:nvSpPr>
        <p:spPr>
          <a:xfrm>
            <a:off x="7857177" y="2469962"/>
            <a:ext cx="2382873" cy="462179"/>
          </a:xfrm>
          <a:prstGeom prst="rect">
            <a:avLst/>
          </a:prstGeom>
          <a:solidFill>
            <a:srgbClr val="4FC3F7"/>
          </a:solidFill>
          <a:ln/>
        </p:spPr>
      </p:sp>
      <p:pic>
        <p:nvPicPr>
          <p:cNvPr id="5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09523" y="2615272"/>
            <a:ext cx="171423" cy="171423"/>
          </a:xfrm>
          <a:prstGeom prst="rect">
            <a:avLst/>
          </a:prstGeom>
        </p:spPr>
      </p:pic>
      <p:sp>
        <p:nvSpPr>
          <p:cNvPr id="60" name="Text 53"/>
          <p:cNvSpPr/>
          <p:nvPr/>
        </p:nvSpPr>
        <p:spPr>
          <a:xfrm>
            <a:off x="8266590" y="2584154"/>
            <a:ext cx="858766" cy="2718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0A0E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Usuarios</a:t>
            </a:r>
            <a:endParaRPr lang="en-US" sz="1275" dirty="0"/>
          </a:p>
        </p:txBody>
      </p:sp>
      <p:sp>
        <p:nvSpPr>
          <p:cNvPr id="61" name="Shape 54"/>
          <p:cNvSpPr/>
          <p:nvPr/>
        </p:nvSpPr>
        <p:spPr>
          <a:xfrm>
            <a:off x="7857177" y="3262539"/>
            <a:ext cx="2382873" cy="9525"/>
          </a:xfrm>
          <a:prstGeom prst="rect">
            <a:avLst/>
          </a:prstGeom>
          <a:solidFill>
            <a:srgbClr val="314363"/>
          </a:solidFill>
          <a:ln/>
        </p:spPr>
      </p:sp>
      <p:sp>
        <p:nvSpPr>
          <p:cNvPr id="62" name="Shape 55"/>
          <p:cNvSpPr/>
          <p:nvPr/>
        </p:nvSpPr>
        <p:spPr>
          <a:xfrm>
            <a:off x="8009523" y="3017784"/>
            <a:ext cx="209577" cy="159111"/>
          </a:xfrm>
          <a:prstGeom prst="roundRect">
            <a:avLst>
              <a:gd name="adj" fmla="val 29932"/>
            </a:avLst>
          </a:prstGeom>
          <a:solidFill>
            <a:srgbClr val="FFD479">
              <a:alpha val="18000"/>
            </a:srgbClr>
          </a:solidFill>
          <a:ln/>
        </p:spPr>
      </p:sp>
      <p:sp>
        <p:nvSpPr>
          <p:cNvPr id="63" name="Text 56"/>
          <p:cNvSpPr/>
          <p:nvPr/>
        </p:nvSpPr>
        <p:spPr>
          <a:xfrm>
            <a:off x="8057148" y="3036834"/>
            <a:ext cx="190527" cy="1591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FD4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PK</a:t>
            </a:r>
            <a:endParaRPr lang="en-US" sz="750" dirty="0"/>
          </a:p>
        </p:txBody>
      </p:sp>
      <p:sp>
        <p:nvSpPr>
          <p:cNvPr id="64" name="Text 57"/>
          <p:cNvSpPr/>
          <p:nvPr/>
        </p:nvSpPr>
        <p:spPr>
          <a:xfrm>
            <a:off x="8314351" y="3019408"/>
            <a:ext cx="191474" cy="185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88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</a:t>
            </a:r>
            <a:endParaRPr lang="en-US" sz="1088" dirty="0"/>
          </a:p>
        </p:txBody>
      </p:sp>
      <p:sp>
        <p:nvSpPr>
          <p:cNvPr id="65" name="Text 58"/>
          <p:cNvSpPr/>
          <p:nvPr/>
        </p:nvSpPr>
        <p:spPr>
          <a:xfrm>
            <a:off x="9890440" y="3032397"/>
            <a:ext cx="273465" cy="1679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dirty="0">
                <a:solidFill>
                  <a:srgbClr val="8DA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endParaRPr lang="en-US" sz="863" dirty="0"/>
          </a:p>
        </p:txBody>
      </p:sp>
      <p:sp>
        <p:nvSpPr>
          <p:cNvPr id="66" name="Shape 59"/>
          <p:cNvSpPr/>
          <p:nvPr/>
        </p:nvSpPr>
        <p:spPr>
          <a:xfrm>
            <a:off x="7857177" y="3598350"/>
            <a:ext cx="2382873" cy="9525"/>
          </a:xfrm>
          <a:prstGeom prst="rect">
            <a:avLst/>
          </a:prstGeom>
          <a:solidFill>
            <a:srgbClr val="314363"/>
          </a:solidFill>
          <a:ln/>
        </p:spPr>
      </p:sp>
      <p:sp>
        <p:nvSpPr>
          <p:cNvPr id="67" name="Text 60"/>
          <p:cNvSpPr/>
          <p:nvPr/>
        </p:nvSpPr>
        <p:spPr>
          <a:xfrm>
            <a:off x="8314215" y="3356842"/>
            <a:ext cx="1174010" cy="185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88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Nombre · Apellido</a:t>
            </a:r>
            <a:endParaRPr lang="en-US" sz="1088" dirty="0"/>
          </a:p>
        </p:txBody>
      </p:sp>
      <p:sp>
        <p:nvSpPr>
          <p:cNvPr id="68" name="Text 61"/>
          <p:cNvSpPr/>
          <p:nvPr/>
        </p:nvSpPr>
        <p:spPr>
          <a:xfrm>
            <a:off x="9561801" y="3369831"/>
            <a:ext cx="602104" cy="1679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dirty="0">
                <a:solidFill>
                  <a:srgbClr val="8DA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nvarchar</a:t>
            </a:r>
            <a:endParaRPr lang="en-US" sz="863" dirty="0"/>
          </a:p>
        </p:txBody>
      </p:sp>
      <p:sp>
        <p:nvSpPr>
          <p:cNvPr id="69" name="Shape 62"/>
          <p:cNvSpPr/>
          <p:nvPr/>
        </p:nvSpPr>
        <p:spPr>
          <a:xfrm>
            <a:off x="7857177" y="3937407"/>
            <a:ext cx="2382873" cy="9525"/>
          </a:xfrm>
          <a:prstGeom prst="rect">
            <a:avLst/>
          </a:prstGeom>
          <a:solidFill>
            <a:srgbClr val="314363"/>
          </a:solidFill>
          <a:ln/>
        </p:spPr>
      </p:sp>
      <p:sp>
        <p:nvSpPr>
          <p:cNvPr id="70" name="Shape 63"/>
          <p:cNvSpPr/>
          <p:nvPr/>
        </p:nvSpPr>
        <p:spPr>
          <a:xfrm>
            <a:off x="8009523" y="3692653"/>
            <a:ext cx="209577" cy="159111"/>
          </a:xfrm>
          <a:prstGeom prst="roundRect">
            <a:avLst>
              <a:gd name="adj" fmla="val 29932"/>
            </a:avLst>
          </a:prstGeom>
          <a:solidFill>
            <a:srgbClr val="C4A5FF">
              <a:alpha val="18000"/>
            </a:srgbClr>
          </a:solidFill>
          <a:ln/>
        </p:spPr>
      </p:sp>
      <p:sp>
        <p:nvSpPr>
          <p:cNvPr id="71" name="Text 64"/>
          <p:cNvSpPr/>
          <p:nvPr/>
        </p:nvSpPr>
        <p:spPr>
          <a:xfrm>
            <a:off x="8057148" y="3711703"/>
            <a:ext cx="190527" cy="1591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C4A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UQ</a:t>
            </a:r>
            <a:endParaRPr lang="en-US" sz="750" dirty="0"/>
          </a:p>
        </p:txBody>
      </p:sp>
      <p:sp>
        <p:nvSpPr>
          <p:cNvPr id="72" name="Text 65"/>
          <p:cNvSpPr/>
          <p:nvPr/>
        </p:nvSpPr>
        <p:spPr>
          <a:xfrm>
            <a:off x="8314351" y="3694276"/>
            <a:ext cx="421617" cy="185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88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</a:t>
            </a:r>
            <a:endParaRPr lang="en-US" sz="1088" dirty="0"/>
          </a:p>
        </p:txBody>
      </p:sp>
      <p:sp>
        <p:nvSpPr>
          <p:cNvPr id="73" name="Text 66"/>
          <p:cNvSpPr/>
          <p:nvPr/>
        </p:nvSpPr>
        <p:spPr>
          <a:xfrm>
            <a:off x="9561801" y="3707265"/>
            <a:ext cx="602104" cy="1679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dirty="0">
                <a:solidFill>
                  <a:srgbClr val="8DA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nvarchar</a:t>
            </a:r>
            <a:endParaRPr lang="en-US" sz="863" dirty="0"/>
          </a:p>
        </p:txBody>
      </p:sp>
      <p:sp>
        <p:nvSpPr>
          <p:cNvPr id="74" name="Shape 67"/>
          <p:cNvSpPr/>
          <p:nvPr/>
        </p:nvSpPr>
        <p:spPr>
          <a:xfrm>
            <a:off x="7857177" y="4273217"/>
            <a:ext cx="2382873" cy="9525"/>
          </a:xfrm>
          <a:prstGeom prst="rect">
            <a:avLst/>
          </a:prstGeom>
          <a:solidFill>
            <a:srgbClr val="314363"/>
          </a:solidFill>
          <a:ln/>
        </p:spPr>
      </p:sp>
      <p:sp>
        <p:nvSpPr>
          <p:cNvPr id="75" name="Text 68"/>
          <p:cNvSpPr/>
          <p:nvPr/>
        </p:nvSpPr>
        <p:spPr>
          <a:xfrm>
            <a:off x="8314215" y="4031710"/>
            <a:ext cx="1005023" cy="185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88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PasswordHash</a:t>
            </a:r>
            <a:endParaRPr lang="en-US" sz="1088" dirty="0"/>
          </a:p>
        </p:txBody>
      </p:sp>
      <p:sp>
        <p:nvSpPr>
          <p:cNvPr id="76" name="Text 69"/>
          <p:cNvSpPr/>
          <p:nvPr/>
        </p:nvSpPr>
        <p:spPr>
          <a:xfrm>
            <a:off x="9561801" y="4044698"/>
            <a:ext cx="602104" cy="1679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dirty="0">
                <a:solidFill>
                  <a:srgbClr val="8DA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nvarchar</a:t>
            </a:r>
            <a:endParaRPr lang="en-US" sz="863" dirty="0"/>
          </a:p>
        </p:txBody>
      </p:sp>
      <p:sp>
        <p:nvSpPr>
          <p:cNvPr id="77" name="Shape 70"/>
          <p:cNvSpPr/>
          <p:nvPr/>
        </p:nvSpPr>
        <p:spPr>
          <a:xfrm>
            <a:off x="7857177" y="4764891"/>
            <a:ext cx="2382873" cy="9525"/>
          </a:xfrm>
          <a:prstGeom prst="rect">
            <a:avLst/>
          </a:prstGeom>
          <a:solidFill>
            <a:srgbClr val="314363"/>
          </a:solidFill>
          <a:ln/>
        </p:spPr>
      </p:sp>
      <p:sp>
        <p:nvSpPr>
          <p:cNvPr id="78" name="Text 71"/>
          <p:cNvSpPr/>
          <p:nvPr/>
        </p:nvSpPr>
        <p:spPr>
          <a:xfrm>
            <a:off x="8304203" y="4367520"/>
            <a:ext cx="682743" cy="34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88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Telefono · Direccion</a:t>
            </a:r>
            <a:endParaRPr lang="en-US" sz="1088" dirty="0"/>
          </a:p>
        </p:txBody>
      </p:sp>
      <p:sp>
        <p:nvSpPr>
          <p:cNvPr id="79" name="Text 72"/>
          <p:cNvSpPr/>
          <p:nvPr/>
        </p:nvSpPr>
        <p:spPr>
          <a:xfrm>
            <a:off x="9561801" y="4458441"/>
            <a:ext cx="602104" cy="1679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dirty="0">
                <a:solidFill>
                  <a:srgbClr val="8DA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nvarchar</a:t>
            </a:r>
            <a:endParaRPr lang="en-US" sz="863" dirty="0"/>
          </a:p>
        </p:txBody>
      </p:sp>
      <p:sp>
        <p:nvSpPr>
          <p:cNvPr id="80" name="Shape 73"/>
          <p:cNvSpPr/>
          <p:nvPr/>
        </p:nvSpPr>
        <p:spPr>
          <a:xfrm>
            <a:off x="7857177" y="5100702"/>
            <a:ext cx="2382873" cy="9525"/>
          </a:xfrm>
          <a:prstGeom prst="rect">
            <a:avLst/>
          </a:prstGeom>
          <a:solidFill>
            <a:srgbClr val="314363"/>
          </a:solidFill>
          <a:ln/>
        </p:spPr>
      </p:sp>
      <p:sp>
        <p:nvSpPr>
          <p:cNvPr id="81" name="Text 74"/>
          <p:cNvSpPr/>
          <p:nvPr/>
        </p:nvSpPr>
        <p:spPr>
          <a:xfrm>
            <a:off x="8314215" y="4859194"/>
            <a:ext cx="974445" cy="185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88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FechaRegistro</a:t>
            </a:r>
            <a:endParaRPr lang="en-US" sz="1088" dirty="0"/>
          </a:p>
        </p:txBody>
      </p:sp>
      <p:sp>
        <p:nvSpPr>
          <p:cNvPr id="82" name="Text 75"/>
          <p:cNvSpPr/>
          <p:nvPr/>
        </p:nvSpPr>
        <p:spPr>
          <a:xfrm>
            <a:off x="9561801" y="4872183"/>
            <a:ext cx="602104" cy="1679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dirty="0">
                <a:solidFill>
                  <a:srgbClr val="8DA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datetime</a:t>
            </a:r>
            <a:endParaRPr lang="en-US" sz="863" dirty="0"/>
          </a:p>
        </p:txBody>
      </p:sp>
      <p:sp>
        <p:nvSpPr>
          <p:cNvPr id="83" name="Text 76"/>
          <p:cNvSpPr/>
          <p:nvPr/>
        </p:nvSpPr>
        <p:spPr>
          <a:xfrm>
            <a:off x="8314215" y="5195004"/>
            <a:ext cx="1127738" cy="185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88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Activo · EsAdmin</a:t>
            </a:r>
            <a:endParaRPr lang="en-US" sz="1088" dirty="0"/>
          </a:p>
        </p:txBody>
      </p:sp>
      <p:sp>
        <p:nvSpPr>
          <p:cNvPr id="84" name="Text 77"/>
          <p:cNvSpPr/>
          <p:nvPr/>
        </p:nvSpPr>
        <p:spPr>
          <a:xfrm>
            <a:off x="9890440" y="5207993"/>
            <a:ext cx="273465" cy="1679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dirty="0">
                <a:solidFill>
                  <a:srgbClr val="8DA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bit</a:t>
            </a:r>
            <a:endParaRPr lang="en-US" sz="863" dirty="0"/>
          </a:p>
        </p:txBody>
      </p:sp>
      <p:sp>
        <p:nvSpPr>
          <p:cNvPr id="85" name="Text 78"/>
          <p:cNvSpPr/>
          <p:nvPr/>
        </p:nvSpPr>
        <p:spPr>
          <a:xfrm>
            <a:off x="685692" y="6279600"/>
            <a:ext cx="1965505" cy="1593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spc="66" kern="0" dirty="0">
                <a:solidFill>
                  <a:srgbClr val="C4D0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RelojAPI · Dominican Watch Men</a:t>
            </a:r>
            <a:endParaRPr lang="en-US" sz="825" dirty="0"/>
          </a:p>
        </p:txBody>
      </p:sp>
      <p:sp>
        <p:nvSpPr>
          <p:cNvPr id="86" name="Text 79"/>
          <p:cNvSpPr/>
          <p:nvPr/>
        </p:nvSpPr>
        <p:spPr>
          <a:xfrm>
            <a:off x="11127202" y="6279600"/>
            <a:ext cx="455306" cy="1593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66" kern="0" dirty="0">
                <a:solidFill>
                  <a:srgbClr val="8DA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25</a:t>
            </a:r>
            <a:endParaRPr lang="en-US" sz="82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13357"/>
          </a:solidFill>
          <a:ln/>
        </p:spPr>
      </p:sp>
      <p:sp>
        <p:nvSpPr>
          <p:cNvPr id="3" name="Shape 1"/>
          <p:cNvSpPr/>
          <p:nvPr/>
        </p:nvSpPr>
        <p:spPr>
          <a:xfrm>
            <a:off x="685692" y="514269"/>
            <a:ext cx="285750" cy="285750"/>
          </a:xfrm>
          <a:prstGeom prst="roundRect">
            <a:avLst>
              <a:gd name="adj" fmla="val 26667"/>
            </a:avLst>
          </a:prstGeom>
          <a:solidFill>
            <a:srgbClr val="4FC3F7">
              <a:alpha val="12000"/>
            </a:srgbClr>
          </a:solidFill>
          <a:ln w="8659">
            <a:solidFill>
              <a:srgbClr val="314363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7658" y="576235"/>
            <a:ext cx="161817" cy="16181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76163" y="592201"/>
            <a:ext cx="1018147" cy="1679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b="1" spc="169" kern="0" dirty="0">
                <a:solidFill>
                  <a:srgbClr val="4FC3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CODE-FIRST</a:t>
            </a:r>
            <a:endParaRPr lang="en-US" sz="938" dirty="0"/>
          </a:p>
        </p:txBody>
      </p:sp>
      <p:sp>
        <p:nvSpPr>
          <p:cNvPr id="6" name="Text 3"/>
          <p:cNvSpPr/>
          <p:nvPr/>
        </p:nvSpPr>
        <p:spPr>
          <a:xfrm>
            <a:off x="11029381" y="596530"/>
            <a:ext cx="553126" cy="1593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41" kern="0" dirty="0">
                <a:solidFill>
                  <a:srgbClr val="8DA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/ 25</a:t>
            </a:r>
            <a:endParaRPr lang="en-US" sz="825" dirty="0"/>
          </a:p>
        </p:txBody>
      </p:sp>
      <p:sp>
        <p:nvSpPr>
          <p:cNvPr id="7" name="Text 4"/>
          <p:cNvSpPr/>
          <p:nvPr/>
        </p:nvSpPr>
        <p:spPr>
          <a:xfrm>
            <a:off x="685692" y="971442"/>
            <a:ext cx="11145235" cy="4361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850" b="1" spc="-29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 Core Migrations</a:t>
            </a:r>
            <a:endParaRPr lang="en-US" sz="2850" dirty="0"/>
          </a:p>
        </p:txBody>
      </p:sp>
      <p:sp>
        <p:nvSpPr>
          <p:cNvPr id="8" name="Shape 5"/>
          <p:cNvSpPr/>
          <p:nvPr/>
        </p:nvSpPr>
        <p:spPr>
          <a:xfrm>
            <a:off x="685692" y="1559854"/>
            <a:ext cx="438096" cy="28548"/>
          </a:xfrm>
          <a:prstGeom prst="roundRect">
            <a:avLst>
              <a:gd name="adj" fmla="val 50000"/>
            </a:avLst>
          </a:prstGeom>
          <a:solidFill>
            <a:srgbClr val="4FC3F7"/>
          </a:solidFill>
          <a:ln/>
        </p:spPr>
      </p:sp>
      <p:sp>
        <p:nvSpPr>
          <p:cNvPr id="9" name="Text 6"/>
          <p:cNvSpPr/>
          <p:nvPr/>
        </p:nvSpPr>
        <p:spPr>
          <a:xfrm>
            <a:off x="685692" y="1798056"/>
            <a:ext cx="8829674" cy="274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200" dirty="0">
                <a:solidFill>
                  <a:srgbClr val="C4D0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Enfoque </a:t>
            </a:r>
            <a:pPr algn="l" indent="0" marL="0">
              <a:lnSpc>
                <a:spcPct val="155000"/>
              </a:lnSpc>
              <a:buNone/>
            </a:pPr>
            <a:r>
              <a:rPr lang="en-US" sz="1200" b="1" dirty="0">
                <a:solidFill>
                  <a:srgbClr val="4FC3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Code-First</a:t>
            </a:r>
            <a:pPr algn="l" indent="0" marL="0">
              <a:lnSpc>
                <a:spcPct val="155000"/>
              </a:lnSpc>
              <a:buNone/>
            </a:pPr>
            <a:r>
              <a:rPr lang="en-US" sz="1200" dirty="0">
                <a:solidFill>
                  <a:srgbClr val="C4D0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los modelos en C# generan la base de datos. EF Core traduce las clases a tablas SQL.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85692" y="2186285"/>
            <a:ext cx="6081793" cy="3921891"/>
          </a:xfrm>
          <a:prstGeom prst="roundRect">
            <a:avLst>
              <a:gd name="adj" fmla="val 3157"/>
            </a:avLst>
          </a:prstGeom>
          <a:solidFill>
            <a:srgbClr val="0A0E18"/>
          </a:solidFill>
          <a:ln w="8659">
            <a:solidFill>
              <a:srgbClr val="1C2C49"/>
            </a:solidFill>
            <a:prstDash val="solid"/>
          </a:ln>
          <a:effectLst>
            <a:outerShdw sx="100000" sy="100000" kx="0" ky="0" algn="bl" rotWithShape="0" blurRad="381000" dist="171450" dir="5400000">
              <a:srgbClr val="000000">
                <a:alpha val="3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94351" y="2194944"/>
            <a:ext cx="6064475" cy="339328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694351" y="2525613"/>
            <a:ext cx="6064475" cy="9525"/>
          </a:xfrm>
          <a:prstGeom prst="rect">
            <a:avLst/>
          </a:prstGeom>
          <a:solidFill>
            <a:srgbClr val="1C2C49"/>
          </a:solidFill>
          <a:ln/>
        </p:spPr>
      </p:sp>
      <p:sp>
        <p:nvSpPr>
          <p:cNvPr id="13" name="Shape 10"/>
          <p:cNvSpPr/>
          <p:nvPr/>
        </p:nvSpPr>
        <p:spPr>
          <a:xfrm>
            <a:off x="837226" y="2312654"/>
            <a:ext cx="95250" cy="95250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4" name="Shape 11"/>
          <p:cNvSpPr/>
          <p:nvPr/>
        </p:nvSpPr>
        <p:spPr>
          <a:xfrm>
            <a:off x="999043" y="2312654"/>
            <a:ext cx="95250" cy="9525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5" name="Shape 12"/>
          <p:cNvSpPr/>
          <p:nvPr/>
        </p:nvSpPr>
        <p:spPr>
          <a:xfrm>
            <a:off x="1160859" y="2312654"/>
            <a:ext cx="95250" cy="9525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6" name="Text 13"/>
          <p:cNvSpPr/>
          <p:nvPr/>
        </p:nvSpPr>
        <p:spPr>
          <a:xfrm>
            <a:off x="1398849" y="2299665"/>
            <a:ext cx="1522403" cy="1593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8DA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Package Manager Console</a:t>
            </a:r>
            <a:endParaRPr lang="en-US" sz="825" dirty="0"/>
          </a:p>
        </p:txBody>
      </p:sp>
      <p:sp>
        <p:nvSpPr>
          <p:cNvPr id="17" name="Text 14"/>
          <p:cNvSpPr/>
          <p:nvPr/>
        </p:nvSpPr>
        <p:spPr>
          <a:xfrm>
            <a:off x="903901" y="2705722"/>
            <a:ext cx="5827309" cy="16234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85000"/>
              </a:lnSpc>
              <a:buNone/>
            </a:pPr>
            <a:r>
              <a:rPr lang="en-US" sz="1125" dirty="0">
                <a:solidFill>
                  <a:srgbClr val="5F72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Generar migraciones </a:t>
            </a:r>
            <a:pPr algn="l" indent="0" marL="0">
              <a:lnSpc>
                <a:spcPct val="185000"/>
              </a:lnSpc>
              <a:buNone/>
            </a:pPr>
            <a:r>
              <a:rPr lang="en-US" sz="1125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dotnet ef migrations add </a:t>
            </a:r>
            <a:pPr algn="l" indent="0" marL="0">
              <a:lnSpc>
                <a:spcPct val="185000"/>
              </a:lnSpc>
              <a:buNone/>
            </a:pPr>
            <a:r>
              <a:rPr lang="en-US" sz="1125" dirty="0">
                <a:solidFill>
                  <a:srgbClr val="9EC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InitialCreate </a:t>
            </a:r>
            <a:pPr algn="l" indent="0" marL="0">
              <a:lnSpc>
                <a:spcPct val="185000"/>
              </a:lnSpc>
              <a:buNone/>
            </a:pPr>
            <a:r>
              <a:rPr lang="en-US" sz="1125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dotnet ef migrations add </a:t>
            </a:r>
            <a:pPr algn="l" indent="0" marL="0">
              <a:lnSpc>
                <a:spcPct val="185000"/>
              </a:lnSpc>
              <a:buNone/>
            </a:pPr>
            <a:r>
              <a:rPr lang="en-US" sz="1125" dirty="0">
                <a:solidFill>
                  <a:srgbClr val="9EC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AddUsuarios </a:t>
            </a:r>
            <a:pPr algn="l" indent="0" marL="0">
              <a:lnSpc>
                <a:spcPct val="185000"/>
              </a:lnSpc>
              <a:buNone/>
            </a:pPr>
            <a:r>
              <a:rPr lang="en-US" sz="1125" dirty="0">
                <a:solidFill>
                  <a:srgbClr val="5F72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Aplicar a la base de datos </a:t>
            </a:r>
            <a:pPr algn="l" indent="0" marL="0">
              <a:lnSpc>
                <a:spcPct val="185000"/>
              </a:lnSpc>
              <a:buNone/>
            </a:pPr>
            <a:r>
              <a:rPr lang="en-US" sz="1125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dotnet ef database update</a:t>
            </a:r>
            <a:endParaRPr lang="en-US" sz="1125" dirty="0"/>
          </a:p>
        </p:txBody>
      </p:sp>
      <p:sp>
        <p:nvSpPr>
          <p:cNvPr id="18" name="Shape 15"/>
          <p:cNvSpPr/>
          <p:nvPr/>
        </p:nvSpPr>
        <p:spPr>
          <a:xfrm>
            <a:off x="6957985" y="3244994"/>
            <a:ext cx="4548323" cy="402783"/>
          </a:xfrm>
          <a:prstGeom prst="roundRect">
            <a:avLst>
              <a:gd name="adj" fmla="val 23648"/>
            </a:avLst>
          </a:prstGeom>
          <a:solidFill>
            <a:srgbClr val="22324F"/>
          </a:solidFill>
          <a:ln/>
        </p:spPr>
      </p:sp>
      <p:sp>
        <p:nvSpPr>
          <p:cNvPr id="19" name="Text 16"/>
          <p:cNvSpPr/>
          <p:nvPr/>
        </p:nvSpPr>
        <p:spPr>
          <a:xfrm>
            <a:off x="7100860" y="3349769"/>
            <a:ext cx="4399022" cy="2313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050" b="1" dirty="0">
                <a:solidFill>
                  <a:srgbClr val="4FC3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__EFMigrationsHistory </a:t>
            </a:r>
            <a:pPr algn="l"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C4D0E4"/>
                </a:solidFill>
                <a:highlight>
                  <a:srgbClr val="22324F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rastrea qué migraciones se han aplicado.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6957985" y="3752498"/>
            <a:ext cx="4548323" cy="596124"/>
          </a:xfrm>
          <a:prstGeom prst="roundRect">
            <a:avLst>
              <a:gd name="adj" fmla="val 15978"/>
            </a:avLst>
          </a:prstGeom>
          <a:solidFill>
            <a:srgbClr val="22324F"/>
          </a:solidFill>
          <a:ln/>
        </p:spPr>
      </p:sp>
      <p:sp>
        <p:nvSpPr>
          <p:cNvPr id="21" name="Text 18"/>
          <p:cNvSpPr/>
          <p:nvPr/>
        </p:nvSpPr>
        <p:spPr>
          <a:xfrm>
            <a:off x="7100860" y="3857273"/>
            <a:ext cx="4399022" cy="4246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050" b="1" dirty="0">
                <a:solidFill>
                  <a:srgbClr val="4FC3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AppDbContext </a:t>
            </a:r>
            <a:pPr algn="l"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C4D0E4"/>
                </a:solidFill>
                <a:highlight>
                  <a:srgbClr val="22324F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configura: claves primarias, foráneas, índice único en Email y </a:t>
            </a:r>
            <a:pPr algn="l" indent="0" marL="0">
              <a:lnSpc>
                <a:spcPct val="145000"/>
              </a:lnSpc>
              <a:buNone/>
            </a:pPr>
            <a:r>
              <a:rPr lang="en-US" sz="966" b="1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decimal(18,2) </a:t>
            </a:r>
            <a:pPr algn="l"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C4D0E4"/>
                </a:solidFill>
                <a:highlight>
                  <a:srgbClr val="22324F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para Precio.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6957985" y="4453343"/>
            <a:ext cx="4548323" cy="596124"/>
          </a:xfrm>
          <a:prstGeom prst="roundRect">
            <a:avLst>
              <a:gd name="adj" fmla="val 15978"/>
            </a:avLst>
          </a:prstGeom>
          <a:solidFill>
            <a:srgbClr val="22324F"/>
          </a:solidFill>
          <a:ln/>
        </p:spPr>
      </p:sp>
      <p:sp>
        <p:nvSpPr>
          <p:cNvPr id="23" name="Text 20"/>
          <p:cNvSpPr/>
          <p:nvPr/>
        </p:nvSpPr>
        <p:spPr>
          <a:xfrm>
            <a:off x="7100860" y="4558118"/>
            <a:ext cx="4399022" cy="4246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8DA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Cualquier cambio en los modelos → nueva migración → la BD se mantiene sincronizada.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685692" y="6279600"/>
            <a:ext cx="1965505" cy="1593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spc="66" kern="0" dirty="0">
                <a:solidFill>
                  <a:srgbClr val="C4D0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RelojAPI · Dominican Watch Men</a:t>
            </a:r>
            <a:endParaRPr lang="en-US" sz="825" dirty="0"/>
          </a:p>
        </p:txBody>
      </p:sp>
      <p:sp>
        <p:nvSpPr>
          <p:cNvPr id="25" name="Text 22"/>
          <p:cNvSpPr/>
          <p:nvPr/>
        </p:nvSpPr>
        <p:spPr>
          <a:xfrm>
            <a:off x="11127202" y="6279600"/>
            <a:ext cx="455306" cy="1593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66" kern="0" dirty="0">
                <a:solidFill>
                  <a:srgbClr val="8DA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/ 25</a:t>
            </a:r>
            <a:endParaRPr lang="en-US" sz="82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13357"/>
          </a:solidFill>
          <a:ln/>
        </p:spPr>
      </p:sp>
      <p:sp>
        <p:nvSpPr>
          <p:cNvPr id="3" name="Shape 1"/>
          <p:cNvSpPr/>
          <p:nvPr/>
        </p:nvSpPr>
        <p:spPr>
          <a:xfrm>
            <a:off x="685692" y="514269"/>
            <a:ext cx="285750" cy="285750"/>
          </a:xfrm>
          <a:prstGeom prst="roundRect">
            <a:avLst>
              <a:gd name="adj" fmla="val 26667"/>
            </a:avLst>
          </a:prstGeom>
          <a:solidFill>
            <a:srgbClr val="4FC3F7">
              <a:alpha val="12000"/>
            </a:srgbClr>
          </a:solidFill>
          <a:ln w="8659">
            <a:solidFill>
              <a:srgbClr val="314363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7658" y="576235"/>
            <a:ext cx="161817" cy="16181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76163" y="592201"/>
            <a:ext cx="1472208" cy="1679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b="1" spc="169" kern="0" dirty="0">
                <a:solidFill>
                  <a:srgbClr val="4FC3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PAQUETES NUGET</a:t>
            </a:r>
            <a:endParaRPr lang="en-US" sz="938" dirty="0"/>
          </a:p>
        </p:txBody>
      </p:sp>
      <p:sp>
        <p:nvSpPr>
          <p:cNvPr id="6" name="Text 3"/>
          <p:cNvSpPr/>
          <p:nvPr/>
        </p:nvSpPr>
        <p:spPr>
          <a:xfrm>
            <a:off x="11029381" y="596530"/>
            <a:ext cx="553126" cy="1593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41" kern="0" dirty="0">
                <a:solidFill>
                  <a:srgbClr val="8DA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 / 25</a:t>
            </a:r>
            <a:endParaRPr lang="en-US" sz="825" dirty="0"/>
          </a:p>
        </p:txBody>
      </p:sp>
      <p:sp>
        <p:nvSpPr>
          <p:cNvPr id="7" name="Text 4"/>
          <p:cNvSpPr/>
          <p:nvPr/>
        </p:nvSpPr>
        <p:spPr>
          <a:xfrm>
            <a:off x="685692" y="971442"/>
            <a:ext cx="11145235" cy="4361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850" b="1" spc="-29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Librerías Instaladas</a:t>
            </a:r>
            <a:endParaRPr lang="en-US" sz="2850" dirty="0"/>
          </a:p>
        </p:txBody>
      </p:sp>
      <p:sp>
        <p:nvSpPr>
          <p:cNvPr id="8" name="Shape 5"/>
          <p:cNvSpPr/>
          <p:nvPr/>
        </p:nvSpPr>
        <p:spPr>
          <a:xfrm>
            <a:off x="685692" y="1559854"/>
            <a:ext cx="438096" cy="28548"/>
          </a:xfrm>
          <a:prstGeom prst="roundRect">
            <a:avLst>
              <a:gd name="adj" fmla="val 50000"/>
            </a:avLst>
          </a:prstGeom>
          <a:solidFill>
            <a:srgbClr val="4FC3F7"/>
          </a:solidFill>
          <a:ln/>
        </p:spPr>
      </p:sp>
      <p:sp>
        <p:nvSpPr>
          <p:cNvPr id="9" name="Shape 6"/>
          <p:cNvSpPr/>
          <p:nvPr/>
        </p:nvSpPr>
        <p:spPr>
          <a:xfrm>
            <a:off x="685692" y="1798245"/>
            <a:ext cx="10820616" cy="2327401"/>
          </a:xfrm>
          <a:prstGeom prst="roundRect">
            <a:avLst>
              <a:gd name="adj" fmla="val 4911"/>
            </a:avLst>
          </a:prstGeom>
          <a:ln w="8659">
            <a:solidFill>
              <a:srgbClr val="314363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90021" y="1802574"/>
            <a:ext cx="4541016" cy="413742"/>
          </a:xfrm>
          <a:prstGeom prst="rect">
            <a:avLst/>
          </a:prstGeom>
          <a:solidFill>
            <a:srgbClr val="15203A"/>
          </a:solidFill>
          <a:ln/>
        </p:spPr>
      </p:sp>
      <p:sp>
        <p:nvSpPr>
          <p:cNvPr id="11" name="Shape 8"/>
          <p:cNvSpPr/>
          <p:nvPr/>
        </p:nvSpPr>
        <p:spPr>
          <a:xfrm>
            <a:off x="690021" y="2207658"/>
            <a:ext cx="4541016" cy="9525"/>
          </a:xfrm>
          <a:prstGeom prst="rect">
            <a:avLst/>
          </a:prstGeom>
          <a:solidFill>
            <a:srgbClr val="314363"/>
          </a:solidFill>
          <a:ln/>
        </p:spPr>
      </p:sp>
      <p:sp>
        <p:nvSpPr>
          <p:cNvPr id="12" name="Text 9"/>
          <p:cNvSpPr/>
          <p:nvPr/>
        </p:nvSpPr>
        <p:spPr>
          <a:xfrm>
            <a:off x="861471" y="1935924"/>
            <a:ext cx="4334347" cy="1764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75" b="1" spc="39" kern="0" dirty="0">
                <a:solidFill>
                  <a:srgbClr val="4FC3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PAQUETE</a:t>
            </a:r>
            <a:endParaRPr lang="en-US" sz="975" dirty="0"/>
          </a:p>
        </p:txBody>
      </p:sp>
      <p:sp>
        <p:nvSpPr>
          <p:cNvPr id="13" name="Shape 10"/>
          <p:cNvSpPr/>
          <p:nvPr/>
        </p:nvSpPr>
        <p:spPr>
          <a:xfrm>
            <a:off x="5231038" y="1802574"/>
            <a:ext cx="6270940" cy="413742"/>
          </a:xfrm>
          <a:prstGeom prst="rect">
            <a:avLst/>
          </a:prstGeom>
          <a:solidFill>
            <a:srgbClr val="15203A"/>
          </a:solidFill>
          <a:ln/>
        </p:spPr>
      </p:sp>
      <p:sp>
        <p:nvSpPr>
          <p:cNvPr id="14" name="Shape 11"/>
          <p:cNvSpPr/>
          <p:nvPr/>
        </p:nvSpPr>
        <p:spPr>
          <a:xfrm>
            <a:off x="5231038" y="2207658"/>
            <a:ext cx="6270940" cy="9525"/>
          </a:xfrm>
          <a:prstGeom prst="rect">
            <a:avLst/>
          </a:prstGeom>
          <a:solidFill>
            <a:srgbClr val="314363"/>
          </a:solidFill>
          <a:ln/>
        </p:spPr>
      </p:sp>
      <p:sp>
        <p:nvSpPr>
          <p:cNvPr id="15" name="Text 12"/>
          <p:cNvSpPr/>
          <p:nvPr/>
        </p:nvSpPr>
        <p:spPr>
          <a:xfrm>
            <a:off x="5402488" y="1935924"/>
            <a:ext cx="6116169" cy="1764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75" b="1" spc="39" kern="0" dirty="0">
                <a:solidFill>
                  <a:srgbClr val="4FC3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FUNCIÓN</a:t>
            </a:r>
            <a:endParaRPr lang="en-US" sz="975" dirty="0"/>
          </a:p>
        </p:txBody>
      </p:sp>
      <p:sp>
        <p:nvSpPr>
          <p:cNvPr id="16" name="Shape 13"/>
          <p:cNvSpPr/>
          <p:nvPr/>
        </p:nvSpPr>
        <p:spPr>
          <a:xfrm>
            <a:off x="690021" y="2683908"/>
            <a:ext cx="4541016" cy="9525"/>
          </a:xfrm>
          <a:prstGeom prst="rect">
            <a:avLst/>
          </a:prstGeom>
          <a:solidFill>
            <a:srgbClr val="314363"/>
          </a:solidFill>
          <a:ln/>
        </p:spPr>
      </p:sp>
      <p:sp>
        <p:nvSpPr>
          <p:cNvPr id="17" name="Text 14"/>
          <p:cNvSpPr/>
          <p:nvPr/>
        </p:nvSpPr>
        <p:spPr>
          <a:xfrm>
            <a:off x="861471" y="2359192"/>
            <a:ext cx="4334347" cy="2199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C4D0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Microsoft.EntityFrameworkCore.SqlServer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5231038" y="2683908"/>
            <a:ext cx="6270940" cy="9525"/>
          </a:xfrm>
          <a:prstGeom prst="rect">
            <a:avLst/>
          </a:prstGeom>
          <a:solidFill>
            <a:srgbClr val="314363"/>
          </a:solidFill>
          <a:ln/>
        </p:spPr>
      </p:sp>
      <p:sp>
        <p:nvSpPr>
          <p:cNvPr id="19" name="Text 16"/>
          <p:cNvSpPr/>
          <p:nvPr/>
        </p:nvSpPr>
        <p:spPr>
          <a:xfrm>
            <a:off x="5402488" y="2359192"/>
            <a:ext cx="6116169" cy="2199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C4D0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ORM para mapear clases C# a tablas de SQL Server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690021" y="2692566"/>
            <a:ext cx="4541016" cy="476250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21" name="Shape 18"/>
          <p:cNvSpPr/>
          <p:nvPr/>
        </p:nvSpPr>
        <p:spPr>
          <a:xfrm>
            <a:off x="690021" y="3160157"/>
            <a:ext cx="4541016" cy="9525"/>
          </a:xfrm>
          <a:prstGeom prst="rect">
            <a:avLst/>
          </a:prstGeom>
          <a:solidFill>
            <a:srgbClr val="314363"/>
          </a:solidFill>
          <a:ln/>
        </p:spPr>
      </p:sp>
      <p:sp>
        <p:nvSpPr>
          <p:cNvPr id="22" name="Text 19"/>
          <p:cNvSpPr/>
          <p:nvPr/>
        </p:nvSpPr>
        <p:spPr>
          <a:xfrm>
            <a:off x="861471" y="2835441"/>
            <a:ext cx="4334347" cy="2199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C4D0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Microsoft.EntityFrameworkCore.Tools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5231038" y="2692566"/>
            <a:ext cx="6270940" cy="476250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24" name="Shape 21"/>
          <p:cNvSpPr/>
          <p:nvPr/>
        </p:nvSpPr>
        <p:spPr>
          <a:xfrm>
            <a:off x="5231038" y="3160157"/>
            <a:ext cx="6270940" cy="9525"/>
          </a:xfrm>
          <a:prstGeom prst="rect">
            <a:avLst/>
          </a:prstGeom>
          <a:solidFill>
            <a:srgbClr val="314363"/>
          </a:solidFill>
          <a:ln/>
        </p:spPr>
      </p:sp>
      <p:sp>
        <p:nvSpPr>
          <p:cNvPr id="25" name="Text 22"/>
          <p:cNvSpPr/>
          <p:nvPr/>
        </p:nvSpPr>
        <p:spPr>
          <a:xfrm>
            <a:off x="5402488" y="2835441"/>
            <a:ext cx="6116169" cy="2199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C4D0E4"/>
                </a:solidFill>
                <a:highlight>
                  <a:srgbClr val="FFFFFF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Comandos </a:t>
            </a:r>
            <a:pPr algn="l" indent="0" marL="0">
              <a:buNone/>
            </a:pPr>
            <a:r>
              <a:rPr lang="en-US" sz="1104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dotnet ef </a:t>
            </a:r>
            <a:pPr algn="l" indent="0" marL="0">
              <a:buNone/>
            </a:pPr>
            <a:r>
              <a:rPr lang="en-US" sz="1200" dirty="0">
                <a:solidFill>
                  <a:srgbClr val="C4D0E4"/>
                </a:solidFill>
                <a:highlight>
                  <a:srgbClr val="FFFFFF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para migraciones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690021" y="3636407"/>
            <a:ext cx="4541016" cy="9525"/>
          </a:xfrm>
          <a:prstGeom prst="rect">
            <a:avLst/>
          </a:prstGeom>
          <a:solidFill>
            <a:srgbClr val="314363"/>
          </a:solidFill>
          <a:ln/>
        </p:spPr>
      </p:sp>
      <p:sp>
        <p:nvSpPr>
          <p:cNvPr id="27" name="Text 24"/>
          <p:cNvSpPr/>
          <p:nvPr/>
        </p:nvSpPr>
        <p:spPr>
          <a:xfrm>
            <a:off x="861471" y="3311691"/>
            <a:ext cx="4334347" cy="2199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C4D0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Swashbuckle.AspNetCore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5231038" y="3636407"/>
            <a:ext cx="6270940" cy="9525"/>
          </a:xfrm>
          <a:prstGeom prst="rect">
            <a:avLst/>
          </a:prstGeom>
          <a:solidFill>
            <a:srgbClr val="314363"/>
          </a:solidFill>
          <a:ln/>
        </p:spPr>
      </p:sp>
      <p:sp>
        <p:nvSpPr>
          <p:cNvPr id="29" name="Text 26"/>
          <p:cNvSpPr/>
          <p:nvPr/>
        </p:nvSpPr>
        <p:spPr>
          <a:xfrm>
            <a:off x="5402488" y="3311691"/>
            <a:ext cx="6116169" cy="2199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C4D0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 la documentación e interfaz Swagger UI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690021" y="3645066"/>
            <a:ext cx="4541016" cy="476250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31" name="Text 28"/>
          <p:cNvSpPr/>
          <p:nvPr/>
        </p:nvSpPr>
        <p:spPr>
          <a:xfrm>
            <a:off x="861471" y="3787941"/>
            <a:ext cx="4334347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C4D0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Microsoft.AspNetCore.OpenApi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5231038" y="3645066"/>
            <a:ext cx="6270940" cy="476250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33" name="Text 30"/>
          <p:cNvSpPr/>
          <p:nvPr/>
        </p:nvSpPr>
        <p:spPr>
          <a:xfrm>
            <a:off x="5402488" y="3787941"/>
            <a:ext cx="6116169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C4D0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Soporte OpenAPI nativo de .NET 9</a:t>
            </a:r>
            <a:endParaRPr lang="en-US" sz="1200" dirty="0"/>
          </a:p>
        </p:txBody>
      </p:sp>
      <p:sp>
        <p:nvSpPr>
          <p:cNvPr id="34" name="Shape 31"/>
          <p:cNvSpPr/>
          <p:nvPr/>
        </p:nvSpPr>
        <p:spPr>
          <a:xfrm>
            <a:off x="685692" y="4296668"/>
            <a:ext cx="10820616" cy="512510"/>
          </a:xfrm>
          <a:prstGeom prst="roundRect">
            <a:avLst>
              <a:gd name="adj" fmla="val 22302"/>
            </a:avLst>
          </a:prstGeom>
          <a:solidFill>
            <a:srgbClr val="0A0E18"/>
          </a:solidFill>
          <a:ln w="8659">
            <a:solidFill>
              <a:srgbClr val="1C2C49"/>
            </a:solidFill>
            <a:prstDash val="solid"/>
          </a:ln>
        </p:spPr>
      </p:sp>
      <p:pic>
        <p:nvPicPr>
          <p:cNvPr id="3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4851" y="4457673"/>
            <a:ext cx="190500" cy="190500"/>
          </a:xfrm>
          <a:prstGeom prst="rect">
            <a:avLst/>
          </a:prstGeom>
        </p:spPr>
      </p:pic>
      <p:sp>
        <p:nvSpPr>
          <p:cNvPr id="36" name="Text 32"/>
          <p:cNvSpPr/>
          <p:nvPr/>
        </p:nvSpPr>
        <p:spPr>
          <a:xfrm>
            <a:off x="1208620" y="4474991"/>
            <a:ext cx="973228" cy="1939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8DA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Instaladas con:</a:t>
            </a:r>
            <a:endParaRPr lang="en-US" sz="1050" dirty="0"/>
          </a:p>
        </p:txBody>
      </p:sp>
      <p:sp>
        <p:nvSpPr>
          <p:cNvPr id="37" name="Text 33"/>
          <p:cNvSpPr/>
          <p:nvPr/>
        </p:nvSpPr>
        <p:spPr>
          <a:xfrm>
            <a:off x="2238916" y="4470661"/>
            <a:ext cx="2391289" cy="2026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dotnet add package </a:t>
            </a:r>
            <a:pPr algn="l" indent="0" marL="0">
              <a:buNone/>
            </a:pPr>
            <a:r>
              <a:rPr lang="en-US" sz="1125" dirty="0">
                <a:solidFill>
                  <a:srgbClr val="8DA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[nombre]</a:t>
            </a:r>
            <a:endParaRPr lang="en-US" sz="1125" dirty="0"/>
          </a:p>
        </p:txBody>
      </p:sp>
      <p:sp>
        <p:nvSpPr>
          <p:cNvPr id="38" name="Text 34"/>
          <p:cNvSpPr/>
          <p:nvPr/>
        </p:nvSpPr>
        <p:spPr>
          <a:xfrm>
            <a:off x="685692" y="6279600"/>
            <a:ext cx="1965505" cy="1593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spc="66" kern="0" dirty="0">
                <a:solidFill>
                  <a:srgbClr val="C4D0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RelojAPI · Dominican Watch Men</a:t>
            </a:r>
            <a:endParaRPr lang="en-US" sz="825" dirty="0"/>
          </a:p>
        </p:txBody>
      </p:sp>
      <p:sp>
        <p:nvSpPr>
          <p:cNvPr id="39" name="Text 35"/>
          <p:cNvSpPr/>
          <p:nvPr/>
        </p:nvSpPr>
        <p:spPr>
          <a:xfrm>
            <a:off x="11127202" y="6279600"/>
            <a:ext cx="455306" cy="1593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66" kern="0" dirty="0">
                <a:solidFill>
                  <a:srgbClr val="8DA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/ 25</a:t>
            </a:r>
            <a:endParaRPr lang="en-US" sz="82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13357"/>
          </a:solidFill>
          <a:ln/>
        </p:spPr>
      </p:sp>
      <p:sp>
        <p:nvSpPr>
          <p:cNvPr id="3" name="Shape 1"/>
          <p:cNvSpPr/>
          <p:nvPr/>
        </p:nvSpPr>
        <p:spPr>
          <a:xfrm>
            <a:off x="685692" y="514269"/>
            <a:ext cx="285750" cy="285750"/>
          </a:xfrm>
          <a:prstGeom prst="roundRect">
            <a:avLst>
              <a:gd name="adj" fmla="val 26667"/>
            </a:avLst>
          </a:prstGeom>
          <a:solidFill>
            <a:srgbClr val="4FC3F7">
              <a:alpha val="12000"/>
            </a:srgbClr>
          </a:solidFill>
          <a:ln w="8659">
            <a:solidFill>
              <a:srgbClr val="314363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7658" y="576235"/>
            <a:ext cx="161817" cy="16181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76163" y="592201"/>
            <a:ext cx="4013349" cy="1679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b="1" spc="169" kern="0" dirty="0">
                <a:solidFill>
                  <a:srgbClr val="4FC3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PROGRAM.CS · 1 DE 3 — REGISTRO DE SERVICIOS</a:t>
            </a:r>
            <a:endParaRPr lang="en-US" sz="938" dirty="0"/>
          </a:p>
        </p:txBody>
      </p:sp>
      <p:sp>
        <p:nvSpPr>
          <p:cNvPr id="6" name="Text 3"/>
          <p:cNvSpPr/>
          <p:nvPr/>
        </p:nvSpPr>
        <p:spPr>
          <a:xfrm>
            <a:off x="11029381" y="596530"/>
            <a:ext cx="553126" cy="1593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41" kern="0" dirty="0">
                <a:solidFill>
                  <a:srgbClr val="8DA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 / 25</a:t>
            </a:r>
            <a:endParaRPr lang="en-US" sz="825" dirty="0"/>
          </a:p>
        </p:txBody>
      </p:sp>
      <p:sp>
        <p:nvSpPr>
          <p:cNvPr id="7" name="Text 4"/>
          <p:cNvSpPr/>
          <p:nvPr/>
        </p:nvSpPr>
        <p:spPr>
          <a:xfrm>
            <a:off x="685692" y="971442"/>
            <a:ext cx="11145235" cy="4361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850" b="1" spc="-29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Configuración: Servicios &amp; CORS</a:t>
            </a:r>
            <a:endParaRPr lang="en-US" sz="2850" dirty="0"/>
          </a:p>
        </p:txBody>
      </p:sp>
      <p:sp>
        <p:nvSpPr>
          <p:cNvPr id="8" name="Shape 5"/>
          <p:cNvSpPr/>
          <p:nvPr/>
        </p:nvSpPr>
        <p:spPr>
          <a:xfrm>
            <a:off x="685692" y="1559854"/>
            <a:ext cx="438096" cy="28548"/>
          </a:xfrm>
          <a:prstGeom prst="roundRect">
            <a:avLst>
              <a:gd name="adj" fmla="val 50000"/>
            </a:avLst>
          </a:prstGeom>
          <a:solidFill>
            <a:srgbClr val="4FC3F7"/>
          </a:solidFill>
          <a:ln/>
        </p:spPr>
      </p:sp>
      <p:sp>
        <p:nvSpPr>
          <p:cNvPr id="9" name="Shape 6"/>
          <p:cNvSpPr/>
          <p:nvPr/>
        </p:nvSpPr>
        <p:spPr>
          <a:xfrm>
            <a:off x="685692" y="2017839"/>
            <a:ext cx="6905760" cy="3870343"/>
          </a:xfrm>
          <a:prstGeom prst="roundRect">
            <a:avLst>
              <a:gd name="adj" fmla="val 3199"/>
            </a:avLst>
          </a:prstGeom>
          <a:solidFill>
            <a:srgbClr val="0A0E18"/>
          </a:solidFill>
          <a:ln w="8659">
            <a:solidFill>
              <a:srgbClr val="1C2C49"/>
            </a:solidFill>
            <a:prstDash val="solid"/>
          </a:ln>
          <a:effectLst>
            <a:outerShdw sx="100000" sy="100000" kx="0" ky="0" algn="bl" rotWithShape="0" blurRad="381000" dist="171450" dir="5400000">
              <a:srgbClr val="000000">
                <a:alpha val="3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94351" y="2026498"/>
            <a:ext cx="6888442" cy="339328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694351" y="2357167"/>
            <a:ext cx="6888442" cy="9525"/>
          </a:xfrm>
          <a:prstGeom prst="rect">
            <a:avLst/>
          </a:prstGeom>
          <a:solidFill>
            <a:srgbClr val="1C2C49"/>
          </a:solidFill>
          <a:ln/>
        </p:spPr>
      </p:sp>
      <p:sp>
        <p:nvSpPr>
          <p:cNvPr id="12" name="Shape 9"/>
          <p:cNvSpPr/>
          <p:nvPr/>
        </p:nvSpPr>
        <p:spPr>
          <a:xfrm>
            <a:off x="837226" y="2144207"/>
            <a:ext cx="95250" cy="95250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3" name="Shape 10"/>
          <p:cNvSpPr/>
          <p:nvPr/>
        </p:nvSpPr>
        <p:spPr>
          <a:xfrm>
            <a:off x="999043" y="2144207"/>
            <a:ext cx="95250" cy="9525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4" name="Shape 11"/>
          <p:cNvSpPr/>
          <p:nvPr/>
        </p:nvSpPr>
        <p:spPr>
          <a:xfrm>
            <a:off x="1160859" y="2144207"/>
            <a:ext cx="95250" cy="9525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5" name="Text 12"/>
          <p:cNvSpPr/>
          <p:nvPr/>
        </p:nvSpPr>
        <p:spPr>
          <a:xfrm>
            <a:off x="1398849" y="2131219"/>
            <a:ext cx="705066" cy="1593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8DA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Program.cs</a:t>
            </a:r>
            <a:endParaRPr lang="en-US" sz="825" dirty="0"/>
          </a:p>
        </p:txBody>
      </p:sp>
      <p:sp>
        <p:nvSpPr>
          <p:cNvPr id="16" name="Text 13"/>
          <p:cNvSpPr/>
          <p:nvPr/>
        </p:nvSpPr>
        <p:spPr>
          <a:xfrm>
            <a:off x="903901" y="2537276"/>
            <a:ext cx="6675995" cy="32088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85000"/>
              </a:lnSpc>
              <a:buNone/>
            </a:pPr>
            <a:r>
              <a:rPr lang="en-US" sz="1125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builder.Services.</a:t>
            </a:r>
            <a:pPr algn="l" indent="0" marL="0">
              <a:lnSpc>
                <a:spcPct val="185000"/>
              </a:lnSpc>
              <a:buNone/>
            </a:pPr>
            <a:r>
              <a:rPr lang="en-US" sz="1125" dirty="0">
                <a:solidFill>
                  <a:srgbClr val="FFD4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AddCors </a:t>
            </a:r>
            <a:pPr algn="l" indent="0" marL="0">
              <a:lnSpc>
                <a:spcPct val="185000"/>
              </a:lnSpc>
              <a:buNone/>
            </a:pPr>
            <a:r>
              <a:rPr lang="en-US" sz="1125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(options =&gt; {</a:t>
            </a:r>
            <a:endParaRPr lang="en-US" sz="1125" dirty="0"/>
          </a:p>
          <a:p>
            <a:pPr algn="l" indent="0" marL="0">
              <a:lnSpc>
                <a:spcPct val="185000"/>
              </a:lnSpc>
              <a:buNone/>
            </a:pPr>
            <a:r>
              <a:rPr lang="en-US" sz="1125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options. </a:t>
            </a:r>
            <a:endParaRPr lang="en-US" sz="1125" dirty="0"/>
          </a:p>
          <a:p>
            <a:pPr algn="l" indent="0" marL="0">
              <a:lnSpc>
                <a:spcPct val="185000"/>
              </a:lnSpc>
              <a:buNone/>
            </a:pPr>
            <a:r>
              <a:rPr lang="en-US" sz="1125" dirty="0">
                <a:solidFill>
                  <a:srgbClr val="FFD4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AddPolicy</a:t>
            </a:r>
            <a:pPr algn="l" indent="0" marL="0">
              <a:lnSpc>
                <a:spcPct val="185000"/>
              </a:lnSpc>
              <a:buNone/>
            </a:pPr>
            <a:r>
              <a:rPr lang="en-US" sz="1125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85000"/>
              </a:lnSpc>
              <a:buNone/>
            </a:pPr>
            <a:r>
              <a:rPr lang="en-US" sz="1125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"AllowFrontend" </a:t>
            </a:r>
            <a:pPr algn="l" indent="0" marL="0">
              <a:lnSpc>
                <a:spcPct val="185000"/>
              </a:lnSpc>
              <a:buNone/>
            </a:pPr>
            <a:r>
              <a:rPr lang="en-US" sz="1125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policy =&gt;</a:t>
            </a:r>
            <a:endParaRPr lang="en-US" sz="1125" dirty="0"/>
          </a:p>
          <a:p>
            <a:pPr algn="l" indent="0" marL="0">
              <a:lnSpc>
                <a:spcPct val="185000"/>
              </a:lnSpc>
              <a:buNone/>
            </a:pPr>
            <a:r>
              <a:rPr lang="en-US" sz="1125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policy. </a:t>
            </a:r>
            <a:endParaRPr lang="en-US" sz="1125" dirty="0"/>
          </a:p>
          <a:p>
            <a:pPr algn="l" indent="0" marL="0">
              <a:lnSpc>
                <a:spcPct val="185000"/>
              </a:lnSpc>
              <a:buNone/>
            </a:pPr>
            <a:r>
              <a:rPr lang="en-US" sz="1125" dirty="0">
                <a:solidFill>
                  <a:srgbClr val="FFD4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AllowAnyOrigin</a:t>
            </a:r>
            <a:pPr algn="l" indent="0" marL="0">
              <a:lnSpc>
                <a:spcPct val="185000"/>
              </a:lnSpc>
              <a:buNone/>
            </a:pPr>
            <a:r>
              <a:rPr lang="en-US" sz="1125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().</a:t>
            </a:r>
            <a:pPr algn="l" indent="0" marL="0">
              <a:lnSpc>
                <a:spcPct val="185000"/>
              </a:lnSpc>
              <a:buNone/>
            </a:pPr>
            <a:r>
              <a:rPr lang="en-US" sz="1125" dirty="0">
                <a:solidFill>
                  <a:srgbClr val="FFD4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AllowAnyMethod</a:t>
            </a:r>
            <a:pPr algn="l" indent="0" marL="0">
              <a:lnSpc>
                <a:spcPct val="185000"/>
              </a:lnSpc>
              <a:buNone/>
            </a:pPr>
            <a:r>
              <a:rPr lang="en-US" sz="1125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().</a:t>
            </a:r>
            <a:pPr algn="l" indent="0" marL="0">
              <a:lnSpc>
                <a:spcPct val="185000"/>
              </a:lnSpc>
              <a:buNone/>
            </a:pPr>
            <a:r>
              <a:rPr lang="en-US" sz="1125" dirty="0">
                <a:solidFill>
                  <a:srgbClr val="FFD4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AllowAnyHeader </a:t>
            </a:r>
            <a:pPr algn="l" indent="0" marL="0">
              <a:lnSpc>
                <a:spcPct val="185000"/>
              </a:lnSpc>
              <a:buNone/>
            </a:pPr>
            <a:r>
              <a:rPr lang="en-US" sz="1125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());</a:t>
            </a:r>
            <a:endParaRPr lang="en-US" sz="1125" dirty="0"/>
          </a:p>
          <a:p>
            <a:pPr algn="l" indent="0" marL="0">
              <a:lnSpc>
                <a:spcPct val="185000"/>
              </a:lnSpc>
              <a:buNone/>
            </a:pPr>
            <a:r>
              <a:rPr lang="en-US" sz="1125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 builder.Services.</a:t>
            </a:r>
            <a:endParaRPr lang="en-US" sz="1125" dirty="0"/>
          </a:p>
          <a:p>
            <a:pPr algn="l" indent="0" marL="0">
              <a:lnSpc>
                <a:spcPct val="185000"/>
              </a:lnSpc>
              <a:buNone/>
            </a:pPr>
            <a:r>
              <a:rPr lang="en-US" sz="1125" dirty="0">
                <a:solidFill>
                  <a:srgbClr val="FFD4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AddControllers </a:t>
            </a:r>
            <a:pPr algn="l" indent="0" marL="0">
              <a:lnSpc>
                <a:spcPct val="185000"/>
              </a:lnSpc>
              <a:buNone/>
            </a:pPr>
            <a:r>
              <a:rPr lang="en-US" sz="1125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endParaRPr lang="en-US" sz="1125" dirty="0"/>
          </a:p>
          <a:p>
            <a:pPr algn="l" indent="0" marL="0">
              <a:lnSpc>
                <a:spcPct val="185000"/>
              </a:lnSpc>
              <a:buNone/>
            </a:pPr>
            <a:r>
              <a:rPr lang="en-US" sz="1125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 </a:t>
            </a:r>
            <a:endParaRPr lang="en-US" sz="1125" dirty="0"/>
          </a:p>
          <a:p>
            <a:pPr algn="l" indent="0" marL="0">
              <a:lnSpc>
                <a:spcPct val="185000"/>
              </a:lnSpc>
              <a:buNone/>
            </a:pPr>
            <a:r>
              <a:rPr lang="en-US" sz="1125" dirty="0">
                <a:solidFill>
                  <a:srgbClr val="FFD4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AddJsonOptions </a:t>
            </a:r>
            <a:pPr algn="l" indent="0" marL="0">
              <a:lnSpc>
                <a:spcPct val="185000"/>
              </a:lnSpc>
              <a:buNone/>
            </a:pPr>
            <a:r>
              <a:rPr lang="en-US" sz="1125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(opts =&gt; {</a:t>
            </a:r>
            <a:endParaRPr lang="en-US" sz="1125" dirty="0"/>
          </a:p>
          <a:p>
            <a:pPr algn="l" indent="0" marL="0">
              <a:lnSpc>
                <a:spcPct val="185000"/>
              </a:lnSpc>
              <a:buNone/>
            </a:pPr>
            <a:r>
              <a:rPr lang="en-US" sz="1125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opts.JsonSerializerOptions.ReferenceHandler =</a:t>
            </a:r>
            <a:endParaRPr lang="en-US" sz="1125" dirty="0"/>
          </a:p>
          <a:p>
            <a:pPr algn="l" indent="0" marL="0">
              <a:lnSpc>
                <a:spcPct val="185000"/>
              </a:lnSpc>
              <a:buNone/>
            </a:pPr>
            <a:r>
              <a:rPr lang="en-US" sz="1125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</a:t>
            </a:r>
            <a:endParaRPr lang="en-US" sz="1125" dirty="0"/>
          </a:p>
          <a:p>
            <a:pPr algn="l" indent="0" marL="0">
              <a:lnSpc>
                <a:spcPct val="185000"/>
              </a:lnSpc>
              <a:buNone/>
            </a:pPr>
            <a:r>
              <a:rPr lang="en-US" sz="1125" dirty="0">
                <a:solidFill>
                  <a:srgbClr val="9EC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ReferenceHandler </a:t>
            </a:r>
            <a:pPr algn="l" indent="0" marL="0">
              <a:lnSpc>
                <a:spcPct val="185000"/>
              </a:lnSpc>
              <a:buNone/>
            </a:pPr>
            <a:r>
              <a:rPr lang="en-US" sz="1125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.IgnoreCycles;</a:t>
            </a:r>
            <a:endParaRPr lang="en-US" sz="1125" dirty="0"/>
          </a:p>
          <a:p>
            <a:pPr algn="l" indent="0" marL="0">
              <a:lnSpc>
                <a:spcPct val="185000"/>
              </a:lnSpc>
              <a:buNone/>
            </a:pPr>
            <a:r>
              <a:rPr lang="en-US" sz="1125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}); builder.Services.</a:t>
            </a:r>
            <a:endParaRPr lang="en-US" sz="1125" dirty="0"/>
          </a:p>
          <a:p>
            <a:pPr algn="l" indent="0" marL="0">
              <a:lnSpc>
                <a:spcPct val="185000"/>
              </a:lnSpc>
              <a:buNone/>
            </a:pPr>
            <a:r>
              <a:rPr lang="en-US" sz="1125" dirty="0">
                <a:solidFill>
                  <a:srgbClr val="FFD4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AddDbContext</a:t>
            </a:r>
            <a:pPr algn="l" indent="0" marL="0">
              <a:lnSpc>
                <a:spcPct val="185000"/>
              </a:lnSpc>
              <a:buNone/>
            </a:pPr>
            <a:r>
              <a:rPr lang="en-US" sz="1125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algn="l" indent="0" marL="0">
              <a:lnSpc>
                <a:spcPct val="185000"/>
              </a:lnSpc>
              <a:buNone/>
            </a:pPr>
            <a:r>
              <a:rPr lang="en-US" sz="1125" dirty="0">
                <a:solidFill>
                  <a:srgbClr val="9EC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AppDbContext </a:t>
            </a:r>
            <a:pPr algn="l" indent="0" marL="0">
              <a:lnSpc>
                <a:spcPct val="185000"/>
              </a:lnSpc>
              <a:buNone/>
            </a:pPr>
            <a:r>
              <a:rPr lang="en-US" sz="1125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&gt;(opts =&gt;</a:t>
            </a:r>
            <a:endParaRPr lang="en-US" sz="1125" dirty="0"/>
          </a:p>
          <a:p>
            <a:pPr algn="l" indent="0" marL="0">
              <a:lnSpc>
                <a:spcPct val="185000"/>
              </a:lnSpc>
              <a:buNone/>
            </a:pPr>
            <a:r>
              <a:rPr lang="en-US" sz="1125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opts. </a:t>
            </a:r>
            <a:endParaRPr lang="en-US" sz="1125" dirty="0"/>
          </a:p>
          <a:p>
            <a:pPr algn="l" indent="0" marL="0">
              <a:lnSpc>
                <a:spcPct val="185000"/>
              </a:lnSpc>
              <a:buNone/>
            </a:pPr>
            <a:r>
              <a:rPr lang="en-US" sz="1125" dirty="0">
                <a:solidFill>
                  <a:srgbClr val="FFD4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UseSqlServer</a:t>
            </a:r>
            <a:pPr algn="l" indent="0" marL="0">
              <a:lnSpc>
                <a:spcPct val="185000"/>
              </a:lnSpc>
              <a:buNone/>
            </a:pPr>
            <a:r>
              <a:rPr lang="en-US" sz="1125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(config.</a:t>
            </a:r>
            <a:pPr algn="l" indent="0" marL="0">
              <a:lnSpc>
                <a:spcPct val="185000"/>
              </a:lnSpc>
              <a:buNone/>
            </a:pPr>
            <a:r>
              <a:rPr lang="en-US" sz="1125" dirty="0">
                <a:solidFill>
                  <a:srgbClr val="FFD4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GetConnectionString</a:t>
            </a:r>
            <a:pPr algn="l" indent="0" marL="0">
              <a:lnSpc>
                <a:spcPct val="185000"/>
              </a:lnSpc>
              <a:buNone/>
            </a:pPr>
            <a:r>
              <a:rPr lang="en-US" sz="1125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85000"/>
              </a:lnSpc>
              <a:buNone/>
            </a:pPr>
            <a:r>
              <a:rPr lang="en-US" sz="1125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"DefaultConnection" </a:t>
            </a:r>
            <a:pPr algn="l" indent="0" marL="0">
              <a:lnSpc>
                <a:spcPct val="185000"/>
              </a:lnSpc>
              <a:buNone/>
            </a:pPr>
            <a:r>
              <a:rPr lang="en-US" sz="1125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))); builder.Services.</a:t>
            </a:r>
            <a:pPr algn="l" indent="0" marL="0">
              <a:lnSpc>
                <a:spcPct val="185000"/>
              </a:lnSpc>
              <a:buNone/>
            </a:pPr>
            <a:r>
              <a:rPr lang="en-US" sz="1125" dirty="0">
                <a:solidFill>
                  <a:srgbClr val="FFD4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AddScoped</a:t>
            </a:r>
            <a:pPr algn="l" indent="0" marL="0">
              <a:lnSpc>
                <a:spcPct val="185000"/>
              </a:lnSpc>
              <a:buNone/>
            </a:pPr>
            <a:r>
              <a:rPr lang="en-US" sz="1125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algn="l" indent="0" marL="0">
              <a:lnSpc>
                <a:spcPct val="185000"/>
              </a:lnSpc>
              <a:buNone/>
            </a:pPr>
            <a:r>
              <a:rPr lang="en-US" sz="1125" dirty="0">
                <a:solidFill>
                  <a:srgbClr val="9EC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IRelojService</a:t>
            </a:r>
            <a:pPr algn="l" indent="0" marL="0">
              <a:lnSpc>
                <a:spcPct val="185000"/>
              </a:lnSpc>
              <a:buNone/>
            </a:pPr>
            <a:r>
              <a:rPr lang="en-US" sz="1125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algn="l" indent="0" marL="0">
              <a:lnSpc>
                <a:spcPct val="185000"/>
              </a:lnSpc>
              <a:buNone/>
            </a:pPr>
            <a:r>
              <a:rPr lang="en-US" sz="1125" dirty="0">
                <a:solidFill>
                  <a:srgbClr val="9EC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RelojService</a:t>
            </a:r>
            <a:pPr algn="l" indent="0" marL="0">
              <a:lnSpc>
                <a:spcPct val="185000"/>
              </a:lnSpc>
              <a:buNone/>
            </a:pPr>
            <a:r>
              <a:rPr lang="en-US" sz="1125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&gt;();</a:t>
            </a:r>
            <a:endParaRPr lang="en-US" sz="1125" dirty="0"/>
          </a:p>
        </p:txBody>
      </p:sp>
      <p:sp>
        <p:nvSpPr>
          <p:cNvPr id="17" name="Shape 14"/>
          <p:cNvSpPr/>
          <p:nvPr/>
        </p:nvSpPr>
        <p:spPr>
          <a:xfrm>
            <a:off x="7800894" y="2811228"/>
            <a:ext cx="3705414" cy="596124"/>
          </a:xfrm>
          <a:prstGeom prst="roundRect">
            <a:avLst>
              <a:gd name="adj" fmla="val 15978"/>
            </a:avLst>
          </a:prstGeom>
          <a:solidFill>
            <a:srgbClr val="22324F"/>
          </a:solidFill>
          <a:ln/>
        </p:spPr>
      </p:sp>
      <p:sp>
        <p:nvSpPr>
          <p:cNvPr id="18" name="Text 15"/>
          <p:cNvSpPr/>
          <p:nvPr/>
        </p:nvSpPr>
        <p:spPr>
          <a:xfrm>
            <a:off x="7943769" y="2916003"/>
            <a:ext cx="3530827" cy="4246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050" b="1" dirty="0">
                <a:solidFill>
                  <a:srgbClr val="4FC3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AddCors </a:t>
            </a:r>
            <a:pPr algn="l"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C4D0E4"/>
                </a:solidFill>
                <a:highlight>
                  <a:srgbClr val="22324F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permite que React (otro origen) consuma la API.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7800894" y="3502602"/>
            <a:ext cx="3705414" cy="596124"/>
          </a:xfrm>
          <a:prstGeom prst="roundRect">
            <a:avLst>
              <a:gd name="adj" fmla="val 15978"/>
            </a:avLst>
          </a:prstGeom>
          <a:solidFill>
            <a:srgbClr val="22324F"/>
          </a:solidFill>
          <a:ln/>
        </p:spPr>
      </p:sp>
      <p:sp>
        <p:nvSpPr>
          <p:cNvPr id="20" name="Text 17"/>
          <p:cNvSpPr/>
          <p:nvPr/>
        </p:nvSpPr>
        <p:spPr>
          <a:xfrm>
            <a:off x="7943769" y="3607377"/>
            <a:ext cx="3530827" cy="4246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050" b="1" dirty="0">
                <a:solidFill>
                  <a:srgbClr val="4FC3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IgnoreCycles </a:t>
            </a:r>
            <a:pPr algn="l"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C4D0E4"/>
                </a:solidFill>
                <a:highlight>
                  <a:srgbClr val="22324F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evita bucles al serializar relaciones Marca↔Reloj.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7800894" y="4193976"/>
            <a:ext cx="3705414" cy="402783"/>
          </a:xfrm>
          <a:prstGeom prst="roundRect">
            <a:avLst>
              <a:gd name="adj" fmla="val 23648"/>
            </a:avLst>
          </a:prstGeom>
          <a:solidFill>
            <a:srgbClr val="22324F"/>
          </a:solidFill>
          <a:ln/>
        </p:spPr>
      </p:sp>
      <p:sp>
        <p:nvSpPr>
          <p:cNvPr id="22" name="Text 19"/>
          <p:cNvSpPr/>
          <p:nvPr/>
        </p:nvSpPr>
        <p:spPr>
          <a:xfrm>
            <a:off x="7943769" y="4298751"/>
            <a:ext cx="3530827" cy="2313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050" b="1" dirty="0">
                <a:solidFill>
                  <a:srgbClr val="4FC3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AddDbContext </a:t>
            </a:r>
            <a:pPr algn="l"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C4D0E4"/>
                </a:solidFill>
                <a:highlight>
                  <a:srgbClr val="22324F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conecta EF Core con SQL Server.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7800894" y="4692010"/>
            <a:ext cx="3705414" cy="402783"/>
          </a:xfrm>
          <a:prstGeom prst="roundRect">
            <a:avLst>
              <a:gd name="adj" fmla="val 23648"/>
            </a:avLst>
          </a:prstGeom>
          <a:solidFill>
            <a:srgbClr val="22324F"/>
          </a:solidFill>
          <a:ln/>
        </p:spPr>
      </p:sp>
      <p:sp>
        <p:nvSpPr>
          <p:cNvPr id="24" name="Text 21"/>
          <p:cNvSpPr/>
          <p:nvPr/>
        </p:nvSpPr>
        <p:spPr>
          <a:xfrm>
            <a:off x="7943769" y="4796785"/>
            <a:ext cx="3530827" cy="2313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050" b="1" dirty="0">
                <a:solidFill>
                  <a:srgbClr val="4FC3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AddScoped </a:t>
            </a:r>
            <a:pPr algn="l"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C4D0E4"/>
                </a:solidFill>
                <a:highlight>
                  <a:srgbClr val="22324F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registra el servicio en el contenedor de DI.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685692" y="6279600"/>
            <a:ext cx="1965505" cy="1593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spc="66" kern="0" dirty="0">
                <a:solidFill>
                  <a:srgbClr val="C4D0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RelojAPI · Dominican Watch Men</a:t>
            </a:r>
            <a:endParaRPr lang="en-US" sz="825" dirty="0"/>
          </a:p>
        </p:txBody>
      </p:sp>
      <p:sp>
        <p:nvSpPr>
          <p:cNvPr id="26" name="Text 23"/>
          <p:cNvSpPr/>
          <p:nvPr/>
        </p:nvSpPr>
        <p:spPr>
          <a:xfrm>
            <a:off x="11127202" y="6279600"/>
            <a:ext cx="455306" cy="1593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66" kern="0" dirty="0">
                <a:solidFill>
                  <a:srgbClr val="8DA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/ 25</a:t>
            </a:r>
            <a:endParaRPr lang="en-US" sz="82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13357"/>
          </a:solidFill>
          <a:ln/>
        </p:spPr>
      </p:sp>
      <p:sp>
        <p:nvSpPr>
          <p:cNvPr id="3" name="Shape 1"/>
          <p:cNvSpPr/>
          <p:nvPr/>
        </p:nvSpPr>
        <p:spPr>
          <a:xfrm>
            <a:off x="685692" y="514269"/>
            <a:ext cx="285750" cy="285750"/>
          </a:xfrm>
          <a:prstGeom prst="roundRect">
            <a:avLst>
              <a:gd name="adj" fmla="val 26667"/>
            </a:avLst>
          </a:prstGeom>
          <a:solidFill>
            <a:srgbClr val="4FC3F7">
              <a:alpha val="12000"/>
            </a:srgbClr>
          </a:solidFill>
          <a:ln w="8659">
            <a:solidFill>
              <a:srgbClr val="314363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7658" y="576235"/>
            <a:ext cx="161817" cy="16181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76163" y="592201"/>
            <a:ext cx="3205216" cy="1679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b="1" spc="169" kern="0" dirty="0">
                <a:solidFill>
                  <a:srgbClr val="4FC3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PROGRAM.CS · 2 DE 3 — PIPELINE HTTP</a:t>
            </a:r>
            <a:endParaRPr lang="en-US" sz="938" dirty="0"/>
          </a:p>
        </p:txBody>
      </p:sp>
      <p:sp>
        <p:nvSpPr>
          <p:cNvPr id="6" name="Text 3"/>
          <p:cNvSpPr/>
          <p:nvPr/>
        </p:nvSpPr>
        <p:spPr>
          <a:xfrm>
            <a:off x="11029381" y="596530"/>
            <a:ext cx="553126" cy="1593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41" kern="0" dirty="0">
                <a:solidFill>
                  <a:srgbClr val="8DA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/ 25</a:t>
            </a:r>
            <a:endParaRPr lang="en-US" sz="825" dirty="0"/>
          </a:p>
        </p:txBody>
      </p:sp>
      <p:sp>
        <p:nvSpPr>
          <p:cNvPr id="7" name="Text 4"/>
          <p:cNvSpPr/>
          <p:nvPr/>
        </p:nvSpPr>
        <p:spPr>
          <a:xfrm>
            <a:off x="685692" y="971442"/>
            <a:ext cx="11145235" cy="4361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850" b="1" spc="-29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Pipeline de Solicitudes</a:t>
            </a:r>
            <a:endParaRPr lang="en-US" sz="2850" dirty="0"/>
          </a:p>
        </p:txBody>
      </p:sp>
      <p:sp>
        <p:nvSpPr>
          <p:cNvPr id="8" name="Shape 5"/>
          <p:cNvSpPr/>
          <p:nvPr/>
        </p:nvSpPr>
        <p:spPr>
          <a:xfrm>
            <a:off x="685692" y="1559854"/>
            <a:ext cx="438096" cy="28548"/>
          </a:xfrm>
          <a:prstGeom prst="roundRect">
            <a:avLst>
              <a:gd name="adj" fmla="val 50000"/>
            </a:avLst>
          </a:prstGeom>
          <a:solidFill>
            <a:srgbClr val="4FC3F7"/>
          </a:solidFill>
          <a:ln/>
        </p:spPr>
      </p:sp>
      <p:sp>
        <p:nvSpPr>
          <p:cNvPr id="9" name="Shape 6"/>
          <p:cNvSpPr/>
          <p:nvPr/>
        </p:nvSpPr>
        <p:spPr>
          <a:xfrm>
            <a:off x="685692" y="2546314"/>
            <a:ext cx="6609051" cy="2813393"/>
          </a:xfrm>
          <a:prstGeom prst="roundRect">
            <a:avLst>
              <a:gd name="adj" fmla="val 4401"/>
            </a:avLst>
          </a:prstGeom>
          <a:solidFill>
            <a:srgbClr val="0A0E18"/>
          </a:solidFill>
          <a:ln w="8659">
            <a:solidFill>
              <a:srgbClr val="1C2C49"/>
            </a:solidFill>
            <a:prstDash val="solid"/>
          </a:ln>
          <a:effectLst>
            <a:outerShdw sx="100000" sy="100000" kx="0" ky="0" algn="bl" rotWithShape="0" blurRad="381000" dist="171450" dir="5400000">
              <a:srgbClr val="000000">
                <a:alpha val="3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94351" y="2554973"/>
            <a:ext cx="6591733" cy="339328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694351" y="2885642"/>
            <a:ext cx="6591733" cy="9525"/>
          </a:xfrm>
          <a:prstGeom prst="rect">
            <a:avLst/>
          </a:prstGeom>
          <a:solidFill>
            <a:srgbClr val="1C2C49"/>
          </a:solidFill>
          <a:ln/>
        </p:spPr>
      </p:sp>
      <p:sp>
        <p:nvSpPr>
          <p:cNvPr id="12" name="Shape 9"/>
          <p:cNvSpPr/>
          <p:nvPr/>
        </p:nvSpPr>
        <p:spPr>
          <a:xfrm>
            <a:off x="837226" y="2672683"/>
            <a:ext cx="95250" cy="95250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3" name="Shape 10"/>
          <p:cNvSpPr/>
          <p:nvPr/>
        </p:nvSpPr>
        <p:spPr>
          <a:xfrm>
            <a:off x="999043" y="2672683"/>
            <a:ext cx="95250" cy="9525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4" name="Shape 11"/>
          <p:cNvSpPr/>
          <p:nvPr/>
        </p:nvSpPr>
        <p:spPr>
          <a:xfrm>
            <a:off x="1160859" y="2672683"/>
            <a:ext cx="95250" cy="9525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5" name="Text 12"/>
          <p:cNvSpPr/>
          <p:nvPr/>
        </p:nvSpPr>
        <p:spPr>
          <a:xfrm>
            <a:off x="1398849" y="2659694"/>
            <a:ext cx="705066" cy="1593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8DA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Program.cs</a:t>
            </a:r>
            <a:endParaRPr lang="en-US" sz="825" dirty="0"/>
          </a:p>
        </p:txBody>
      </p:sp>
      <p:sp>
        <p:nvSpPr>
          <p:cNvPr id="16" name="Text 13"/>
          <p:cNvSpPr/>
          <p:nvPr/>
        </p:nvSpPr>
        <p:spPr>
          <a:xfrm>
            <a:off x="903901" y="3065751"/>
            <a:ext cx="6370385" cy="21519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85000"/>
              </a:lnSpc>
              <a:buNone/>
            </a:pPr>
            <a:r>
              <a:rPr lang="en-US" sz="1125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</a:t>
            </a:r>
            <a:pPr algn="l" indent="0" marL="0">
              <a:lnSpc>
                <a:spcPct val="185000"/>
              </a:lnSpc>
              <a:buNone/>
            </a:pPr>
            <a:r>
              <a:rPr lang="en-US" sz="1125" dirty="0">
                <a:solidFill>
                  <a:srgbClr val="FFD4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UseSwagger </a:t>
            </a:r>
            <a:pPr algn="l" indent="0" marL="0">
              <a:lnSpc>
                <a:spcPct val="185000"/>
              </a:lnSpc>
              <a:buNone/>
            </a:pPr>
            <a:r>
              <a:rPr lang="en-US" sz="1125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(); app.</a:t>
            </a:r>
            <a:pPr algn="l" indent="0" marL="0">
              <a:lnSpc>
                <a:spcPct val="185000"/>
              </a:lnSpc>
              <a:buNone/>
            </a:pPr>
            <a:r>
              <a:rPr lang="en-US" sz="1125" dirty="0">
                <a:solidFill>
                  <a:srgbClr val="FFD4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UseSwaggerUI</a:t>
            </a:r>
            <a:pPr algn="l" indent="0" marL="0">
              <a:lnSpc>
                <a:spcPct val="185000"/>
              </a:lnSpc>
              <a:buNone/>
            </a:pPr>
            <a:r>
              <a:rPr lang="en-US" sz="1125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(opts =&gt; opts.RoutePrefix = </a:t>
            </a:r>
            <a:pPr algn="l" indent="0" marL="0">
              <a:lnSpc>
                <a:spcPct val="185000"/>
              </a:lnSpc>
              <a:buNone/>
            </a:pPr>
            <a:r>
              <a:rPr lang="en-US" sz="1125" dirty="0">
                <a:solidFill>
                  <a:srgbClr val="9EC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 </a:t>
            </a:r>
            <a:pPr algn="l" indent="0" marL="0">
              <a:lnSpc>
                <a:spcPct val="185000"/>
              </a:lnSpc>
              <a:buNone/>
            </a:pPr>
            <a:r>
              <a:rPr lang="en-US" sz="1125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.Empty); app.</a:t>
            </a:r>
            <a:pPr algn="l" indent="0" marL="0">
              <a:lnSpc>
                <a:spcPct val="185000"/>
              </a:lnSpc>
              <a:buNone/>
            </a:pPr>
            <a:r>
              <a:rPr lang="en-US" sz="1125" dirty="0">
                <a:solidFill>
                  <a:srgbClr val="FFD4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UseCors</a:t>
            </a:r>
            <a:pPr algn="l" indent="0" marL="0">
              <a:lnSpc>
                <a:spcPct val="185000"/>
              </a:lnSpc>
              <a:buNone/>
            </a:pPr>
            <a:r>
              <a:rPr lang="en-US" sz="1125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85000"/>
              </a:lnSpc>
              <a:buNone/>
            </a:pPr>
            <a:r>
              <a:rPr lang="en-US" sz="1125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"AllowFrontend" </a:t>
            </a:r>
            <a:pPr algn="l" indent="0" marL="0">
              <a:lnSpc>
                <a:spcPct val="185000"/>
              </a:lnSpc>
              <a:buNone/>
            </a:pPr>
            <a:r>
              <a:rPr lang="en-US" sz="1125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 app.</a:t>
            </a:r>
            <a:pPr algn="l" indent="0" marL="0">
              <a:lnSpc>
                <a:spcPct val="185000"/>
              </a:lnSpc>
              <a:buNone/>
            </a:pPr>
            <a:r>
              <a:rPr lang="en-US" sz="1125" dirty="0">
                <a:solidFill>
                  <a:srgbClr val="FFD4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UseStaticFiles</a:t>
            </a:r>
            <a:pPr algn="l" indent="0" marL="0">
              <a:lnSpc>
                <a:spcPct val="185000"/>
              </a:lnSpc>
              <a:buNone/>
            </a:pPr>
            <a:r>
              <a:rPr lang="en-US" sz="1125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();          </a:t>
            </a:r>
            <a:pPr algn="l" indent="0" marL="0">
              <a:lnSpc>
                <a:spcPct val="185000"/>
              </a:lnSpc>
              <a:buNone/>
            </a:pPr>
            <a:r>
              <a:rPr lang="en-US" sz="1125" dirty="0">
                <a:solidFill>
                  <a:srgbClr val="5F72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sirve wwwroot/images/ </a:t>
            </a:r>
            <a:pPr algn="l" indent="0" marL="0">
              <a:lnSpc>
                <a:spcPct val="185000"/>
              </a:lnSpc>
              <a:buNone/>
            </a:pPr>
            <a:r>
              <a:rPr lang="en-US" sz="1125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</a:t>
            </a:r>
            <a:pPr algn="l" indent="0" marL="0">
              <a:lnSpc>
                <a:spcPct val="185000"/>
              </a:lnSpc>
              <a:buNone/>
            </a:pPr>
            <a:r>
              <a:rPr lang="en-US" sz="1125" dirty="0">
                <a:solidFill>
                  <a:srgbClr val="FFD4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UseHttpsRedirection </a:t>
            </a:r>
            <a:pPr algn="l" indent="0" marL="0">
              <a:lnSpc>
                <a:spcPct val="185000"/>
              </a:lnSpc>
              <a:buNone/>
            </a:pPr>
            <a:r>
              <a:rPr lang="en-US" sz="1125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(); app.</a:t>
            </a:r>
            <a:pPr algn="l" indent="0" marL="0">
              <a:lnSpc>
                <a:spcPct val="185000"/>
              </a:lnSpc>
              <a:buNone/>
            </a:pPr>
            <a:r>
              <a:rPr lang="en-US" sz="1125" dirty="0">
                <a:solidFill>
                  <a:srgbClr val="FFD4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UseAuthorization </a:t>
            </a:r>
            <a:pPr algn="l" indent="0" marL="0">
              <a:lnSpc>
                <a:spcPct val="185000"/>
              </a:lnSpc>
              <a:buNone/>
            </a:pPr>
            <a:r>
              <a:rPr lang="en-US" sz="1125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(); app.</a:t>
            </a:r>
            <a:pPr algn="l" indent="0" marL="0">
              <a:lnSpc>
                <a:spcPct val="185000"/>
              </a:lnSpc>
              <a:buNone/>
            </a:pPr>
            <a:r>
              <a:rPr lang="en-US" sz="1125" dirty="0">
                <a:solidFill>
                  <a:srgbClr val="FFD4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MapControllers </a:t>
            </a:r>
            <a:pPr algn="l" indent="0" marL="0">
              <a:lnSpc>
                <a:spcPct val="185000"/>
              </a:lnSpc>
              <a:buNone/>
            </a:pPr>
            <a:r>
              <a:rPr lang="en-US" sz="1125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(); app.</a:t>
            </a:r>
            <a:pPr algn="l" indent="0" marL="0">
              <a:lnSpc>
                <a:spcPct val="185000"/>
              </a:lnSpc>
              <a:buNone/>
            </a:pPr>
            <a:r>
              <a:rPr lang="en-US" sz="1125" dirty="0">
                <a:solidFill>
                  <a:srgbClr val="FFD4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</a:t>
            </a:r>
            <a:pPr algn="l" indent="0" marL="0">
              <a:lnSpc>
                <a:spcPct val="185000"/>
              </a:lnSpc>
              <a:buNone/>
            </a:pPr>
            <a:r>
              <a:rPr lang="en-US" sz="1125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();</a:t>
            </a:r>
            <a:endParaRPr lang="en-US" sz="1125" dirty="0"/>
          </a:p>
        </p:txBody>
      </p:sp>
      <p:sp>
        <p:nvSpPr>
          <p:cNvPr id="17" name="Shape 14"/>
          <p:cNvSpPr/>
          <p:nvPr/>
        </p:nvSpPr>
        <p:spPr>
          <a:xfrm>
            <a:off x="7504184" y="2818399"/>
            <a:ext cx="4002123" cy="402783"/>
          </a:xfrm>
          <a:prstGeom prst="roundRect">
            <a:avLst>
              <a:gd name="adj" fmla="val 23648"/>
            </a:avLst>
          </a:prstGeom>
          <a:solidFill>
            <a:srgbClr val="22324F"/>
          </a:solidFill>
          <a:ln/>
        </p:spPr>
      </p:sp>
      <p:sp>
        <p:nvSpPr>
          <p:cNvPr id="18" name="Text 15"/>
          <p:cNvSpPr/>
          <p:nvPr/>
        </p:nvSpPr>
        <p:spPr>
          <a:xfrm>
            <a:off x="7647059" y="2923174"/>
            <a:ext cx="3836437" cy="2313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050" b="1" dirty="0">
                <a:solidFill>
                  <a:srgbClr val="4FC3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UseSwaggerUI </a:t>
            </a:r>
            <a:pPr algn="l"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C4D0E4"/>
                </a:solidFill>
                <a:highlight>
                  <a:srgbClr val="22324F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expone la documentación en la raíz.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7504184" y="3316432"/>
            <a:ext cx="4002123" cy="402783"/>
          </a:xfrm>
          <a:prstGeom prst="roundRect">
            <a:avLst>
              <a:gd name="adj" fmla="val 23648"/>
            </a:avLst>
          </a:prstGeom>
          <a:solidFill>
            <a:srgbClr val="22324F"/>
          </a:solidFill>
          <a:ln/>
        </p:spPr>
      </p:sp>
      <p:sp>
        <p:nvSpPr>
          <p:cNvPr id="20" name="Text 17"/>
          <p:cNvSpPr/>
          <p:nvPr/>
        </p:nvSpPr>
        <p:spPr>
          <a:xfrm>
            <a:off x="7647059" y="3421207"/>
            <a:ext cx="3836437" cy="2313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050" b="1" dirty="0">
                <a:solidFill>
                  <a:srgbClr val="4FC3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UseCors </a:t>
            </a:r>
            <a:pPr algn="l"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C4D0E4"/>
                </a:solidFill>
                <a:highlight>
                  <a:srgbClr val="22324F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aplica la política para el frontend.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7504184" y="3814465"/>
            <a:ext cx="4002123" cy="402783"/>
          </a:xfrm>
          <a:prstGeom prst="roundRect">
            <a:avLst>
              <a:gd name="adj" fmla="val 23648"/>
            </a:avLst>
          </a:prstGeom>
          <a:solidFill>
            <a:srgbClr val="22324F"/>
          </a:solidFill>
          <a:ln/>
        </p:spPr>
      </p:sp>
      <p:sp>
        <p:nvSpPr>
          <p:cNvPr id="22" name="Text 19"/>
          <p:cNvSpPr/>
          <p:nvPr/>
        </p:nvSpPr>
        <p:spPr>
          <a:xfrm>
            <a:off x="7647059" y="3919240"/>
            <a:ext cx="3836437" cy="2313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050" b="1" dirty="0">
                <a:solidFill>
                  <a:srgbClr val="4FC3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UseStaticFiles </a:t>
            </a:r>
            <a:pPr algn="l"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C4D0E4"/>
                </a:solidFill>
                <a:highlight>
                  <a:srgbClr val="22324F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sirve las imágenes subidas.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7504184" y="4312498"/>
            <a:ext cx="4002123" cy="402783"/>
          </a:xfrm>
          <a:prstGeom prst="roundRect">
            <a:avLst>
              <a:gd name="adj" fmla="val 23648"/>
            </a:avLst>
          </a:prstGeom>
          <a:solidFill>
            <a:srgbClr val="22324F"/>
          </a:solidFill>
          <a:ln/>
        </p:spPr>
      </p:sp>
      <p:sp>
        <p:nvSpPr>
          <p:cNvPr id="24" name="Text 21"/>
          <p:cNvSpPr/>
          <p:nvPr/>
        </p:nvSpPr>
        <p:spPr>
          <a:xfrm>
            <a:off x="7647059" y="4417273"/>
            <a:ext cx="3836437" cy="2313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050" b="1" dirty="0">
                <a:solidFill>
                  <a:srgbClr val="4FC3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MapControllers </a:t>
            </a:r>
            <a:pPr algn="l"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C4D0E4"/>
                </a:solidFill>
                <a:highlight>
                  <a:srgbClr val="22324F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enruta cada petición a su controlador.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7504184" y="4810531"/>
            <a:ext cx="4122187" cy="3151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8DA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</a:t>
            </a:r>
            <a:pPr algn="l" indent="0" marL="0">
              <a:buNone/>
            </a:pPr>
            <a:r>
              <a:rPr lang="en-US" sz="975" b="1" dirty="0">
                <a:solidFill>
                  <a:srgbClr val="8DA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orden </a:t>
            </a:r>
            <a:pPr algn="l" indent="0" marL="0">
              <a:buNone/>
            </a:pPr>
            <a:r>
              <a:rPr lang="en-US" sz="975" dirty="0">
                <a:solidFill>
                  <a:srgbClr val="8DA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 pipeline importa: cada middleware procesa la petición en secuencia.</a:t>
            </a:r>
            <a:endParaRPr lang="en-US" sz="975" dirty="0"/>
          </a:p>
        </p:txBody>
      </p:sp>
      <p:sp>
        <p:nvSpPr>
          <p:cNvPr id="26" name="Text 23"/>
          <p:cNvSpPr/>
          <p:nvPr/>
        </p:nvSpPr>
        <p:spPr>
          <a:xfrm>
            <a:off x="685692" y="6279600"/>
            <a:ext cx="1965505" cy="1593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spc="66" kern="0" dirty="0">
                <a:solidFill>
                  <a:srgbClr val="C4D0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RelojAPI · Dominican Watch Men</a:t>
            </a:r>
            <a:endParaRPr lang="en-US" sz="825" dirty="0"/>
          </a:p>
        </p:txBody>
      </p:sp>
      <p:sp>
        <p:nvSpPr>
          <p:cNvPr id="27" name="Text 24"/>
          <p:cNvSpPr/>
          <p:nvPr/>
        </p:nvSpPr>
        <p:spPr>
          <a:xfrm>
            <a:off x="11127202" y="6279600"/>
            <a:ext cx="455306" cy="1593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66" kern="0" dirty="0">
                <a:solidFill>
                  <a:srgbClr val="8DA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25</a:t>
            </a:r>
            <a:endParaRPr lang="en-US" sz="82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13357"/>
          </a:solidFill>
          <a:ln/>
        </p:spPr>
      </p:sp>
      <p:sp>
        <p:nvSpPr>
          <p:cNvPr id="3" name="Shape 1"/>
          <p:cNvSpPr/>
          <p:nvPr/>
        </p:nvSpPr>
        <p:spPr>
          <a:xfrm>
            <a:off x="685692" y="514269"/>
            <a:ext cx="285750" cy="285750"/>
          </a:xfrm>
          <a:prstGeom prst="roundRect">
            <a:avLst>
              <a:gd name="adj" fmla="val 26667"/>
            </a:avLst>
          </a:prstGeom>
          <a:solidFill>
            <a:srgbClr val="4FC3F7">
              <a:alpha val="12000"/>
            </a:srgbClr>
          </a:solidFill>
          <a:ln w="8659">
            <a:solidFill>
              <a:srgbClr val="314363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7658" y="576235"/>
            <a:ext cx="161817" cy="16181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76163" y="592201"/>
            <a:ext cx="3378856" cy="1679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b="1" spc="169" kern="0" dirty="0">
                <a:solidFill>
                  <a:srgbClr val="4FC3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PROGRAM.CS · 3 DE 3 — PIPELINE VISUAL</a:t>
            </a:r>
            <a:endParaRPr lang="en-US" sz="938" dirty="0"/>
          </a:p>
        </p:txBody>
      </p:sp>
      <p:sp>
        <p:nvSpPr>
          <p:cNvPr id="6" name="Text 3"/>
          <p:cNvSpPr/>
          <p:nvPr/>
        </p:nvSpPr>
        <p:spPr>
          <a:xfrm>
            <a:off x="11029381" y="596530"/>
            <a:ext cx="553126" cy="1593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41" kern="0" dirty="0">
                <a:solidFill>
                  <a:srgbClr val="8DA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/ 25</a:t>
            </a:r>
            <a:endParaRPr lang="en-US" sz="825" dirty="0"/>
          </a:p>
        </p:txBody>
      </p:sp>
      <p:sp>
        <p:nvSpPr>
          <p:cNvPr id="7" name="Text 4"/>
          <p:cNvSpPr/>
          <p:nvPr/>
        </p:nvSpPr>
        <p:spPr>
          <a:xfrm>
            <a:off x="685692" y="971442"/>
            <a:ext cx="11145235" cy="4361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850" b="1" spc="-29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Recorrido de una petición por el pipeline</a:t>
            </a:r>
            <a:endParaRPr lang="en-US" sz="2850" dirty="0"/>
          </a:p>
        </p:txBody>
      </p:sp>
      <p:sp>
        <p:nvSpPr>
          <p:cNvPr id="8" name="Shape 5"/>
          <p:cNvSpPr/>
          <p:nvPr/>
        </p:nvSpPr>
        <p:spPr>
          <a:xfrm>
            <a:off x="685692" y="1559854"/>
            <a:ext cx="438096" cy="28548"/>
          </a:xfrm>
          <a:prstGeom prst="roundRect">
            <a:avLst>
              <a:gd name="adj" fmla="val 50000"/>
            </a:avLst>
          </a:prstGeom>
          <a:solidFill>
            <a:srgbClr val="4FC3F7"/>
          </a:solidFill>
          <a:ln/>
        </p:spPr>
      </p:sp>
      <p:sp>
        <p:nvSpPr>
          <p:cNvPr id="9" name="Shape 6"/>
          <p:cNvSpPr/>
          <p:nvPr/>
        </p:nvSpPr>
        <p:spPr>
          <a:xfrm>
            <a:off x="1136641" y="3696412"/>
            <a:ext cx="805025" cy="374912"/>
          </a:xfrm>
          <a:prstGeom prst="roundRect">
            <a:avLst>
              <a:gd name="adj" fmla="val 22865"/>
            </a:avLst>
          </a:prstGeom>
          <a:solidFill>
            <a:srgbClr val="22324F"/>
          </a:solidFill>
          <a:ln w="8659">
            <a:solidFill>
              <a:srgbClr val="7EE787"/>
            </a:solidFill>
            <a:prstDash val="dash"/>
          </a:ln>
        </p:spPr>
      </p:sp>
      <p:sp>
        <p:nvSpPr>
          <p:cNvPr id="10" name="Text 7"/>
          <p:cNvSpPr/>
          <p:nvPr/>
        </p:nvSpPr>
        <p:spPr>
          <a:xfrm>
            <a:off x="1231025" y="3800321"/>
            <a:ext cx="616257" cy="2051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13" b="1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Request</a:t>
            </a:r>
            <a:endParaRPr lang="en-US" sz="1013" dirty="0"/>
          </a:p>
        </p:txBody>
      </p:sp>
      <p:sp>
        <p:nvSpPr>
          <p:cNvPr id="11" name="Text 8"/>
          <p:cNvSpPr/>
          <p:nvPr/>
        </p:nvSpPr>
        <p:spPr>
          <a:xfrm>
            <a:off x="1998762" y="3793015"/>
            <a:ext cx="228681" cy="2199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8DA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2208339" y="3696412"/>
            <a:ext cx="573529" cy="374912"/>
          </a:xfrm>
          <a:prstGeom prst="roundRect">
            <a:avLst>
              <a:gd name="adj" fmla="val 22865"/>
            </a:avLst>
          </a:prstGeom>
          <a:solidFill>
            <a:srgbClr val="22324F"/>
          </a:solidFill>
          <a:ln w="8659">
            <a:solidFill>
              <a:srgbClr val="4FC3F7"/>
            </a:solidFill>
            <a:prstDash val="dash"/>
          </a:ln>
        </p:spPr>
      </p:sp>
      <p:sp>
        <p:nvSpPr>
          <p:cNvPr id="13" name="Text 10"/>
          <p:cNvSpPr/>
          <p:nvPr/>
        </p:nvSpPr>
        <p:spPr>
          <a:xfrm>
            <a:off x="2302723" y="3800321"/>
            <a:ext cx="384761" cy="2051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13" b="1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CORS</a:t>
            </a:r>
            <a:endParaRPr lang="en-US" sz="1013" dirty="0"/>
          </a:p>
        </p:txBody>
      </p:sp>
      <p:sp>
        <p:nvSpPr>
          <p:cNvPr id="14" name="Text 11"/>
          <p:cNvSpPr/>
          <p:nvPr/>
        </p:nvSpPr>
        <p:spPr>
          <a:xfrm>
            <a:off x="2838964" y="3793015"/>
            <a:ext cx="228681" cy="2199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8DA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3048541" y="3696412"/>
            <a:ext cx="1113640" cy="374912"/>
          </a:xfrm>
          <a:prstGeom prst="roundRect">
            <a:avLst>
              <a:gd name="adj" fmla="val 22865"/>
            </a:avLst>
          </a:prstGeom>
          <a:solidFill>
            <a:srgbClr val="22324F"/>
          </a:solidFill>
          <a:ln w="8659">
            <a:solidFill>
              <a:srgbClr val="4FC3F7"/>
            </a:solidFill>
            <a:prstDash val="dash"/>
          </a:ln>
        </p:spPr>
      </p:sp>
      <p:sp>
        <p:nvSpPr>
          <p:cNvPr id="16" name="Text 13"/>
          <p:cNvSpPr/>
          <p:nvPr/>
        </p:nvSpPr>
        <p:spPr>
          <a:xfrm>
            <a:off x="3142925" y="3800321"/>
            <a:ext cx="924872" cy="2051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13" b="1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StaticFiles</a:t>
            </a:r>
            <a:endParaRPr lang="en-US" sz="1013" dirty="0"/>
          </a:p>
        </p:txBody>
      </p:sp>
      <p:sp>
        <p:nvSpPr>
          <p:cNvPr id="17" name="Text 14"/>
          <p:cNvSpPr/>
          <p:nvPr/>
        </p:nvSpPr>
        <p:spPr>
          <a:xfrm>
            <a:off x="4219277" y="3793015"/>
            <a:ext cx="228681" cy="2199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8DA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428854" y="3696412"/>
            <a:ext cx="573529" cy="374912"/>
          </a:xfrm>
          <a:prstGeom prst="roundRect">
            <a:avLst>
              <a:gd name="adj" fmla="val 22865"/>
            </a:avLst>
          </a:prstGeom>
          <a:solidFill>
            <a:srgbClr val="22324F"/>
          </a:solidFill>
          <a:ln w="8659">
            <a:solidFill>
              <a:srgbClr val="FFD479"/>
            </a:solidFill>
            <a:prstDash val="dash"/>
          </a:ln>
        </p:spPr>
      </p:sp>
      <p:sp>
        <p:nvSpPr>
          <p:cNvPr id="19" name="Text 16"/>
          <p:cNvSpPr/>
          <p:nvPr/>
        </p:nvSpPr>
        <p:spPr>
          <a:xfrm>
            <a:off x="4523238" y="3800321"/>
            <a:ext cx="384761" cy="2051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13" b="1" dirty="0">
                <a:solidFill>
                  <a:srgbClr val="FFD4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</a:t>
            </a:r>
            <a:endParaRPr lang="en-US" sz="1013" dirty="0"/>
          </a:p>
        </p:txBody>
      </p:sp>
      <p:sp>
        <p:nvSpPr>
          <p:cNvPr id="20" name="Text 17"/>
          <p:cNvSpPr/>
          <p:nvPr/>
        </p:nvSpPr>
        <p:spPr>
          <a:xfrm>
            <a:off x="5059480" y="3793015"/>
            <a:ext cx="228681" cy="2199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8DA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5269057" y="3696412"/>
            <a:ext cx="1036520" cy="374912"/>
          </a:xfrm>
          <a:prstGeom prst="roundRect">
            <a:avLst>
              <a:gd name="adj" fmla="val 22865"/>
            </a:avLst>
          </a:prstGeom>
          <a:solidFill>
            <a:srgbClr val="22324F"/>
          </a:solidFill>
          <a:ln w="8659">
            <a:solidFill>
              <a:srgbClr val="C4A5FF"/>
            </a:solidFill>
            <a:prstDash val="dash"/>
          </a:ln>
        </p:spPr>
      </p:sp>
      <p:sp>
        <p:nvSpPr>
          <p:cNvPr id="22" name="Text 19"/>
          <p:cNvSpPr/>
          <p:nvPr/>
        </p:nvSpPr>
        <p:spPr>
          <a:xfrm>
            <a:off x="5363441" y="3800321"/>
            <a:ext cx="847752" cy="2051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13" b="1" dirty="0">
                <a:solidFill>
                  <a:srgbClr val="C4A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Controller</a:t>
            </a:r>
            <a:endParaRPr lang="en-US" sz="1013" dirty="0"/>
          </a:p>
        </p:txBody>
      </p:sp>
      <p:sp>
        <p:nvSpPr>
          <p:cNvPr id="23" name="Text 20"/>
          <p:cNvSpPr/>
          <p:nvPr/>
        </p:nvSpPr>
        <p:spPr>
          <a:xfrm>
            <a:off x="6362673" y="3793015"/>
            <a:ext cx="228681" cy="2199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8DA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6572250" y="3696412"/>
            <a:ext cx="805025" cy="374912"/>
          </a:xfrm>
          <a:prstGeom prst="roundRect">
            <a:avLst>
              <a:gd name="adj" fmla="val 22865"/>
            </a:avLst>
          </a:prstGeom>
          <a:solidFill>
            <a:srgbClr val="22324F"/>
          </a:solidFill>
          <a:ln w="8659">
            <a:solidFill>
              <a:srgbClr val="C4A5FF"/>
            </a:solidFill>
            <a:prstDash val="dash"/>
          </a:ln>
        </p:spPr>
      </p:sp>
      <p:sp>
        <p:nvSpPr>
          <p:cNvPr id="25" name="Text 22"/>
          <p:cNvSpPr/>
          <p:nvPr/>
        </p:nvSpPr>
        <p:spPr>
          <a:xfrm>
            <a:off x="6666634" y="3800321"/>
            <a:ext cx="616257" cy="2051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13" b="1" dirty="0">
                <a:solidFill>
                  <a:srgbClr val="C4A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Service</a:t>
            </a:r>
            <a:endParaRPr lang="en-US" sz="1013" dirty="0"/>
          </a:p>
        </p:txBody>
      </p:sp>
      <p:sp>
        <p:nvSpPr>
          <p:cNvPr id="26" name="Text 23"/>
          <p:cNvSpPr/>
          <p:nvPr/>
        </p:nvSpPr>
        <p:spPr>
          <a:xfrm>
            <a:off x="7434371" y="3793015"/>
            <a:ext cx="228681" cy="2199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8DA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7643947" y="3696412"/>
            <a:ext cx="959400" cy="374912"/>
          </a:xfrm>
          <a:prstGeom prst="roundRect">
            <a:avLst>
              <a:gd name="adj" fmla="val 22865"/>
            </a:avLst>
          </a:prstGeom>
          <a:solidFill>
            <a:srgbClr val="22324F"/>
          </a:solidFill>
          <a:ln w="8659">
            <a:solidFill>
              <a:srgbClr val="FFD479"/>
            </a:solidFill>
            <a:prstDash val="dash"/>
          </a:ln>
        </p:spPr>
      </p:sp>
      <p:sp>
        <p:nvSpPr>
          <p:cNvPr id="28" name="Text 25"/>
          <p:cNvSpPr/>
          <p:nvPr/>
        </p:nvSpPr>
        <p:spPr>
          <a:xfrm>
            <a:off x="7738331" y="3800321"/>
            <a:ext cx="770632" cy="2051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13" b="1" dirty="0">
                <a:solidFill>
                  <a:srgbClr val="FFD4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DbContext</a:t>
            </a:r>
            <a:endParaRPr lang="en-US" sz="1013" dirty="0"/>
          </a:p>
        </p:txBody>
      </p:sp>
      <p:sp>
        <p:nvSpPr>
          <p:cNvPr id="29" name="Text 26"/>
          <p:cNvSpPr/>
          <p:nvPr/>
        </p:nvSpPr>
        <p:spPr>
          <a:xfrm>
            <a:off x="8660443" y="3793015"/>
            <a:ext cx="228681" cy="2199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8DA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8870021" y="3696412"/>
            <a:ext cx="1036520" cy="374912"/>
          </a:xfrm>
          <a:prstGeom prst="roundRect">
            <a:avLst>
              <a:gd name="adj" fmla="val 22865"/>
            </a:avLst>
          </a:prstGeom>
          <a:solidFill>
            <a:srgbClr val="22324F"/>
          </a:solidFill>
          <a:ln w="8659">
            <a:solidFill>
              <a:srgbClr val="4FC3F7"/>
            </a:solidFill>
            <a:prstDash val="dash"/>
          </a:ln>
        </p:spPr>
      </p:sp>
      <p:sp>
        <p:nvSpPr>
          <p:cNvPr id="31" name="Text 28"/>
          <p:cNvSpPr/>
          <p:nvPr/>
        </p:nvSpPr>
        <p:spPr>
          <a:xfrm>
            <a:off x="8964405" y="3800321"/>
            <a:ext cx="847752" cy="2051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13" b="1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SQL Server</a:t>
            </a:r>
            <a:endParaRPr lang="en-US" sz="1013" dirty="0"/>
          </a:p>
        </p:txBody>
      </p:sp>
      <p:sp>
        <p:nvSpPr>
          <p:cNvPr id="32" name="Text 29"/>
          <p:cNvSpPr/>
          <p:nvPr/>
        </p:nvSpPr>
        <p:spPr>
          <a:xfrm>
            <a:off x="9963637" y="3793015"/>
            <a:ext cx="228681" cy="2199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8DA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33" name="Shape 30"/>
          <p:cNvSpPr/>
          <p:nvPr/>
        </p:nvSpPr>
        <p:spPr>
          <a:xfrm>
            <a:off x="10173214" y="3696412"/>
            <a:ext cx="882145" cy="374912"/>
          </a:xfrm>
          <a:prstGeom prst="roundRect">
            <a:avLst>
              <a:gd name="adj" fmla="val 22865"/>
            </a:avLst>
          </a:prstGeom>
          <a:solidFill>
            <a:srgbClr val="22324F"/>
          </a:solidFill>
          <a:ln w="8659">
            <a:solidFill>
              <a:srgbClr val="7EE787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10267598" y="3800321"/>
            <a:ext cx="693377" cy="2051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13" b="1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Response</a:t>
            </a:r>
            <a:endParaRPr lang="en-US" sz="1013" dirty="0"/>
          </a:p>
        </p:txBody>
      </p:sp>
      <p:sp>
        <p:nvSpPr>
          <p:cNvPr id="35" name="Text 32"/>
          <p:cNvSpPr/>
          <p:nvPr/>
        </p:nvSpPr>
        <p:spPr>
          <a:xfrm>
            <a:off x="3775905" y="5969631"/>
            <a:ext cx="1045883" cy="1766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7EE7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</a:t>
            </a:r>
            <a:pPr algn="l" indent="0" marL="0">
              <a:buNone/>
            </a:pPr>
            <a:r>
              <a:rPr lang="en-US" sz="975" dirty="0">
                <a:solidFill>
                  <a:srgbClr val="8DA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Entrada / salida</a:t>
            </a:r>
            <a:endParaRPr lang="en-US" sz="975" dirty="0"/>
          </a:p>
        </p:txBody>
      </p:sp>
      <p:sp>
        <p:nvSpPr>
          <p:cNvPr id="36" name="Text 33"/>
          <p:cNvSpPr/>
          <p:nvPr/>
        </p:nvSpPr>
        <p:spPr>
          <a:xfrm>
            <a:off x="4974106" y="5969631"/>
            <a:ext cx="818582" cy="1766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4FC3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</a:t>
            </a:r>
            <a:pPr algn="l" indent="0" marL="0">
              <a:buNone/>
            </a:pPr>
            <a:r>
              <a:rPr lang="en-US" sz="975" dirty="0">
                <a:solidFill>
                  <a:srgbClr val="8DA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Middleware</a:t>
            </a:r>
            <a:endParaRPr lang="en-US" sz="975" dirty="0"/>
          </a:p>
        </p:txBody>
      </p:sp>
      <p:sp>
        <p:nvSpPr>
          <p:cNvPr id="37" name="Text 34"/>
          <p:cNvSpPr/>
          <p:nvPr/>
        </p:nvSpPr>
        <p:spPr>
          <a:xfrm>
            <a:off x="5945007" y="5969631"/>
            <a:ext cx="1204317" cy="1766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FFD4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</a:t>
            </a:r>
            <a:pPr algn="l" indent="0" marL="0">
              <a:buNone/>
            </a:pPr>
            <a:r>
              <a:rPr lang="en-US" sz="975" dirty="0">
                <a:solidFill>
                  <a:srgbClr val="8DA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Seguridad &amp; datos</a:t>
            </a:r>
            <a:endParaRPr lang="en-US" sz="975" dirty="0"/>
          </a:p>
        </p:txBody>
      </p:sp>
      <p:sp>
        <p:nvSpPr>
          <p:cNvPr id="38" name="Text 35"/>
          <p:cNvSpPr/>
          <p:nvPr/>
        </p:nvSpPr>
        <p:spPr>
          <a:xfrm>
            <a:off x="7301643" y="5969631"/>
            <a:ext cx="1190652" cy="1766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C4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</a:t>
            </a:r>
            <a:pPr algn="l" indent="0" marL="0">
              <a:buNone/>
            </a:pPr>
            <a:r>
              <a:rPr lang="en-US" sz="975" dirty="0">
                <a:solidFill>
                  <a:srgbClr val="8DA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Lógica de negocio</a:t>
            </a:r>
            <a:endParaRPr lang="en-US" sz="975" dirty="0"/>
          </a:p>
        </p:txBody>
      </p:sp>
      <p:sp>
        <p:nvSpPr>
          <p:cNvPr id="39" name="Text 36"/>
          <p:cNvSpPr/>
          <p:nvPr/>
        </p:nvSpPr>
        <p:spPr>
          <a:xfrm>
            <a:off x="685692" y="6279600"/>
            <a:ext cx="1965505" cy="1593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spc="66" kern="0" dirty="0">
                <a:solidFill>
                  <a:srgbClr val="C4D0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RelojAPI · Dominican Watch Men</a:t>
            </a:r>
            <a:endParaRPr lang="en-US" sz="825" dirty="0"/>
          </a:p>
        </p:txBody>
      </p:sp>
      <p:sp>
        <p:nvSpPr>
          <p:cNvPr id="40" name="Text 37"/>
          <p:cNvSpPr/>
          <p:nvPr/>
        </p:nvSpPr>
        <p:spPr>
          <a:xfrm>
            <a:off x="11134915" y="6279600"/>
            <a:ext cx="447594" cy="1593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66" kern="0" dirty="0">
                <a:solidFill>
                  <a:srgbClr val="8DA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25</a:t>
            </a:r>
            <a:endParaRPr lang="en-US" sz="82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13357"/>
          </a:solidFill>
          <a:ln/>
        </p:spPr>
      </p:sp>
      <p:sp>
        <p:nvSpPr>
          <p:cNvPr id="3" name="Shape 1"/>
          <p:cNvSpPr/>
          <p:nvPr/>
        </p:nvSpPr>
        <p:spPr>
          <a:xfrm>
            <a:off x="685692" y="514269"/>
            <a:ext cx="285750" cy="285750"/>
          </a:xfrm>
          <a:prstGeom prst="roundRect">
            <a:avLst>
              <a:gd name="adj" fmla="val 26667"/>
            </a:avLst>
          </a:prstGeom>
          <a:solidFill>
            <a:srgbClr val="4FC3F7">
              <a:alpha val="12000"/>
            </a:srgbClr>
          </a:solidFill>
          <a:ln w="8659">
            <a:solidFill>
              <a:srgbClr val="314363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7658" y="576235"/>
            <a:ext cx="161817" cy="16181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76163" y="592201"/>
            <a:ext cx="3128849" cy="1679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b="1" spc="169" kern="0" dirty="0">
                <a:solidFill>
                  <a:srgbClr val="4FC3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INYECCIÓN DE DEPENDENCIAS · 1 DE 2</a:t>
            </a:r>
            <a:endParaRPr lang="en-US" sz="938" dirty="0"/>
          </a:p>
        </p:txBody>
      </p:sp>
      <p:sp>
        <p:nvSpPr>
          <p:cNvPr id="6" name="Text 3"/>
          <p:cNvSpPr/>
          <p:nvPr/>
        </p:nvSpPr>
        <p:spPr>
          <a:xfrm>
            <a:off x="11029381" y="596530"/>
            <a:ext cx="553126" cy="1593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41" kern="0" dirty="0">
                <a:solidFill>
                  <a:srgbClr val="8DA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/ 25</a:t>
            </a:r>
            <a:endParaRPr lang="en-US" sz="825" dirty="0"/>
          </a:p>
        </p:txBody>
      </p:sp>
      <p:sp>
        <p:nvSpPr>
          <p:cNvPr id="7" name="Text 4"/>
          <p:cNvSpPr/>
          <p:nvPr/>
        </p:nvSpPr>
        <p:spPr>
          <a:xfrm>
            <a:off x="685692" y="971442"/>
            <a:ext cx="11145235" cy="4361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850" b="1" spc="-29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¿Cómo funciona la Inyección de Dependencias?</a:t>
            </a:r>
            <a:endParaRPr lang="en-US" sz="2850" dirty="0"/>
          </a:p>
        </p:txBody>
      </p:sp>
      <p:sp>
        <p:nvSpPr>
          <p:cNvPr id="8" name="Shape 5"/>
          <p:cNvSpPr/>
          <p:nvPr/>
        </p:nvSpPr>
        <p:spPr>
          <a:xfrm>
            <a:off x="685692" y="1559854"/>
            <a:ext cx="438096" cy="28548"/>
          </a:xfrm>
          <a:prstGeom prst="roundRect">
            <a:avLst>
              <a:gd name="adj" fmla="val 50000"/>
            </a:avLst>
          </a:prstGeom>
          <a:solidFill>
            <a:srgbClr val="4FC3F7"/>
          </a:solidFill>
          <a:ln/>
        </p:spPr>
      </p:sp>
      <p:sp>
        <p:nvSpPr>
          <p:cNvPr id="9" name="Shape 6"/>
          <p:cNvSpPr/>
          <p:nvPr/>
        </p:nvSpPr>
        <p:spPr>
          <a:xfrm>
            <a:off x="2595833" y="3320217"/>
            <a:ext cx="1509794" cy="1030161"/>
          </a:xfrm>
          <a:prstGeom prst="roundRect">
            <a:avLst>
              <a:gd name="adj" fmla="val 11095"/>
            </a:avLst>
          </a:prstGeom>
          <a:solidFill>
            <a:srgbClr val="22324F"/>
          </a:solidFill>
          <a:ln w="8659">
            <a:solidFill>
              <a:srgbClr val="4FC3F7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5941" y="3500299"/>
            <a:ext cx="209442" cy="20944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846541" y="3766837"/>
            <a:ext cx="1084443" cy="2545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4FC3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Program.cs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2794911" y="4040410"/>
            <a:ext cx="1111638" cy="1679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8DA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registra los servicios</a:t>
            </a:r>
            <a:endParaRPr lang="en-US" sz="9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1377" y="3740048"/>
            <a:ext cx="571500" cy="190500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5248627" y="2966006"/>
            <a:ext cx="1442280" cy="370447"/>
          </a:xfrm>
          <a:prstGeom prst="roundRect">
            <a:avLst>
              <a:gd name="adj" fmla="val 20570"/>
            </a:avLst>
          </a:prstGeom>
          <a:solidFill>
            <a:srgbClr val="0A0E18"/>
          </a:solidFill>
          <a:ln w="8659">
            <a:solidFill>
              <a:srgbClr val="1C2C49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5371586" y="3060390"/>
            <a:ext cx="1196362" cy="2197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IRelojService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5248627" y="3422096"/>
            <a:ext cx="1442280" cy="370447"/>
          </a:xfrm>
          <a:prstGeom prst="roundRect">
            <a:avLst>
              <a:gd name="adj" fmla="val 20570"/>
            </a:avLst>
          </a:prstGeom>
          <a:solidFill>
            <a:srgbClr val="0A0E18"/>
          </a:solidFill>
          <a:ln w="8659">
            <a:solidFill>
              <a:srgbClr val="1C2C49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5371586" y="3516480"/>
            <a:ext cx="1196362" cy="2197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AppDbContext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5248627" y="3878187"/>
            <a:ext cx="1442280" cy="370447"/>
          </a:xfrm>
          <a:prstGeom prst="roundRect">
            <a:avLst>
              <a:gd name="adj" fmla="val 20570"/>
            </a:avLst>
          </a:prstGeom>
          <a:solidFill>
            <a:srgbClr val="0A0E18"/>
          </a:solidFill>
          <a:ln w="8659">
            <a:solidFill>
              <a:srgbClr val="1C2C49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5371586" y="3972571"/>
            <a:ext cx="1196362" cy="2197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ILogger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5248627" y="4334278"/>
            <a:ext cx="1442280" cy="370447"/>
          </a:xfrm>
          <a:prstGeom prst="roundRect">
            <a:avLst>
              <a:gd name="adj" fmla="val 20570"/>
            </a:avLst>
          </a:prstGeom>
          <a:solidFill>
            <a:srgbClr val="0A0E18"/>
          </a:solidFill>
          <a:ln w="8659">
            <a:solidFill>
              <a:srgbClr val="1C2C49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5371586" y="4428662"/>
            <a:ext cx="1196362" cy="2197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IConfiguration</a:t>
            </a:r>
            <a:endParaRPr lang="en-US" sz="1050" dirty="0"/>
          </a:p>
        </p:txBody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76656" y="3740048"/>
            <a:ext cx="571500" cy="190500"/>
          </a:xfrm>
          <a:prstGeom prst="rect">
            <a:avLst/>
          </a:prstGeom>
        </p:spPr>
      </p:pic>
      <p:sp>
        <p:nvSpPr>
          <p:cNvPr id="23" name="Shape 17"/>
          <p:cNvSpPr/>
          <p:nvPr/>
        </p:nvSpPr>
        <p:spPr>
          <a:xfrm>
            <a:off x="7833906" y="3320217"/>
            <a:ext cx="1762125" cy="1030161"/>
          </a:xfrm>
          <a:prstGeom prst="roundRect">
            <a:avLst>
              <a:gd name="adj" fmla="val 11095"/>
            </a:avLst>
          </a:prstGeom>
          <a:solidFill>
            <a:srgbClr val="22324F"/>
          </a:solidFill>
          <a:ln w="8659">
            <a:solidFill>
              <a:srgbClr val="7EE787"/>
            </a:solidFill>
            <a:prstDash val="solid"/>
          </a:ln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10248" y="3500299"/>
            <a:ext cx="209442" cy="209442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8071084" y="3766837"/>
            <a:ext cx="1363969" cy="2545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7EE7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Constructores</a:t>
            </a:r>
            <a:endParaRPr lang="en-US" sz="1350" dirty="0"/>
          </a:p>
        </p:txBody>
      </p:sp>
      <p:sp>
        <p:nvSpPr>
          <p:cNvPr id="26" name="Text 19"/>
          <p:cNvSpPr/>
          <p:nvPr/>
        </p:nvSpPr>
        <p:spPr>
          <a:xfrm>
            <a:off x="8111457" y="4040410"/>
            <a:ext cx="1206888" cy="1679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8DA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Controllers &amp; Services</a:t>
            </a:r>
            <a:endParaRPr lang="en-US" sz="900" dirty="0"/>
          </a:p>
        </p:txBody>
      </p:sp>
      <p:sp>
        <p:nvSpPr>
          <p:cNvPr id="27" name="Text 20"/>
          <p:cNvSpPr/>
          <p:nvPr/>
        </p:nvSpPr>
        <p:spPr>
          <a:xfrm>
            <a:off x="557104" y="5872081"/>
            <a:ext cx="8829674" cy="274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5000"/>
              </a:lnSpc>
              <a:buNone/>
            </a:pPr>
            <a:r>
              <a:rPr lang="en-US" sz="1200" dirty="0">
                <a:solidFill>
                  <a:srgbClr val="C4D0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framework </a:t>
            </a:r>
            <a:pPr algn="ctr" indent="0" marL="0">
              <a:lnSpc>
                <a:spcPct val="155000"/>
              </a:lnSpc>
              <a:buNone/>
            </a:pPr>
            <a:r>
              <a:rPr lang="en-US" sz="1200" b="1" dirty="0">
                <a:solidFill>
                  <a:srgbClr val="4FC3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 e inyecta automáticamente </a:t>
            </a:r>
            <a:pPr algn="ctr" indent="0" marL="0">
              <a:lnSpc>
                <a:spcPct val="155000"/>
              </a:lnSpc>
              <a:buNone/>
            </a:pPr>
            <a:r>
              <a:rPr lang="en-US" sz="1200" dirty="0">
                <a:solidFill>
                  <a:srgbClr val="C4D0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dependencias que cada clase necesita — sin instanciarlas manualmente.</a:t>
            </a:r>
            <a:endParaRPr lang="en-US" sz="1200" dirty="0"/>
          </a:p>
        </p:txBody>
      </p:sp>
      <p:sp>
        <p:nvSpPr>
          <p:cNvPr id="28" name="Text 21"/>
          <p:cNvSpPr/>
          <p:nvPr/>
        </p:nvSpPr>
        <p:spPr>
          <a:xfrm>
            <a:off x="685692" y="6279600"/>
            <a:ext cx="1965505" cy="1593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spc="66" kern="0" dirty="0">
                <a:solidFill>
                  <a:srgbClr val="C4D0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RelojAPI · Dominican Watch Men</a:t>
            </a:r>
            <a:endParaRPr lang="en-US" sz="825" dirty="0"/>
          </a:p>
        </p:txBody>
      </p:sp>
      <p:sp>
        <p:nvSpPr>
          <p:cNvPr id="29" name="Text 22"/>
          <p:cNvSpPr/>
          <p:nvPr/>
        </p:nvSpPr>
        <p:spPr>
          <a:xfrm>
            <a:off x="11127202" y="6279600"/>
            <a:ext cx="455306" cy="1593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66" kern="0" dirty="0">
                <a:solidFill>
                  <a:srgbClr val="8DA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25</a:t>
            </a:r>
            <a:endParaRPr lang="en-US" sz="82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13357"/>
          </a:solidFill>
          <a:ln/>
        </p:spPr>
      </p:sp>
      <p:sp>
        <p:nvSpPr>
          <p:cNvPr id="3" name="Shape 1"/>
          <p:cNvSpPr/>
          <p:nvPr/>
        </p:nvSpPr>
        <p:spPr>
          <a:xfrm>
            <a:off x="685692" y="514269"/>
            <a:ext cx="285750" cy="285750"/>
          </a:xfrm>
          <a:prstGeom prst="roundRect">
            <a:avLst>
              <a:gd name="adj" fmla="val 26667"/>
            </a:avLst>
          </a:prstGeom>
          <a:solidFill>
            <a:srgbClr val="4FC3F7">
              <a:alpha val="12000"/>
            </a:srgbClr>
          </a:solidFill>
          <a:ln w="8659">
            <a:solidFill>
              <a:srgbClr val="314363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7658" y="576235"/>
            <a:ext cx="161817" cy="16181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76163" y="592201"/>
            <a:ext cx="3128849" cy="1679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b="1" spc="169" kern="0" dirty="0">
                <a:solidFill>
                  <a:srgbClr val="4FC3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INYECCIÓN DE DEPENDENCIAS · 2 DE 2</a:t>
            </a:r>
            <a:endParaRPr lang="en-US" sz="938" dirty="0"/>
          </a:p>
        </p:txBody>
      </p:sp>
      <p:sp>
        <p:nvSpPr>
          <p:cNvPr id="6" name="Text 3"/>
          <p:cNvSpPr/>
          <p:nvPr/>
        </p:nvSpPr>
        <p:spPr>
          <a:xfrm>
            <a:off x="11029381" y="596530"/>
            <a:ext cx="553126" cy="1593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41" kern="0" dirty="0">
                <a:solidFill>
                  <a:srgbClr val="8DA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 / 25</a:t>
            </a:r>
            <a:endParaRPr lang="en-US" sz="825" dirty="0"/>
          </a:p>
        </p:txBody>
      </p:sp>
      <p:sp>
        <p:nvSpPr>
          <p:cNvPr id="7" name="Text 4"/>
          <p:cNvSpPr/>
          <p:nvPr/>
        </p:nvSpPr>
        <p:spPr>
          <a:xfrm>
            <a:off x="685692" y="971442"/>
            <a:ext cx="11145235" cy="4361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850" b="1" spc="-29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constructor del controlador</a:t>
            </a:r>
            <a:endParaRPr lang="en-US" sz="2850" dirty="0"/>
          </a:p>
        </p:txBody>
      </p:sp>
      <p:sp>
        <p:nvSpPr>
          <p:cNvPr id="8" name="Shape 5"/>
          <p:cNvSpPr/>
          <p:nvPr/>
        </p:nvSpPr>
        <p:spPr>
          <a:xfrm>
            <a:off x="685692" y="1559854"/>
            <a:ext cx="438096" cy="28548"/>
          </a:xfrm>
          <a:prstGeom prst="roundRect">
            <a:avLst>
              <a:gd name="adj" fmla="val 50000"/>
            </a:avLst>
          </a:prstGeom>
          <a:solidFill>
            <a:srgbClr val="4FC3F7"/>
          </a:solidFill>
          <a:ln/>
        </p:spPr>
      </p:sp>
      <p:sp>
        <p:nvSpPr>
          <p:cNvPr id="9" name="Shape 6"/>
          <p:cNvSpPr/>
          <p:nvPr/>
        </p:nvSpPr>
        <p:spPr>
          <a:xfrm>
            <a:off x="685692" y="2017839"/>
            <a:ext cx="6758826" cy="3870343"/>
          </a:xfrm>
          <a:prstGeom prst="roundRect">
            <a:avLst>
              <a:gd name="adj" fmla="val 3199"/>
            </a:avLst>
          </a:prstGeom>
          <a:solidFill>
            <a:srgbClr val="0A0E18"/>
          </a:solidFill>
          <a:ln w="8659">
            <a:solidFill>
              <a:srgbClr val="1C2C49"/>
            </a:solidFill>
            <a:prstDash val="solid"/>
          </a:ln>
          <a:effectLst>
            <a:outerShdw sx="100000" sy="100000" kx="0" ky="0" algn="bl" rotWithShape="0" blurRad="381000" dist="171450" dir="5400000">
              <a:srgbClr val="000000">
                <a:alpha val="3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94351" y="2026498"/>
            <a:ext cx="6741508" cy="339328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694351" y="2357167"/>
            <a:ext cx="6741508" cy="9525"/>
          </a:xfrm>
          <a:prstGeom prst="rect">
            <a:avLst/>
          </a:prstGeom>
          <a:solidFill>
            <a:srgbClr val="1C2C49"/>
          </a:solidFill>
          <a:ln/>
        </p:spPr>
      </p:sp>
      <p:sp>
        <p:nvSpPr>
          <p:cNvPr id="12" name="Shape 9"/>
          <p:cNvSpPr/>
          <p:nvPr/>
        </p:nvSpPr>
        <p:spPr>
          <a:xfrm>
            <a:off x="837226" y="2144207"/>
            <a:ext cx="95250" cy="95250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3" name="Shape 10"/>
          <p:cNvSpPr/>
          <p:nvPr/>
        </p:nvSpPr>
        <p:spPr>
          <a:xfrm>
            <a:off x="999043" y="2144207"/>
            <a:ext cx="95250" cy="9525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4" name="Shape 11"/>
          <p:cNvSpPr/>
          <p:nvPr/>
        </p:nvSpPr>
        <p:spPr>
          <a:xfrm>
            <a:off x="1160859" y="2144207"/>
            <a:ext cx="95250" cy="9525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5" name="Text 12"/>
          <p:cNvSpPr/>
          <p:nvPr/>
        </p:nvSpPr>
        <p:spPr>
          <a:xfrm>
            <a:off x="1398849" y="2131219"/>
            <a:ext cx="1207970" cy="1593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8DA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RelojController.cs</a:t>
            </a:r>
            <a:endParaRPr lang="en-US" sz="825" dirty="0"/>
          </a:p>
        </p:txBody>
      </p:sp>
      <p:sp>
        <p:nvSpPr>
          <p:cNvPr id="16" name="Text 13"/>
          <p:cNvSpPr/>
          <p:nvPr/>
        </p:nvSpPr>
        <p:spPr>
          <a:xfrm>
            <a:off x="903901" y="2537276"/>
            <a:ext cx="6524653" cy="32088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85000"/>
              </a:lnSpc>
              <a:buNone/>
            </a:pPr>
            <a:r>
              <a:rPr lang="en-US" sz="1125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class</a:t>
            </a:r>
            <a:pPr algn="l" indent="0" marL="0">
              <a:lnSpc>
                <a:spcPct val="185000"/>
              </a:lnSpc>
              <a:buNone/>
            </a:pPr>
            <a:r>
              <a:rPr lang="en-US" sz="1125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85000"/>
              </a:lnSpc>
              <a:buNone/>
            </a:pPr>
            <a:r>
              <a:rPr lang="en-US" sz="1125" dirty="0">
                <a:solidFill>
                  <a:srgbClr val="9EC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RelojController</a:t>
            </a:r>
            <a:pPr algn="l" indent="0" marL="0">
              <a:lnSpc>
                <a:spcPct val="185000"/>
              </a:lnSpc>
              <a:buNone/>
            </a:pPr>
            <a:r>
              <a:rPr lang="en-US" sz="1125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: </a:t>
            </a:r>
            <a:pPr algn="l" indent="0" marL="0">
              <a:lnSpc>
                <a:spcPct val="185000"/>
              </a:lnSpc>
              <a:buNone/>
            </a:pPr>
            <a:r>
              <a:rPr lang="en-US" sz="1125" dirty="0">
                <a:solidFill>
                  <a:srgbClr val="9EC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ControllerBase </a:t>
            </a:r>
            <a:pPr algn="l" indent="0" marL="0">
              <a:lnSpc>
                <a:spcPct val="185000"/>
              </a:lnSpc>
              <a:buNone/>
            </a:pPr>
            <a:r>
              <a:rPr lang="en-US" sz="1125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  <a:endParaRPr lang="en-US" sz="1125" dirty="0"/>
          </a:p>
          <a:p>
            <a:pPr algn="l" indent="0" marL="0">
              <a:lnSpc>
                <a:spcPct val="185000"/>
              </a:lnSpc>
              <a:buNone/>
            </a:pPr>
            <a:r>
              <a:rPr lang="en-US" sz="1125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</a:t>
            </a:r>
            <a:endParaRPr lang="en-US" sz="1125" dirty="0"/>
          </a:p>
          <a:p>
            <a:pPr algn="l" indent="0" marL="0">
              <a:lnSpc>
                <a:spcPct val="185000"/>
              </a:lnSpc>
              <a:buNone/>
            </a:pPr>
            <a:r>
              <a:rPr lang="en-US" sz="1125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 readonly</a:t>
            </a:r>
            <a:pPr algn="l" indent="0" marL="0">
              <a:lnSpc>
                <a:spcPct val="185000"/>
              </a:lnSpc>
              <a:buNone/>
            </a:pPr>
            <a:r>
              <a:rPr lang="en-US" sz="1125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85000"/>
              </a:lnSpc>
              <a:buNone/>
            </a:pPr>
            <a:r>
              <a:rPr lang="en-US" sz="1125" dirty="0">
                <a:solidFill>
                  <a:srgbClr val="9EC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IRelojService </a:t>
            </a:r>
            <a:pPr algn="l" indent="0" marL="0">
              <a:lnSpc>
                <a:spcPct val="185000"/>
              </a:lnSpc>
              <a:buNone/>
            </a:pPr>
            <a:r>
              <a:rPr lang="en-US" sz="1125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_service;</a:t>
            </a:r>
            <a:endParaRPr lang="en-US" sz="1125" dirty="0"/>
          </a:p>
          <a:p>
            <a:pPr algn="l" indent="0" marL="0">
              <a:lnSpc>
                <a:spcPct val="185000"/>
              </a:lnSpc>
              <a:buNone/>
            </a:pPr>
            <a:r>
              <a:rPr lang="en-US" sz="1125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</a:t>
            </a:r>
            <a:endParaRPr lang="en-US" sz="1125" dirty="0"/>
          </a:p>
          <a:p>
            <a:pPr algn="l" indent="0" marL="0">
              <a:lnSpc>
                <a:spcPct val="185000"/>
              </a:lnSpc>
              <a:buNone/>
            </a:pPr>
            <a:r>
              <a:rPr lang="en-US" sz="1125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 readonly</a:t>
            </a:r>
            <a:pPr algn="l" indent="0" marL="0">
              <a:lnSpc>
                <a:spcPct val="185000"/>
              </a:lnSpc>
              <a:buNone/>
            </a:pPr>
            <a:r>
              <a:rPr lang="en-US" sz="1125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85000"/>
              </a:lnSpc>
              <a:buNone/>
            </a:pPr>
            <a:r>
              <a:rPr lang="en-US" sz="1125" dirty="0">
                <a:solidFill>
                  <a:srgbClr val="9EC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ILogger</a:t>
            </a:r>
            <a:pPr algn="l" indent="0" marL="0">
              <a:lnSpc>
                <a:spcPct val="185000"/>
              </a:lnSpc>
              <a:buNone/>
            </a:pPr>
            <a:r>
              <a:rPr lang="en-US" sz="1125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algn="l" indent="0" marL="0">
              <a:lnSpc>
                <a:spcPct val="185000"/>
              </a:lnSpc>
              <a:buNone/>
            </a:pPr>
            <a:r>
              <a:rPr lang="en-US" sz="1125" dirty="0">
                <a:solidFill>
                  <a:srgbClr val="9EC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RelojController </a:t>
            </a:r>
            <a:pPr algn="l" indent="0" marL="0">
              <a:lnSpc>
                <a:spcPct val="185000"/>
              </a:lnSpc>
              <a:buNone/>
            </a:pPr>
            <a:r>
              <a:rPr lang="en-US" sz="1125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_logger;</a:t>
            </a:r>
            <a:endParaRPr lang="en-US" sz="1125" dirty="0"/>
          </a:p>
          <a:p>
            <a:pPr algn="l" indent="0" marL="0">
              <a:lnSpc>
                <a:spcPct val="185000"/>
              </a:lnSpc>
              <a:buNone/>
            </a:pPr>
            <a:r>
              <a:rPr lang="en-US" sz="1125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</a:t>
            </a:r>
            <a:endParaRPr lang="en-US" sz="1125" dirty="0"/>
          </a:p>
          <a:p>
            <a:pPr algn="l" indent="0" marL="0">
              <a:lnSpc>
                <a:spcPct val="185000"/>
              </a:lnSpc>
              <a:buNone/>
            </a:pPr>
            <a:r>
              <a:rPr lang="en-US" sz="1125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 readonly</a:t>
            </a:r>
            <a:pPr algn="l" indent="0" marL="0">
              <a:lnSpc>
                <a:spcPct val="185000"/>
              </a:lnSpc>
              <a:buNone/>
            </a:pPr>
            <a:r>
              <a:rPr lang="en-US" sz="1125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85000"/>
              </a:lnSpc>
              <a:buNone/>
            </a:pPr>
            <a:r>
              <a:rPr lang="en-US" sz="1125" dirty="0">
                <a:solidFill>
                  <a:srgbClr val="9EC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IConfiguration </a:t>
            </a:r>
            <a:pPr algn="l" indent="0" marL="0">
              <a:lnSpc>
                <a:spcPct val="185000"/>
              </a:lnSpc>
              <a:buNone/>
            </a:pPr>
            <a:r>
              <a:rPr lang="en-US" sz="1125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_config;</a:t>
            </a:r>
            <a:endParaRPr lang="en-US" sz="1125" dirty="0"/>
          </a:p>
          <a:p>
            <a:pPr algn="l" indent="0" marL="0">
              <a:lnSpc>
                <a:spcPct val="185000"/>
              </a:lnSpc>
              <a:buNone/>
            </a:pPr>
            <a:endParaRPr lang="en-US" sz="1125" dirty="0"/>
          </a:p>
          <a:p>
            <a:pPr algn="l" indent="0" marL="0">
              <a:lnSpc>
                <a:spcPct val="185000"/>
              </a:lnSpc>
              <a:buNone/>
            </a:pPr>
            <a:r>
              <a:rPr lang="en-US" sz="1125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</a:t>
            </a:r>
            <a:endParaRPr lang="en-US" sz="1125" dirty="0"/>
          </a:p>
          <a:p>
            <a:pPr algn="l" indent="0" marL="0">
              <a:lnSpc>
                <a:spcPct val="185000"/>
              </a:lnSpc>
              <a:buNone/>
            </a:pPr>
            <a:r>
              <a:rPr lang="en-US" sz="1125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pPr algn="l" indent="0" marL="0">
              <a:lnSpc>
                <a:spcPct val="185000"/>
              </a:lnSpc>
              <a:buNone/>
            </a:pPr>
            <a:r>
              <a:rPr lang="en-US" sz="1125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85000"/>
              </a:lnSpc>
              <a:buNone/>
            </a:pPr>
            <a:r>
              <a:rPr lang="en-US" sz="1125" dirty="0">
                <a:solidFill>
                  <a:srgbClr val="FFD4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RelojController </a:t>
            </a:r>
            <a:pPr algn="l" indent="0" marL="0">
              <a:lnSpc>
                <a:spcPct val="185000"/>
              </a:lnSpc>
              <a:buNone/>
            </a:pPr>
            <a:r>
              <a:rPr lang="en-US" sz="1125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1125" dirty="0"/>
          </a:p>
          <a:p>
            <a:pPr algn="l" indent="0" marL="0">
              <a:lnSpc>
                <a:spcPct val="185000"/>
              </a:lnSpc>
              <a:buNone/>
            </a:pPr>
            <a:r>
              <a:rPr lang="en-US" sz="1125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</a:t>
            </a:r>
            <a:endParaRPr lang="en-US" sz="1125" dirty="0"/>
          </a:p>
          <a:p>
            <a:pPr algn="l" indent="0" marL="0">
              <a:lnSpc>
                <a:spcPct val="185000"/>
              </a:lnSpc>
              <a:buNone/>
            </a:pPr>
            <a:r>
              <a:rPr lang="en-US" sz="1125" dirty="0">
                <a:solidFill>
                  <a:srgbClr val="9EC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IRelojService </a:t>
            </a:r>
            <a:pPr algn="l" indent="0" marL="0">
              <a:lnSpc>
                <a:spcPct val="185000"/>
              </a:lnSpc>
              <a:buNone/>
            </a:pPr>
            <a:r>
              <a:rPr lang="en-US" sz="1125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service,</a:t>
            </a:r>
            <a:endParaRPr lang="en-US" sz="1125" dirty="0"/>
          </a:p>
          <a:p>
            <a:pPr algn="l" indent="0" marL="0">
              <a:lnSpc>
                <a:spcPct val="185000"/>
              </a:lnSpc>
              <a:buNone/>
            </a:pPr>
            <a:r>
              <a:rPr lang="en-US" sz="1125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</a:t>
            </a:r>
            <a:endParaRPr lang="en-US" sz="1125" dirty="0"/>
          </a:p>
          <a:p>
            <a:pPr algn="l" indent="0" marL="0">
              <a:lnSpc>
                <a:spcPct val="185000"/>
              </a:lnSpc>
              <a:buNone/>
            </a:pPr>
            <a:r>
              <a:rPr lang="en-US" sz="1125" dirty="0">
                <a:solidFill>
                  <a:srgbClr val="9EC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ILogger</a:t>
            </a:r>
            <a:pPr algn="l" indent="0" marL="0">
              <a:lnSpc>
                <a:spcPct val="185000"/>
              </a:lnSpc>
              <a:buNone/>
            </a:pPr>
            <a:r>
              <a:rPr lang="en-US" sz="1125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algn="l" indent="0" marL="0">
              <a:lnSpc>
                <a:spcPct val="185000"/>
              </a:lnSpc>
              <a:buNone/>
            </a:pPr>
            <a:r>
              <a:rPr lang="en-US" sz="1125" dirty="0">
                <a:solidFill>
                  <a:srgbClr val="9EC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RelojController </a:t>
            </a:r>
            <a:pPr algn="l" indent="0" marL="0">
              <a:lnSpc>
                <a:spcPct val="185000"/>
              </a:lnSpc>
              <a:buNone/>
            </a:pPr>
            <a:r>
              <a:rPr lang="en-US" sz="1125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logger,</a:t>
            </a:r>
            <a:endParaRPr lang="en-US" sz="1125" dirty="0"/>
          </a:p>
          <a:p>
            <a:pPr algn="l" indent="0" marL="0">
              <a:lnSpc>
                <a:spcPct val="185000"/>
              </a:lnSpc>
              <a:buNone/>
            </a:pPr>
            <a:r>
              <a:rPr lang="en-US" sz="1125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</a:t>
            </a:r>
            <a:endParaRPr lang="en-US" sz="1125" dirty="0"/>
          </a:p>
          <a:p>
            <a:pPr algn="l" indent="0" marL="0">
              <a:lnSpc>
                <a:spcPct val="185000"/>
              </a:lnSpc>
              <a:buNone/>
            </a:pPr>
            <a:r>
              <a:rPr lang="en-US" sz="1125" dirty="0">
                <a:solidFill>
                  <a:srgbClr val="9EC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IConfiguration </a:t>
            </a:r>
            <a:pPr algn="l" indent="0" marL="0">
              <a:lnSpc>
                <a:spcPct val="185000"/>
              </a:lnSpc>
              <a:buNone/>
            </a:pPr>
            <a:r>
              <a:rPr lang="en-US" sz="1125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config) {</a:t>
            </a:r>
            <a:endParaRPr lang="en-US" sz="1125" dirty="0"/>
          </a:p>
          <a:p>
            <a:pPr algn="l" indent="0" marL="0">
              <a:lnSpc>
                <a:spcPct val="185000"/>
              </a:lnSpc>
              <a:buNone/>
            </a:pPr>
            <a:r>
              <a:rPr lang="en-US" sz="1125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_service = service; _logger = logger; _config = config;</a:t>
            </a:r>
            <a:endParaRPr lang="en-US" sz="1125" dirty="0"/>
          </a:p>
          <a:p>
            <a:pPr algn="l" indent="0" marL="0">
              <a:lnSpc>
                <a:spcPct val="185000"/>
              </a:lnSpc>
              <a:buNone/>
            </a:pPr>
            <a:r>
              <a:rPr lang="en-US" sz="1125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125" dirty="0"/>
          </a:p>
          <a:p>
            <a:pPr algn="l" indent="0" marL="0">
              <a:lnSpc>
                <a:spcPct val="185000"/>
              </a:lnSpc>
              <a:buNone/>
            </a:pPr>
            <a:r>
              <a:rPr lang="en-US" sz="1125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25" dirty="0"/>
          </a:p>
        </p:txBody>
      </p:sp>
      <p:sp>
        <p:nvSpPr>
          <p:cNvPr id="17" name="Shape 14"/>
          <p:cNvSpPr/>
          <p:nvPr/>
        </p:nvSpPr>
        <p:spPr>
          <a:xfrm>
            <a:off x="7653960" y="3048812"/>
            <a:ext cx="3852348" cy="402783"/>
          </a:xfrm>
          <a:prstGeom prst="roundRect">
            <a:avLst>
              <a:gd name="adj" fmla="val 23648"/>
            </a:avLst>
          </a:prstGeom>
          <a:solidFill>
            <a:srgbClr val="22324F"/>
          </a:solidFill>
          <a:ln/>
        </p:spPr>
      </p:sp>
      <p:sp>
        <p:nvSpPr>
          <p:cNvPr id="18" name="Text 15"/>
          <p:cNvSpPr/>
          <p:nvPr/>
        </p:nvSpPr>
        <p:spPr>
          <a:xfrm>
            <a:off x="7796835" y="3153587"/>
            <a:ext cx="3682169" cy="2313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050" b="1" dirty="0">
                <a:solidFill>
                  <a:srgbClr val="4FC3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IRelojService </a:t>
            </a:r>
            <a:pPr algn="l"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C4D0E4"/>
                </a:solidFill>
                <a:highlight>
                  <a:srgbClr val="22324F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— lógica de negocio de relojes.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7653960" y="3556315"/>
            <a:ext cx="3852348" cy="402783"/>
          </a:xfrm>
          <a:prstGeom prst="roundRect">
            <a:avLst>
              <a:gd name="adj" fmla="val 23648"/>
            </a:avLst>
          </a:prstGeom>
          <a:solidFill>
            <a:srgbClr val="22324F"/>
          </a:solidFill>
          <a:ln/>
        </p:spPr>
      </p:sp>
      <p:sp>
        <p:nvSpPr>
          <p:cNvPr id="20" name="Text 17"/>
          <p:cNvSpPr/>
          <p:nvPr/>
        </p:nvSpPr>
        <p:spPr>
          <a:xfrm>
            <a:off x="7796835" y="3661090"/>
            <a:ext cx="3682169" cy="2313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050" b="1" dirty="0">
                <a:solidFill>
                  <a:srgbClr val="4FC3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ILogger </a:t>
            </a:r>
            <a:pPr algn="l"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C4D0E4"/>
                </a:solidFill>
                <a:highlight>
                  <a:srgbClr val="22324F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— registro de eventos en consola.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7653960" y="4063819"/>
            <a:ext cx="3852348" cy="402783"/>
          </a:xfrm>
          <a:prstGeom prst="roundRect">
            <a:avLst>
              <a:gd name="adj" fmla="val 23648"/>
            </a:avLst>
          </a:prstGeom>
          <a:solidFill>
            <a:srgbClr val="22324F"/>
          </a:solidFill>
          <a:ln/>
        </p:spPr>
      </p:sp>
      <p:sp>
        <p:nvSpPr>
          <p:cNvPr id="22" name="Text 19"/>
          <p:cNvSpPr/>
          <p:nvPr/>
        </p:nvSpPr>
        <p:spPr>
          <a:xfrm>
            <a:off x="7796835" y="4168594"/>
            <a:ext cx="3682169" cy="2313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050" b="1" dirty="0">
                <a:solidFill>
                  <a:srgbClr val="4FC3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IConfiguration </a:t>
            </a:r>
            <a:pPr algn="l"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C4D0E4"/>
                </a:solidFill>
                <a:highlight>
                  <a:srgbClr val="22324F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— lectura de appsettings.json.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7653960" y="4571323"/>
            <a:ext cx="3967919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8DA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tres llegan </a:t>
            </a:r>
            <a:pPr algn="l" indent="0" marL="0">
              <a:buNone/>
            </a:pPr>
            <a:r>
              <a:rPr lang="en-US" sz="975" b="1" dirty="0">
                <a:solidFill>
                  <a:srgbClr val="8DA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resueltas </a:t>
            </a:r>
            <a:pPr algn="l" indent="0" marL="0">
              <a:buNone/>
            </a:pPr>
            <a:r>
              <a:rPr lang="en-US" sz="975" dirty="0">
                <a:solidFill>
                  <a:srgbClr val="8DA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el contenedor de DI — no se crean con </a:t>
            </a:r>
            <a:pPr algn="l" indent="0" marL="0">
              <a:buNone/>
            </a:pPr>
            <a:r>
              <a:rPr lang="en-US" sz="897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algn="l" indent="0" marL="0">
              <a:buNone/>
            </a:pPr>
            <a:r>
              <a:rPr lang="en-US" sz="975" dirty="0">
                <a:solidFill>
                  <a:srgbClr val="8DA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975" dirty="0"/>
          </a:p>
        </p:txBody>
      </p:sp>
      <p:sp>
        <p:nvSpPr>
          <p:cNvPr id="24" name="Text 21"/>
          <p:cNvSpPr/>
          <p:nvPr/>
        </p:nvSpPr>
        <p:spPr>
          <a:xfrm>
            <a:off x="685692" y="6279600"/>
            <a:ext cx="1965505" cy="1593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spc="66" kern="0" dirty="0">
                <a:solidFill>
                  <a:srgbClr val="C4D0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RelojAPI · Dominican Watch Men</a:t>
            </a:r>
            <a:endParaRPr lang="en-US" sz="825" dirty="0"/>
          </a:p>
        </p:txBody>
      </p:sp>
      <p:sp>
        <p:nvSpPr>
          <p:cNvPr id="25" name="Text 22"/>
          <p:cNvSpPr/>
          <p:nvPr/>
        </p:nvSpPr>
        <p:spPr>
          <a:xfrm>
            <a:off x="11127202" y="6279600"/>
            <a:ext cx="455306" cy="1593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66" kern="0" dirty="0">
                <a:solidFill>
                  <a:srgbClr val="8DA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25</a:t>
            </a:r>
            <a:endParaRPr lang="en-US" sz="825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13357"/>
          </a:solidFill>
          <a:ln/>
        </p:spPr>
      </p:sp>
      <p:sp>
        <p:nvSpPr>
          <p:cNvPr id="3" name="Shape 1"/>
          <p:cNvSpPr/>
          <p:nvPr/>
        </p:nvSpPr>
        <p:spPr>
          <a:xfrm>
            <a:off x="685692" y="514269"/>
            <a:ext cx="285750" cy="285750"/>
          </a:xfrm>
          <a:prstGeom prst="roundRect">
            <a:avLst>
              <a:gd name="adj" fmla="val 26667"/>
            </a:avLst>
          </a:prstGeom>
          <a:solidFill>
            <a:srgbClr val="4FC3F7">
              <a:alpha val="12000"/>
            </a:srgbClr>
          </a:solidFill>
          <a:ln w="8659">
            <a:solidFill>
              <a:srgbClr val="314363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7658" y="576235"/>
            <a:ext cx="161817" cy="16181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76163" y="592201"/>
            <a:ext cx="1447989" cy="1679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b="1" spc="169" kern="0" dirty="0">
                <a:solidFill>
                  <a:srgbClr val="4FC3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ENDPOINTS CRUD</a:t>
            </a:r>
            <a:endParaRPr lang="en-US" sz="938" dirty="0"/>
          </a:p>
        </p:txBody>
      </p:sp>
      <p:sp>
        <p:nvSpPr>
          <p:cNvPr id="6" name="Text 3"/>
          <p:cNvSpPr/>
          <p:nvPr/>
        </p:nvSpPr>
        <p:spPr>
          <a:xfrm>
            <a:off x="11029381" y="596530"/>
            <a:ext cx="553126" cy="1593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41" kern="0" dirty="0">
                <a:solidFill>
                  <a:srgbClr val="8DA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 / 25</a:t>
            </a:r>
            <a:endParaRPr lang="en-US" sz="825" dirty="0"/>
          </a:p>
        </p:txBody>
      </p:sp>
      <p:sp>
        <p:nvSpPr>
          <p:cNvPr id="7" name="Text 4"/>
          <p:cNvSpPr/>
          <p:nvPr/>
        </p:nvSpPr>
        <p:spPr>
          <a:xfrm>
            <a:off x="685692" y="971442"/>
            <a:ext cx="11145235" cy="4361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850" b="1" spc="-29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CRUD: </a:t>
            </a:r>
            <a:pPr algn="l" indent="0" marL="0">
              <a:lnSpc>
                <a:spcPct val="110000"/>
              </a:lnSpc>
              <a:buNone/>
            </a:pPr>
            <a:r>
              <a:rPr lang="en-US" sz="2100" b="1" spc="-29" kern="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RelojController </a:t>
            </a:r>
            <a:pPr algn="l" indent="0" marL="0">
              <a:lnSpc>
                <a:spcPct val="110000"/>
              </a:lnSpc>
              <a:buNone/>
            </a:pPr>
            <a:r>
              <a:rPr lang="en-US" sz="2850" b="1" spc="-29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</a:t>
            </a:r>
            <a:pPr algn="l" indent="0" marL="0">
              <a:lnSpc>
                <a:spcPct val="110000"/>
              </a:lnSpc>
              <a:buNone/>
            </a:pPr>
            <a:r>
              <a:rPr lang="en-US" sz="2100" b="1" spc="-29" kern="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MarcaController</a:t>
            </a:r>
            <a:endParaRPr lang="en-US" sz="2850" dirty="0"/>
          </a:p>
        </p:txBody>
      </p:sp>
      <p:sp>
        <p:nvSpPr>
          <p:cNvPr id="8" name="Shape 5"/>
          <p:cNvSpPr/>
          <p:nvPr/>
        </p:nvSpPr>
        <p:spPr>
          <a:xfrm>
            <a:off x="685692" y="1559854"/>
            <a:ext cx="438096" cy="28548"/>
          </a:xfrm>
          <a:prstGeom prst="roundRect">
            <a:avLst>
              <a:gd name="adj" fmla="val 50000"/>
            </a:avLst>
          </a:prstGeom>
          <a:solidFill>
            <a:srgbClr val="4FC3F7"/>
          </a:solidFill>
          <a:ln/>
        </p:spPr>
      </p:sp>
      <p:sp>
        <p:nvSpPr>
          <p:cNvPr id="9" name="Shape 6"/>
          <p:cNvSpPr/>
          <p:nvPr/>
        </p:nvSpPr>
        <p:spPr>
          <a:xfrm>
            <a:off x="685692" y="1798040"/>
            <a:ext cx="10820616" cy="3002540"/>
          </a:xfrm>
          <a:prstGeom prst="roundRect">
            <a:avLst>
              <a:gd name="adj" fmla="val 3807"/>
            </a:avLst>
          </a:prstGeom>
          <a:ln w="8659">
            <a:solidFill>
              <a:srgbClr val="314363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90021" y="1802370"/>
            <a:ext cx="1513582" cy="413742"/>
          </a:xfrm>
          <a:prstGeom prst="rect">
            <a:avLst/>
          </a:prstGeom>
          <a:solidFill>
            <a:srgbClr val="15203A"/>
          </a:solidFill>
          <a:ln/>
        </p:spPr>
      </p:sp>
      <p:sp>
        <p:nvSpPr>
          <p:cNvPr id="11" name="Shape 8"/>
          <p:cNvSpPr/>
          <p:nvPr/>
        </p:nvSpPr>
        <p:spPr>
          <a:xfrm>
            <a:off x="690021" y="2207453"/>
            <a:ext cx="1513582" cy="9525"/>
          </a:xfrm>
          <a:prstGeom prst="rect">
            <a:avLst/>
          </a:prstGeom>
          <a:solidFill>
            <a:srgbClr val="314363"/>
          </a:solidFill>
          <a:ln/>
        </p:spPr>
      </p:sp>
      <p:sp>
        <p:nvSpPr>
          <p:cNvPr id="12" name="Text 9"/>
          <p:cNvSpPr/>
          <p:nvPr/>
        </p:nvSpPr>
        <p:spPr>
          <a:xfrm>
            <a:off x="861471" y="1935720"/>
            <a:ext cx="1246882" cy="1764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75" b="1" spc="39" kern="0" dirty="0">
                <a:solidFill>
                  <a:srgbClr val="4FC3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MÉTODO</a:t>
            </a:r>
            <a:endParaRPr lang="en-US" sz="975" dirty="0"/>
          </a:p>
        </p:txBody>
      </p:sp>
      <p:sp>
        <p:nvSpPr>
          <p:cNvPr id="13" name="Shape 10"/>
          <p:cNvSpPr/>
          <p:nvPr/>
        </p:nvSpPr>
        <p:spPr>
          <a:xfrm>
            <a:off x="2203603" y="1802370"/>
            <a:ext cx="3243506" cy="413742"/>
          </a:xfrm>
          <a:prstGeom prst="rect">
            <a:avLst/>
          </a:prstGeom>
          <a:solidFill>
            <a:srgbClr val="15203A"/>
          </a:solidFill>
          <a:ln/>
        </p:spPr>
      </p:sp>
      <p:sp>
        <p:nvSpPr>
          <p:cNvPr id="14" name="Shape 11"/>
          <p:cNvSpPr/>
          <p:nvPr/>
        </p:nvSpPr>
        <p:spPr>
          <a:xfrm>
            <a:off x="2203603" y="2207453"/>
            <a:ext cx="3243506" cy="9525"/>
          </a:xfrm>
          <a:prstGeom prst="rect">
            <a:avLst/>
          </a:prstGeom>
          <a:solidFill>
            <a:srgbClr val="314363"/>
          </a:solidFill>
          <a:ln/>
        </p:spPr>
      </p:sp>
      <p:sp>
        <p:nvSpPr>
          <p:cNvPr id="15" name="Text 12"/>
          <p:cNvSpPr/>
          <p:nvPr/>
        </p:nvSpPr>
        <p:spPr>
          <a:xfrm>
            <a:off x="2375053" y="1935720"/>
            <a:ext cx="2997911" cy="1764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75" b="1" spc="39" kern="0" dirty="0">
                <a:solidFill>
                  <a:srgbClr val="4FC3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RUTA</a:t>
            </a:r>
            <a:endParaRPr lang="en-US" sz="975" dirty="0"/>
          </a:p>
        </p:txBody>
      </p:sp>
      <p:sp>
        <p:nvSpPr>
          <p:cNvPr id="16" name="Shape 13"/>
          <p:cNvSpPr/>
          <p:nvPr/>
        </p:nvSpPr>
        <p:spPr>
          <a:xfrm>
            <a:off x="5447109" y="1802370"/>
            <a:ext cx="6054869" cy="413742"/>
          </a:xfrm>
          <a:prstGeom prst="rect">
            <a:avLst/>
          </a:prstGeom>
          <a:solidFill>
            <a:srgbClr val="15203A"/>
          </a:solidFill>
          <a:ln/>
        </p:spPr>
      </p:sp>
      <p:sp>
        <p:nvSpPr>
          <p:cNvPr id="17" name="Shape 14"/>
          <p:cNvSpPr/>
          <p:nvPr/>
        </p:nvSpPr>
        <p:spPr>
          <a:xfrm>
            <a:off x="5447109" y="2207453"/>
            <a:ext cx="6054869" cy="9525"/>
          </a:xfrm>
          <a:prstGeom prst="rect">
            <a:avLst/>
          </a:prstGeom>
          <a:solidFill>
            <a:srgbClr val="314363"/>
          </a:solidFill>
          <a:ln/>
        </p:spPr>
      </p:sp>
      <p:sp>
        <p:nvSpPr>
          <p:cNvPr id="18" name="Text 15"/>
          <p:cNvSpPr/>
          <p:nvPr/>
        </p:nvSpPr>
        <p:spPr>
          <a:xfrm>
            <a:off x="5618559" y="1935720"/>
            <a:ext cx="5893615" cy="1764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75" b="1" spc="39" kern="0" dirty="0">
                <a:solidFill>
                  <a:srgbClr val="4FC3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ACCIÓN</a:t>
            </a:r>
            <a:endParaRPr lang="en-US" sz="975" dirty="0"/>
          </a:p>
        </p:txBody>
      </p:sp>
      <p:sp>
        <p:nvSpPr>
          <p:cNvPr id="19" name="Shape 16"/>
          <p:cNvSpPr/>
          <p:nvPr/>
        </p:nvSpPr>
        <p:spPr>
          <a:xfrm>
            <a:off x="690021" y="2723481"/>
            <a:ext cx="1513582" cy="9525"/>
          </a:xfrm>
          <a:prstGeom prst="rect">
            <a:avLst/>
          </a:prstGeom>
          <a:solidFill>
            <a:srgbClr val="314363"/>
          </a:solidFill>
          <a:ln/>
        </p:spPr>
      </p:sp>
      <p:sp>
        <p:nvSpPr>
          <p:cNvPr id="20" name="Shape 17"/>
          <p:cNvSpPr/>
          <p:nvPr/>
        </p:nvSpPr>
        <p:spPr>
          <a:xfrm>
            <a:off x="865774" y="2363317"/>
            <a:ext cx="394259" cy="221619"/>
          </a:xfrm>
          <a:prstGeom prst="roundRect">
            <a:avLst>
              <a:gd name="adj" fmla="val 25788"/>
            </a:avLst>
          </a:prstGeom>
          <a:solidFill>
            <a:srgbClr val="7EE787">
              <a:alpha val="16000"/>
            </a:srgbClr>
          </a:solidFill>
          <a:ln/>
        </p:spPr>
      </p:sp>
      <p:sp>
        <p:nvSpPr>
          <p:cNvPr id="21" name="Text 18"/>
          <p:cNvSpPr/>
          <p:nvPr/>
        </p:nvSpPr>
        <p:spPr>
          <a:xfrm>
            <a:off x="951499" y="2391892"/>
            <a:ext cx="299009" cy="2025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</a:t>
            </a:r>
            <a:endParaRPr lang="en-US" sz="975" dirty="0"/>
          </a:p>
        </p:txBody>
      </p:sp>
      <p:sp>
        <p:nvSpPr>
          <p:cNvPr id="22" name="Shape 19"/>
          <p:cNvSpPr/>
          <p:nvPr/>
        </p:nvSpPr>
        <p:spPr>
          <a:xfrm>
            <a:off x="2203603" y="2723481"/>
            <a:ext cx="3243506" cy="9525"/>
          </a:xfrm>
          <a:prstGeom prst="rect">
            <a:avLst/>
          </a:prstGeom>
          <a:solidFill>
            <a:srgbClr val="314363"/>
          </a:solidFill>
          <a:ln/>
        </p:spPr>
      </p:sp>
      <p:sp>
        <p:nvSpPr>
          <p:cNvPr id="23" name="Text 20"/>
          <p:cNvSpPr/>
          <p:nvPr/>
        </p:nvSpPr>
        <p:spPr>
          <a:xfrm>
            <a:off x="2375053" y="2358987"/>
            <a:ext cx="2997911" cy="2597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C4D0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/api/reloj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5447109" y="2723481"/>
            <a:ext cx="6054869" cy="9525"/>
          </a:xfrm>
          <a:prstGeom prst="rect">
            <a:avLst/>
          </a:prstGeom>
          <a:solidFill>
            <a:srgbClr val="314363"/>
          </a:solidFill>
          <a:ln/>
        </p:spPr>
      </p:sp>
      <p:sp>
        <p:nvSpPr>
          <p:cNvPr id="25" name="Text 22"/>
          <p:cNvSpPr/>
          <p:nvPr/>
        </p:nvSpPr>
        <p:spPr>
          <a:xfrm>
            <a:off x="5618559" y="2358987"/>
            <a:ext cx="5893615" cy="2597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C4D0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Lista todos los relojes (con su Marca)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690021" y="2732140"/>
            <a:ext cx="1513582" cy="516028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27" name="Shape 24"/>
          <p:cNvSpPr/>
          <p:nvPr/>
        </p:nvSpPr>
        <p:spPr>
          <a:xfrm>
            <a:off x="690021" y="3239508"/>
            <a:ext cx="1513582" cy="9525"/>
          </a:xfrm>
          <a:prstGeom prst="rect">
            <a:avLst/>
          </a:prstGeom>
          <a:solidFill>
            <a:srgbClr val="314363"/>
          </a:solidFill>
          <a:ln/>
        </p:spPr>
      </p:sp>
      <p:sp>
        <p:nvSpPr>
          <p:cNvPr id="28" name="Shape 25"/>
          <p:cNvSpPr/>
          <p:nvPr/>
        </p:nvSpPr>
        <p:spPr>
          <a:xfrm>
            <a:off x="865774" y="2879344"/>
            <a:ext cx="394259" cy="221619"/>
          </a:xfrm>
          <a:prstGeom prst="roundRect">
            <a:avLst>
              <a:gd name="adj" fmla="val 25788"/>
            </a:avLst>
          </a:prstGeom>
          <a:solidFill>
            <a:srgbClr val="7EE787">
              <a:alpha val="16000"/>
            </a:srgbClr>
          </a:solidFill>
          <a:ln/>
        </p:spPr>
      </p:sp>
      <p:sp>
        <p:nvSpPr>
          <p:cNvPr id="29" name="Text 26"/>
          <p:cNvSpPr/>
          <p:nvPr/>
        </p:nvSpPr>
        <p:spPr>
          <a:xfrm>
            <a:off x="951499" y="2907919"/>
            <a:ext cx="299009" cy="2025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</a:t>
            </a:r>
            <a:endParaRPr lang="en-US" sz="975" dirty="0"/>
          </a:p>
        </p:txBody>
      </p:sp>
      <p:sp>
        <p:nvSpPr>
          <p:cNvPr id="30" name="Shape 27"/>
          <p:cNvSpPr/>
          <p:nvPr/>
        </p:nvSpPr>
        <p:spPr>
          <a:xfrm>
            <a:off x="2203603" y="2732140"/>
            <a:ext cx="3243506" cy="516028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31" name="Shape 28"/>
          <p:cNvSpPr/>
          <p:nvPr/>
        </p:nvSpPr>
        <p:spPr>
          <a:xfrm>
            <a:off x="2203603" y="3239508"/>
            <a:ext cx="3243506" cy="9525"/>
          </a:xfrm>
          <a:prstGeom prst="rect">
            <a:avLst/>
          </a:prstGeom>
          <a:solidFill>
            <a:srgbClr val="314363"/>
          </a:solidFill>
          <a:ln/>
        </p:spPr>
      </p:sp>
      <p:sp>
        <p:nvSpPr>
          <p:cNvPr id="32" name="Text 29"/>
          <p:cNvSpPr/>
          <p:nvPr/>
        </p:nvSpPr>
        <p:spPr>
          <a:xfrm>
            <a:off x="2375053" y="2875015"/>
            <a:ext cx="2997911" cy="2597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C4D0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/api/reloj/{id}</a:t>
            </a:r>
            <a:endParaRPr lang="en-US" sz="1200" dirty="0"/>
          </a:p>
        </p:txBody>
      </p:sp>
      <p:sp>
        <p:nvSpPr>
          <p:cNvPr id="33" name="Shape 30"/>
          <p:cNvSpPr/>
          <p:nvPr/>
        </p:nvSpPr>
        <p:spPr>
          <a:xfrm>
            <a:off x="5447109" y="2732140"/>
            <a:ext cx="6054869" cy="516028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34" name="Shape 31"/>
          <p:cNvSpPr/>
          <p:nvPr/>
        </p:nvSpPr>
        <p:spPr>
          <a:xfrm>
            <a:off x="5447109" y="3239508"/>
            <a:ext cx="6054869" cy="9525"/>
          </a:xfrm>
          <a:prstGeom prst="rect">
            <a:avLst/>
          </a:prstGeom>
          <a:solidFill>
            <a:srgbClr val="314363"/>
          </a:solidFill>
          <a:ln/>
        </p:spPr>
      </p:sp>
      <p:sp>
        <p:nvSpPr>
          <p:cNvPr id="35" name="Text 32"/>
          <p:cNvSpPr/>
          <p:nvPr/>
        </p:nvSpPr>
        <p:spPr>
          <a:xfrm>
            <a:off x="5618559" y="2875015"/>
            <a:ext cx="5893615" cy="2597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C4D0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Obtiene uno por ID</a:t>
            </a:r>
            <a:endParaRPr lang="en-US" sz="1200" dirty="0"/>
          </a:p>
        </p:txBody>
      </p:sp>
      <p:sp>
        <p:nvSpPr>
          <p:cNvPr id="36" name="Shape 33"/>
          <p:cNvSpPr/>
          <p:nvPr/>
        </p:nvSpPr>
        <p:spPr>
          <a:xfrm>
            <a:off x="690021" y="3755536"/>
            <a:ext cx="1513582" cy="9525"/>
          </a:xfrm>
          <a:prstGeom prst="rect">
            <a:avLst/>
          </a:prstGeom>
          <a:solidFill>
            <a:srgbClr val="314363"/>
          </a:solidFill>
          <a:ln/>
        </p:spPr>
      </p:sp>
      <p:sp>
        <p:nvSpPr>
          <p:cNvPr id="37" name="Shape 34"/>
          <p:cNvSpPr/>
          <p:nvPr/>
        </p:nvSpPr>
        <p:spPr>
          <a:xfrm>
            <a:off x="865774" y="3395372"/>
            <a:ext cx="468538" cy="221619"/>
          </a:xfrm>
          <a:prstGeom prst="roundRect">
            <a:avLst>
              <a:gd name="adj" fmla="val 25788"/>
            </a:avLst>
          </a:prstGeom>
          <a:solidFill>
            <a:srgbClr val="4FC3F7">
              <a:alpha val="16000"/>
            </a:srgbClr>
          </a:solidFill>
          <a:ln/>
        </p:spPr>
      </p:sp>
      <p:sp>
        <p:nvSpPr>
          <p:cNvPr id="38" name="Text 35"/>
          <p:cNvSpPr/>
          <p:nvPr/>
        </p:nvSpPr>
        <p:spPr>
          <a:xfrm>
            <a:off x="951499" y="3423947"/>
            <a:ext cx="373288" cy="2025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</a:t>
            </a:r>
            <a:endParaRPr lang="en-US" sz="975" dirty="0"/>
          </a:p>
        </p:txBody>
      </p:sp>
      <p:sp>
        <p:nvSpPr>
          <p:cNvPr id="39" name="Shape 36"/>
          <p:cNvSpPr/>
          <p:nvPr/>
        </p:nvSpPr>
        <p:spPr>
          <a:xfrm>
            <a:off x="2203603" y="3755536"/>
            <a:ext cx="3243506" cy="9525"/>
          </a:xfrm>
          <a:prstGeom prst="rect">
            <a:avLst/>
          </a:prstGeom>
          <a:solidFill>
            <a:srgbClr val="314363"/>
          </a:solidFill>
          <a:ln/>
        </p:spPr>
      </p:sp>
      <p:sp>
        <p:nvSpPr>
          <p:cNvPr id="40" name="Text 37"/>
          <p:cNvSpPr/>
          <p:nvPr/>
        </p:nvSpPr>
        <p:spPr>
          <a:xfrm>
            <a:off x="2375053" y="3391042"/>
            <a:ext cx="2997911" cy="2597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C4D0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/api/reloj</a:t>
            </a:r>
            <a:endParaRPr lang="en-US" sz="1200" dirty="0"/>
          </a:p>
        </p:txBody>
      </p:sp>
      <p:sp>
        <p:nvSpPr>
          <p:cNvPr id="41" name="Shape 38"/>
          <p:cNvSpPr/>
          <p:nvPr/>
        </p:nvSpPr>
        <p:spPr>
          <a:xfrm>
            <a:off x="5447109" y="3755536"/>
            <a:ext cx="6054869" cy="9525"/>
          </a:xfrm>
          <a:prstGeom prst="rect">
            <a:avLst/>
          </a:prstGeom>
          <a:solidFill>
            <a:srgbClr val="314363"/>
          </a:solidFill>
          <a:ln/>
        </p:spPr>
      </p:sp>
      <p:sp>
        <p:nvSpPr>
          <p:cNvPr id="42" name="Text 39"/>
          <p:cNvSpPr/>
          <p:nvPr/>
        </p:nvSpPr>
        <p:spPr>
          <a:xfrm>
            <a:off x="5618559" y="3391042"/>
            <a:ext cx="5893615" cy="2597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C4D0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 nuevo reloj</a:t>
            </a:r>
            <a:endParaRPr lang="en-US" sz="1200" dirty="0"/>
          </a:p>
        </p:txBody>
      </p:sp>
      <p:sp>
        <p:nvSpPr>
          <p:cNvPr id="43" name="Shape 40"/>
          <p:cNvSpPr/>
          <p:nvPr/>
        </p:nvSpPr>
        <p:spPr>
          <a:xfrm>
            <a:off x="690021" y="3764195"/>
            <a:ext cx="1513582" cy="516028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44" name="Shape 41"/>
          <p:cNvSpPr/>
          <p:nvPr/>
        </p:nvSpPr>
        <p:spPr>
          <a:xfrm>
            <a:off x="690021" y="4271564"/>
            <a:ext cx="1513582" cy="9525"/>
          </a:xfrm>
          <a:prstGeom prst="rect">
            <a:avLst/>
          </a:prstGeom>
          <a:solidFill>
            <a:srgbClr val="314363"/>
          </a:solidFill>
          <a:ln/>
        </p:spPr>
      </p:sp>
      <p:sp>
        <p:nvSpPr>
          <p:cNvPr id="45" name="Shape 42"/>
          <p:cNvSpPr/>
          <p:nvPr/>
        </p:nvSpPr>
        <p:spPr>
          <a:xfrm>
            <a:off x="865774" y="3911400"/>
            <a:ext cx="394259" cy="221619"/>
          </a:xfrm>
          <a:prstGeom prst="roundRect">
            <a:avLst>
              <a:gd name="adj" fmla="val 25788"/>
            </a:avLst>
          </a:prstGeom>
          <a:solidFill>
            <a:srgbClr val="FFD479">
              <a:alpha val="16000"/>
            </a:srgbClr>
          </a:solidFill>
          <a:ln/>
        </p:spPr>
      </p:sp>
      <p:sp>
        <p:nvSpPr>
          <p:cNvPr id="46" name="Text 43"/>
          <p:cNvSpPr/>
          <p:nvPr/>
        </p:nvSpPr>
        <p:spPr>
          <a:xfrm>
            <a:off x="951499" y="3939975"/>
            <a:ext cx="299009" cy="2025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FFD4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PUT</a:t>
            </a:r>
            <a:endParaRPr lang="en-US" sz="975" dirty="0"/>
          </a:p>
        </p:txBody>
      </p:sp>
      <p:sp>
        <p:nvSpPr>
          <p:cNvPr id="47" name="Shape 44"/>
          <p:cNvSpPr/>
          <p:nvPr/>
        </p:nvSpPr>
        <p:spPr>
          <a:xfrm>
            <a:off x="2203603" y="3764195"/>
            <a:ext cx="3243506" cy="516028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48" name="Shape 45"/>
          <p:cNvSpPr/>
          <p:nvPr/>
        </p:nvSpPr>
        <p:spPr>
          <a:xfrm>
            <a:off x="2203603" y="4271564"/>
            <a:ext cx="3243506" cy="9525"/>
          </a:xfrm>
          <a:prstGeom prst="rect">
            <a:avLst/>
          </a:prstGeom>
          <a:solidFill>
            <a:srgbClr val="314363"/>
          </a:solidFill>
          <a:ln/>
        </p:spPr>
      </p:sp>
      <p:sp>
        <p:nvSpPr>
          <p:cNvPr id="49" name="Text 46"/>
          <p:cNvSpPr/>
          <p:nvPr/>
        </p:nvSpPr>
        <p:spPr>
          <a:xfrm>
            <a:off x="2375053" y="3907070"/>
            <a:ext cx="2997911" cy="2597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C4D0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/api/reloj/{id}</a:t>
            </a:r>
            <a:endParaRPr lang="en-US" sz="1200" dirty="0"/>
          </a:p>
        </p:txBody>
      </p:sp>
      <p:sp>
        <p:nvSpPr>
          <p:cNvPr id="50" name="Shape 47"/>
          <p:cNvSpPr/>
          <p:nvPr/>
        </p:nvSpPr>
        <p:spPr>
          <a:xfrm>
            <a:off x="5447109" y="3764195"/>
            <a:ext cx="6054869" cy="516028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51" name="Shape 48"/>
          <p:cNvSpPr/>
          <p:nvPr/>
        </p:nvSpPr>
        <p:spPr>
          <a:xfrm>
            <a:off x="5447109" y="4271564"/>
            <a:ext cx="6054869" cy="9525"/>
          </a:xfrm>
          <a:prstGeom prst="rect">
            <a:avLst/>
          </a:prstGeom>
          <a:solidFill>
            <a:srgbClr val="314363"/>
          </a:solidFill>
          <a:ln/>
        </p:spPr>
      </p:sp>
      <p:sp>
        <p:nvSpPr>
          <p:cNvPr id="52" name="Text 49"/>
          <p:cNvSpPr/>
          <p:nvPr/>
        </p:nvSpPr>
        <p:spPr>
          <a:xfrm>
            <a:off x="5618559" y="3907070"/>
            <a:ext cx="5893615" cy="2597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C4D0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Actualiza reloj existente</a:t>
            </a:r>
            <a:endParaRPr lang="en-US" sz="1200" dirty="0"/>
          </a:p>
        </p:txBody>
      </p:sp>
      <p:sp>
        <p:nvSpPr>
          <p:cNvPr id="53" name="Shape 50"/>
          <p:cNvSpPr/>
          <p:nvPr/>
        </p:nvSpPr>
        <p:spPr>
          <a:xfrm>
            <a:off x="865774" y="4427427"/>
            <a:ext cx="617095" cy="221619"/>
          </a:xfrm>
          <a:prstGeom prst="roundRect">
            <a:avLst>
              <a:gd name="adj" fmla="val 25788"/>
            </a:avLst>
          </a:prstGeom>
          <a:solidFill>
            <a:srgbClr val="FF9A9A">
              <a:alpha val="16000"/>
            </a:srgbClr>
          </a:solidFill>
          <a:ln/>
        </p:spPr>
      </p:sp>
      <p:sp>
        <p:nvSpPr>
          <p:cNvPr id="54" name="Text 51"/>
          <p:cNvSpPr/>
          <p:nvPr/>
        </p:nvSpPr>
        <p:spPr>
          <a:xfrm>
            <a:off x="951499" y="4456002"/>
            <a:ext cx="521845" cy="2025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FF9A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</a:t>
            </a:r>
            <a:endParaRPr lang="en-US" sz="975" dirty="0"/>
          </a:p>
        </p:txBody>
      </p:sp>
      <p:sp>
        <p:nvSpPr>
          <p:cNvPr id="55" name="Text 52"/>
          <p:cNvSpPr/>
          <p:nvPr/>
        </p:nvSpPr>
        <p:spPr>
          <a:xfrm>
            <a:off x="2375053" y="4423098"/>
            <a:ext cx="2997911" cy="2683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C4D0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/api/reloj/{id}</a:t>
            </a:r>
            <a:endParaRPr lang="en-US" sz="1200" dirty="0"/>
          </a:p>
        </p:txBody>
      </p:sp>
      <p:sp>
        <p:nvSpPr>
          <p:cNvPr id="56" name="Text 53"/>
          <p:cNvSpPr/>
          <p:nvPr/>
        </p:nvSpPr>
        <p:spPr>
          <a:xfrm>
            <a:off x="5618559" y="4423098"/>
            <a:ext cx="5893615" cy="2683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C4D0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Elimina reloj</a:t>
            </a:r>
            <a:endParaRPr lang="en-US" sz="1200" dirty="0"/>
          </a:p>
        </p:txBody>
      </p:sp>
      <p:pic>
        <p:nvPicPr>
          <p:cNvPr id="5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692" y="4933652"/>
            <a:ext cx="152346" cy="152346"/>
          </a:xfrm>
          <a:prstGeom prst="rect">
            <a:avLst/>
          </a:prstGeom>
        </p:spPr>
      </p:pic>
      <p:sp>
        <p:nvSpPr>
          <p:cNvPr id="58" name="Text 54"/>
          <p:cNvSpPr/>
          <p:nvPr/>
        </p:nvSpPr>
        <p:spPr>
          <a:xfrm>
            <a:off x="933288" y="4940553"/>
            <a:ext cx="2520770" cy="1766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13" dirty="0">
                <a:solidFill>
                  <a:srgbClr val="8DA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mismo conjunto de operaciones aplica a</a:t>
            </a:r>
            <a:endParaRPr lang="en-US" sz="1013" dirty="0"/>
          </a:p>
        </p:txBody>
      </p:sp>
      <p:sp>
        <p:nvSpPr>
          <p:cNvPr id="59" name="Text 55"/>
          <p:cNvSpPr/>
          <p:nvPr/>
        </p:nvSpPr>
        <p:spPr>
          <a:xfrm>
            <a:off x="3473107" y="4940553"/>
            <a:ext cx="712373" cy="1766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13" b="1" dirty="0">
                <a:solidFill>
                  <a:srgbClr val="C4D0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/api/marca</a:t>
            </a:r>
            <a:endParaRPr lang="en-US" sz="1013" dirty="0"/>
          </a:p>
        </p:txBody>
      </p:sp>
      <p:sp>
        <p:nvSpPr>
          <p:cNvPr id="60" name="Text 56"/>
          <p:cNvSpPr/>
          <p:nvPr/>
        </p:nvSpPr>
        <p:spPr>
          <a:xfrm>
            <a:off x="4204530" y="4940553"/>
            <a:ext cx="112054" cy="1766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13" dirty="0">
                <a:solidFill>
                  <a:srgbClr val="8DA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013" dirty="0"/>
          </a:p>
        </p:txBody>
      </p:sp>
      <p:sp>
        <p:nvSpPr>
          <p:cNvPr id="61" name="Text 57"/>
          <p:cNvSpPr/>
          <p:nvPr/>
        </p:nvSpPr>
        <p:spPr>
          <a:xfrm>
            <a:off x="685692" y="6279600"/>
            <a:ext cx="1965505" cy="1593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spc="66" kern="0" dirty="0">
                <a:solidFill>
                  <a:srgbClr val="C4D0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RelojAPI · Dominican Watch Men</a:t>
            </a:r>
            <a:endParaRPr lang="en-US" sz="825" dirty="0"/>
          </a:p>
        </p:txBody>
      </p:sp>
      <p:sp>
        <p:nvSpPr>
          <p:cNvPr id="62" name="Text 58"/>
          <p:cNvSpPr/>
          <p:nvPr/>
        </p:nvSpPr>
        <p:spPr>
          <a:xfrm>
            <a:off x="11127202" y="6279600"/>
            <a:ext cx="455306" cy="1593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66" kern="0" dirty="0">
                <a:solidFill>
                  <a:srgbClr val="8DA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/ 25</a:t>
            </a:r>
            <a:endParaRPr lang="en-US" sz="825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13357"/>
          </a:solidFill>
          <a:ln/>
        </p:spPr>
      </p:sp>
      <p:sp>
        <p:nvSpPr>
          <p:cNvPr id="3" name="Shape 1"/>
          <p:cNvSpPr/>
          <p:nvPr/>
        </p:nvSpPr>
        <p:spPr>
          <a:xfrm>
            <a:off x="685692" y="514269"/>
            <a:ext cx="285750" cy="285750"/>
          </a:xfrm>
          <a:prstGeom prst="roundRect">
            <a:avLst>
              <a:gd name="adj" fmla="val 26667"/>
            </a:avLst>
          </a:prstGeom>
          <a:solidFill>
            <a:srgbClr val="4FC3F7">
              <a:alpha val="12000"/>
            </a:srgbClr>
          </a:solidFill>
          <a:ln w="8659">
            <a:solidFill>
              <a:srgbClr val="314363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7658" y="576235"/>
            <a:ext cx="161817" cy="16181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76163" y="592201"/>
            <a:ext cx="1816407" cy="1679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b="1" spc="169" kern="0" dirty="0">
                <a:solidFill>
                  <a:srgbClr val="4FC3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USUARIOCONTROLLER</a:t>
            </a:r>
            <a:endParaRPr lang="en-US" sz="938" dirty="0"/>
          </a:p>
        </p:txBody>
      </p:sp>
      <p:sp>
        <p:nvSpPr>
          <p:cNvPr id="6" name="Text 3"/>
          <p:cNvSpPr/>
          <p:nvPr/>
        </p:nvSpPr>
        <p:spPr>
          <a:xfrm>
            <a:off x="11029381" y="596530"/>
            <a:ext cx="553126" cy="1593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41" kern="0" dirty="0">
                <a:solidFill>
                  <a:srgbClr val="8DA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 / 25</a:t>
            </a:r>
            <a:endParaRPr lang="en-US" sz="825" dirty="0"/>
          </a:p>
        </p:txBody>
      </p:sp>
      <p:sp>
        <p:nvSpPr>
          <p:cNvPr id="7" name="Text 4"/>
          <p:cNvSpPr/>
          <p:nvPr/>
        </p:nvSpPr>
        <p:spPr>
          <a:xfrm>
            <a:off x="685692" y="971442"/>
            <a:ext cx="11145235" cy="4361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850" b="1" spc="-29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Autenticación con hash SHA256</a:t>
            </a:r>
            <a:endParaRPr lang="en-US" sz="2850" dirty="0"/>
          </a:p>
        </p:txBody>
      </p:sp>
      <p:sp>
        <p:nvSpPr>
          <p:cNvPr id="8" name="Shape 5"/>
          <p:cNvSpPr/>
          <p:nvPr/>
        </p:nvSpPr>
        <p:spPr>
          <a:xfrm>
            <a:off x="685692" y="1559854"/>
            <a:ext cx="438096" cy="28548"/>
          </a:xfrm>
          <a:prstGeom prst="roundRect">
            <a:avLst>
              <a:gd name="adj" fmla="val 50000"/>
            </a:avLst>
          </a:prstGeom>
          <a:solidFill>
            <a:srgbClr val="4FC3F7"/>
          </a:solidFill>
          <a:ln/>
        </p:spPr>
      </p:sp>
      <p:sp>
        <p:nvSpPr>
          <p:cNvPr id="9" name="Shape 6"/>
          <p:cNvSpPr/>
          <p:nvPr/>
        </p:nvSpPr>
        <p:spPr>
          <a:xfrm>
            <a:off x="685692" y="2546314"/>
            <a:ext cx="6609051" cy="2813393"/>
          </a:xfrm>
          <a:prstGeom prst="roundRect">
            <a:avLst>
              <a:gd name="adj" fmla="val 4401"/>
            </a:avLst>
          </a:prstGeom>
          <a:solidFill>
            <a:srgbClr val="0A0E18"/>
          </a:solidFill>
          <a:ln w="8659">
            <a:solidFill>
              <a:srgbClr val="1C2C49"/>
            </a:solidFill>
            <a:prstDash val="solid"/>
          </a:ln>
          <a:effectLst>
            <a:outerShdw sx="100000" sy="100000" kx="0" ky="0" algn="bl" rotWithShape="0" blurRad="381000" dist="171450" dir="5400000">
              <a:srgbClr val="000000">
                <a:alpha val="3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94351" y="2554973"/>
            <a:ext cx="6591733" cy="339328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694351" y="2885642"/>
            <a:ext cx="6591733" cy="9525"/>
          </a:xfrm>
          <a:prstGeom prst="rect">
            <a:avLst/>
          </a:prstGeom>
          <a:solidFill>
            <a:srgbClr val="1C2C49"/>
          </a:solidFill>
          <a:ln/>
        </p:spPr>
      </p:sp>
      <p:sp>
        <p:nvSpPr>
          <p:cNvPr id="12" name="Shape 9"/>
          <p:cNvSpPr/>
          <p:nvPr/>
        </p:nvSpPr>
        <p:spPr>
          <a:xfrm>
            <a:off x="837226" y="2672683"/>
            <a:ext cx="95250" cy="95250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3" name="Shape 10"/>
          <p:cNvSpPr/>
          <p:nvPr/>
        </p:nvSpPr>
        <p:spPr>
          <a:xfrm>
            <a:off x="999043" y="2672683"/>
            <a:ext cx="95250" cy="9525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4" name="Shape 11"/>
          <p:cNvSpPr/>
          <p:nvPr/>
        </p:nvSpPr>
        <p:spPr>
          <a:xfrm>
            <a:off x="1160859" y="2672683"/>
            <a:ext cx="95250" cy="9525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5" name="Text 12"/>
          <p:cNvSpPr/>
          <p:nvPr/>
        </p:nvSpPr>
        <p:spPr>
          <a:xfrm>
            <a:off x="1398849" y="2659694"/>
            <a:ext cx="1333798" cy="1593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8DA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UsuarioController.cs</a:t>
            </a:r>
            <a:endParaRPr lang="en-US" sz="825" dirty="0"/>
          </a:p>
        </p:txBody>
      </p:sp>
      <p:sp>
        <p:nvSpPr>
          <p:cNvPr id="16" name="Text 13"/>
          <p:cNvSpPr/>
          <p:nvPr/>
        </p:nvSpPr>
        <p:spPr>
          <a:xfrm>
            <a:off x="903901" y="3065751"/>
            <a:ext cx="6370385" cy="21519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85000"/>
              </a:lnSpc>
              <a:buNone/>
            </a:pPr>
            <a:r>
              <a:rPr lang="en-US" sz="1125" dirty="0">
                <a:solidFill>
                  <a:srgbClr val="5F72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POST /api/usuario/registro // POST /api/usuario/login </a:t>
            </a:r>
            <a:pPr algn="l" indent="0" marL="0">
              <a:lnSpc>
                <a:spcPct val="185000"/>
              </a:lnSpc>
              <a:buNone/>
            </a:pPr>
            <a:r>
              <a:rPr lang="en-US" sz="1125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 static string</a:t>
            </a:r>
            <a:pPr algn="l" indent="0" marL="0">
              <a:lnSpc>
                <a:spcPct val="185000"/>
              </a:lnSpc>
              <a:buNone/>
            </a:pPr>
            <a:r>
              <a:rPr lang="en-US" sz="1125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85000"/>
              </a:lnSpc>
              <a:buNone/>
            </a:pPr>
            <a:r>
              <a:rPr lang="en-US" sz="1125" dirty="0">
                <a:solidFill>
                  <a:srgbClr val="FFD4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HashPassword</a:t>
            </a:r>
            <a:pPr algn="l" indent="0" marL="0">
              <a:lnSpc>
                <a:spcPct val="185000"/>
              </a:lnSpc>
              <a:buNone/>
            </a:pPr>
            <a:r>
              <a:rPr lang="en-US" sz="1125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85000"/>
              </a:lnSpc>
              <a:buNone/>
            </a:pPr>
            <a:r>
              <a:rPr lang="en-US" sz="1125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 </a:t>
            </a:r>
            <a:pPr algn="l" indent="0" marL="0">
              <a:lnSpc>
                <a:spcPct val="185000"/>
              </a:lnSpc>
              <a:buNone/>
            </a:pPr>
            <a:r>
              <a:rPr lang="en-US" sz="1125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password) {</a:t>
            </a:r>
            <a:endParaRPr lang="en-US" sz="1125" dirty="0"/>
          </a:p>
          <a:p>
            <a:pPr algn="l" indent="0" marL="0">
              <a:lnSpc>
                <a:spcPct val="185000"/>
              </a:lnSpc>
              <a:buNone/>
            </a:pPr>
            <a:r>
              <a:rPr lang="en-US" sz="1125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</a:t>
            </a:r>
            <a:endParaRPr lang="en-US" sz="1125" dirty="0"/>
          </a:p>
          <a:p>
            <a:pPr algn="l" indent="0" marL="0">
              <a:lnSpc>
                <a:spcPct val="185000"/>
              </a:lnSpc>
              <a:buNone/>
            </a:pPr>
            <a:r>
              <a:rPr lang="en-US" sz="1125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</a:t>
            </a:r>
            <a:pPr algn="l" indent="0" marL="0">
              <a:lnSpc>
                <a:spcPct val="185000"/>
              </a:lnSpc>
              <a:buNone/>
            </a:pPr>
            <a:r>
              <a:rPr lang="en-US" sz="1125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bytes = </a:t>
            </a:r>
            <a:pPr algn="l" indent="0" marL="0">
              <a:lnSpc>
                <a:spcPct val="185000"/>
              </a:lnSpc>
              <a:buNone/>
            </a:pPr>
            <a:r>
              <a:rPr lang="en-US" sz="1125" dirty="0">
                <a:solidFill>
                  <a:srgbClr val="9EC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SHA256</a:t>
            </a:r>
            <a:pPr algn="l" indent="0" marL="0">
              <a:lnSpc>
                <a:spcPct val="185000"/>
              </a:lnSpc>
              <a:buNone/>
            </a:pPr>
            <a:r>
              <a:rPr lang="en-US" sz="1125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ct val="185000"/>
              </a:lnSpc>
              <a:buNone/>
            </a:pPr>
            <a:r>
              <a:rPr lang="en-US" sz="1125" dirty="0">
                <a:solidFill>
                  <a:srgbClr val="FFD4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HashData </a:t>
            </a:r>
            <a:pPr algn="l" indent="0" marL="0">
              <a:lnSpc>
                <a:spcPct val="185000"/>
              </a:lnSpc>
              <a:buNone/>
            </a:pPr>
            <a:r>
              <a:rPr lang="en-US" sz="1125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1125" dirty="0"/>
          </a:p>
          <a:p>
            <a:pPr algn="l" indent="0" marL="0">
              <a:lnSpc>
                <a:spcPct val="185000"/>
              </a:lnSpc>
              <a:buNone/>
            </a:pPr>
            <a:r>
              <a:rPr lang="en-US" sz="1125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</a:t>
            </a:r>
            <a:endParaRPr lang="en-US" sz="1125" dirty="0"/>
          </a:p>
          <a:p>
            <a:pPr algn="l" indent="0" marL="0">
              <a:lnSpc>
                <a:spcPct val="185000"/>
              </a:lnSpc>
              <a:buNone/>
            </a:pPr>
            <a:r>
              <a:rPr lang="en-US" sz="1125" dirty="0">
                <a:solidFill>
                  <a:srgbClr val="9EC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Encoding</a:t>
            </a:r>
            <a:pPr algn="l" indent="0" marL="0">
              <a:lnSpc>
                <a:spcPct val="185000"/>
              </a:lnSpc>
              <a:buNone/>
            </a:pPr>
            <a:r>
              <a:rPr lang="en-US" sz="1125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.UTF8.</a:t>
            </a:r>
            <a:pPr algn="l" indent="0" marL="0">
              <a:lnSpc>
                <a:spcPct val="185000"/>
              </a:lnSpc>
              <a:buNone/>
            </a:pPr>
            <a:r>
              <a:rPr lang="en-US" sz="1125" dirty="0">
                <a:solidFill>
                  <a:srgbClr val="FFD4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GetBytes </a:t>
            </a:r>
            <a:pPr algn="l" indent="0" marL="0">
              <a:lnSpc>
                <a:spcPct val="185000"/>
              </a:lnSpc>
              <a:buNone/>
            </a:pPr>
            <a:r>
              <a:rPr lang="en-US" sz="1125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(password));</a:t>
            </a:r>
            <a:endParaRPr lang="en-US" sz="1125" dirty="0"/>
          </a:p>
          <a:p>
            <a:pPr algn="l" indent="0" marL="0">
              <a:lnSpc>
                <a:spcPct val="185000"/>
              </a:lnSpc>
              <a:buNone/>
            </a:pPr>
            <a:r>
              <a:rPr lang="en-US" sz="1125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</a:t>
            </a:r>
            <a:endParaRPr lang="en-US" sz="1125" dirty="0"/>
          </a:p>
          <a:p>
            <a:pPr algn="l" indent="0" marL="0">
              <a:lnSpc>
                <a:spcPct val="185000"/>
              </a:lnSpc>
              <a:buNone/>
            </a:pPr>
            <a:r>
              <a:rPr lang="en-US" sz="1125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algn="l" indent="0" marL="0">
              <a:lnSpc>
                <a:spcPct val="185000"/>
              </a:lnSpc>
              <a:buNone/>
            </a:pPr>
            <a:r>
              <a:rPr lang="en-US" sz="1125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85000"/>
              </a:lnSpc>
              <a:buNone/>
            </a:pPr>
            <a:r>
              <a:rPr lang="en-US" sz="1125" dirty="0">
                <a:solidFill>
                  <a:srgbClr val="9EC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Convert</a:t>
            </a:r>
            <a:pPr algn="l" indent="0" marL="0">
              <a:lnSpc>
                <a:spcPct val="185000"/>
              </a:lnSpc>
              <a:buNone/>
            </a:pPr>
            <a:r>
              <a:rPr lang="en-US" sz="1125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ct val="185000"/>
              </a:lnSpc>
              <a:buNone/>
            </a:pPr>
            <a:r>
              <a:rPr lang="en-US" sz="1125" dirty="0">
                <a:solidFill>
                  <a:srgbClr val="FFD4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ToHexString</a:t>
            </a:r>
            <a:pPr algn="l" indent="0" marL="0">
              <a:lnSpc>
                <a:spcPct val="185000"/>
              </a:lnSpc>
              <a:buNone/>
            </a:pPr>
            <a:r>
              <a:rPr lang="en-US" sz="1125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(bytes).</a:t>
            </a:r>
            <a:pPr algn="l" indent="0" marL="0">
              <a:lnSpc>
                <a:spcPct val="185000"/>
              </a:lnSpc>
              <a:buNone/>
            </a:pPr>
            <a:r>
              <a:rPr lang="en-US" sz="1125" dirty="0">
                <a:solidFill>
                  <a:srgbClr val="FFD4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ToLower </a:t>
            </a:r>
            <a:pPr algn="l" indent="0" marL="0">
              <a:lnSpc>
                <a:spcPct val="185000"/>
              </a:lnSpc>
              <a:buNone/>
            </a:pPr>
            <a:r>
              <a:rPr lang="en-US" sz="1125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();</a:t>
            </a:r>
            <a:endParaRPr lang="en-US" sz="1125" dirty="0"/>
          </a:p>
          <a:p>
            <a:pPr algn="l" indent="0" marL="0">
              <a:lnSpc>
                <a:spcPct val="185000"/>
              </a:lnSpc>
              <a:buNone/>
            </a:pPr>
            <a:r>
              <a:rPr lang="en-US" sz="1125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25" dirty="0"/>
          </a:p>
        </p:txBody>
      </p:sp>
      <p:sp>
        <p:nvSpPr>
          <p:cNvPr id="17" name="Shape 14"/>
          <p:cNvSpPr/>
          <p:nvPr/>
        </p:nvSpPr>
        <p:spPr>
          <a:xfrm>
            <a:off x="7504184" y="3146497"/>
            <a:ext cx="4002123" cy="402783"/>
          </a:xfrm>
          <a:prstGeom prst="roundRect">
            <a:avLst>
              <a:gd name="adj" fmla="val 23648"/>
            </a:avLst>
          </a:prstGeom>
          <a:solidFill>
            <a:srgbClr val="22324F"/>
          </a:solidFill>
          <a:ln/>
        </p:spPr>
      </p:sp>
      <p:sp>
        <p:nvSpPr>
          <p:cNvPr id="18" name="Text 15"/>
          <p:cNvSpPr/>
          <p:nvPr/>
        </p:nvSpPr>
        <p:spPr>
          <a:xfrm>
            <a:off x="7647059" y="3251272"/>
            <a:ext cx="3836437" cy="2313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C4D0E4"/>
                </a:solidFill>
                <a:highlight>
                  <a:srgbClr val="22324F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Sin JWT — autenticación </a:t>
            </a:r>
            <a:pPr algn="l" indent="0" marL="0">
              <a:lnSpc>
                <a:spcPct val="145000"/>
              </a:lnSpc>
              <a:buNone/>
            </a:pPr>
            <a:r>
              <a:rPr lang="en-US" sz="1050" b="1" dirty="0">
                <a:solidFill>
                  <a:srgbClr val="4FC3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stateless simple</a:t>
            </a:r>
            <a:pPr algn="l"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C4D0E4"/>
                </a:solidFill>
                <a:highlight>
                  <a:srgbClr val="22324F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7504184" y="3654001"/>
            <a:ext cx="4002123" cy="596124"/>
          </a:xfrm>
          <a:prstGeom prst="roundRect">
            <a:avLst>
              <a:gd name="adj" fmla="val 15978"/>
            </a:avLst>
          </a:prstGeom>
          <a:solidFill>
            <a:srgbClr val="22324F"/>
          </a:solidFill>
          <a:ln/>
        </p:spPr>
      </p:sp>
      <p:sp>
        <p:nvSpPr>
          <p:cNvPr id="20" name="Text 17"/>
          <p:cNvSpPr/>
          <p:nvPr/>
        </p:nvSpPr>
        <p:spPr>
          <a:xfrm>
            <a:off x="7647059" y="3758776"/>
            <a:ext cx="3836437" cy="4246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C4D0E4"/>
                </a:solidFill>
                <a:highlight>
                  <a:srgbClr val="22324F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Retorna </a:t>
            </a:r>
            <a:pPr algn="l" indent="0" marL="0">
              <a:lnSpc>
                <a:spcPct val="145000"/>
              </a:lnSpc>
              <a:buNone/>
            </a:pPr>
            <a:r>
              <a:rPr lang="en-US" sz="966" b="1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UsuarioDto </a:t>
            </a:r>
            <a:pPr algn="l"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C4D0E4"/>
                </a:solidFill>
                <a:highlight>
                  <a:srgbClr val="22324F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{ Id, Nombre, Apellido, Email, EsAdmin } — </a:t>
            </a:r>
            <a:pPr algn="l" indent="0" marL="0">
              <a:lnSpc>
                <a:spcPct val="145000"/>
              </a:lnSpc>
              <a:buNone/>
            </a:pPr>
            <a:r>
              <a:rPr lang="en-US" sz="1050" b="1" dirty="0">
                <a:solidFill>
                  <a:srgbClr val="C4D0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nunca expone PasswordHash</a:t>
            </a:r>
            <a:pPr algn="l"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C4D0E4"/>
                </a:solidFill>
                <a:highlight>
                  <a:srgbClr val="22324F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7504184" y="4354846"/>
            <a:ext cx="4002123" cy="404677"/>
          </a:xfrm>
          <a:prstGeom prst="roundRect">
            <a:avLst>
              <a:gd name="adj" fmla="val 23537"/>
            </a:avLst>
          </a:prstGeom>
          <a:solidFill>
            <a:srgbClr val="22324F"/>
          </a:solidFill>
          <a:ln/>
        </p:spPr>
      </p:sp>
      <p:sp>
        <p:nvSpPr>
          <p:cNvPr id="22" name="Text 19"/>
          <p:cNvSpPr/>
          <p:nvPr/>
        </p:nvSpPr>
        <p:spPr>
          <a:xfrm>
            <a:off x="7647059" y="4459621"/>
            <a:ext cx="3836437" cy="2332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C4D0E4"/>
                </a:solidFill>
                <a:highlight>
                  <a:srgbClr val="22324F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Verificación: </a:t>
            </a:r>
            <a:pPr algn="l" indent="0" marL="0">
              <a:lnSpc>
                <a:spcPct val="145000"/>
              </a:lnSpc>
              <a:buNone/>
            </a:pPr>
            <a:r>
              <a:rPr lang="en-US" sz="966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hash(input) == hash almacenado</a:t>
            </a:r>
            <a:pPr algn="l"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C4D0E4"/>
                </a:solidFill>
                <a:highlight>
                  <a:srgbClr val="22324F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685692" y="6279600"/>
            <a:ext cx="1965505" cy="1593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spc="66" kern="0" dirty="0">
                <a:solidFill>
                  <a:srgbClr val="C4D0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RelojAPI · Dominican Watch Men</a:t>
            </a:r>
            <a:endParaRPr lang="en-US" sz="825" dirty="0"/>
          </a:p>
        </p:txBody>
      </p:sp>
      <p:sp>
        <p:nvSpPr>
          <p:cNvPr id="24" name="Text 21"/>
          <p:cNvSpPr/>
          <p:nvPr/>
        </p:nvSpPr>
        <p:spPr>
          <a:xfrm>
            <a:off x="11127202" y="6279600"/>
            <a:ext cx="455306" cy="1593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66" kern="0" dirty="0">
                <a:solidFill>
                  <a:srgbClr val="8DA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/ 25</a:t>
            </a:r>
            <a:endParaRPr lang="en-US" sz="825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13357"/>
          </a:solidFill>
          <a:ln/>
        </p:spPr>
      </p:sp>
      <p:sp>
        <p:nvSpPr>
          <p:cNvPr id="3" name="Shape 1"/>
          <p:cNvSpPr/>
          <p:nvPr/>
        </p:nvSpPr>
        <p:spPr>
          <a:xfrm>
            <a:off x="685692" y="514269"/>
            <a:ext cx="285750" cy="285750"/>
          </a:xfrm>
          <a:prstGeom prst="roundRect">
            <a:avLst>
              <a:gd name="adj" fmla="val 26667"/>
            </a:avLst>
          </a:prstGeom>
          <a:solidFill>
            <a:srgbClr val="4FC3F7">
              <a:alpha val="12000"/>
            </a:srgbClr>
          </a:solidFill>
          <a:ln w="8659">
            <a:solidFill>
              <a:srgbClr val="314363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7658" y="576235"/>
            <a:ext cx="161817" cy="16181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76163" y="592201"/>
            <a:ext cx="1748622" cy="1679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b="1" spc="169" kern="0" dirty="0">
                <a:solidFill>
                  <a:srgbClr val="4FC3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UPLOADCONTROLLER</a:t>
            </a:r>
            <a:endParaRPr lang="en-US" sz="938" dirty="0"/>
          </a:p>
        </p:txBody>
      </p:sp>
      <p:sp>
        <p:nvSpPr>
          <p:cNvPr id="6" name="Text 3"/>
          <p:cNvSpPr/>
          <p:nvPr/>
        </p:nvSpPr>
        <p:spPr>
          <a:xfrm>
            <a:off x="11029381" y="596530"/>
            <a:ext cx="553126" cy="1593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41" kern="0" dirty="0">
                <a:solidFill>
                  <a:srgbClr val="8DA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 / 25</a:t>
            </a:r>
            <a:endParaRPr lang="en-US" sz="825" dirty="0"/>
          </a:p>
        </p:txBody>
      </p:sp>
      <p:sp>
        <p:nvSpPr>
          <p:cNvPr id="7" name="Text 4"/>
          <p:cNvSpPr/>
          <p:nvPr/>
        </p:nvSpPr>
        <p:spPr>
          <a:xfrm>
            <a:off x="685692" y="971442"/>
            <a:ext cx="11145235" cy="4361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850" b="1" spc="-29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Subida de imágenes</a:t>
            </a:r>
            <a:endParaRPr lang="en-US" sz="2850" dirty="0"/>
          </a:p>
        </p:txBody>
      </p:sp>
      <p:sp>
        <p:nvSpPr>
          <p:cNvPr id="8" name="Shape 5"/>
          <p:cNvSpPr/>
          <p:nvPr/>
        </p:nvSpPr>
        <p:spPr>
          <a:xfrm>
            <a:off x="685692" y="1559854"/>
            <a:ext cx="438096" cy="28548"/>
          </a:xfrm>
          <a:prstGeom prst="roundRect">
            <a:avLst>
              <a:gd name="adj" fmla="val 50000"/>
            </a:avLst>
          </a:prstGeom>
          <a:solidFill>
            <a:srgbClr val="4FC3F7"/>
          </a:solidFill>
          <a:ln/>
        </p:spPr>
      </p:sp>
      <p:sp>
        <p:nvSpPr>
          <p:cNvPr id="9" name="Shape 6"/>
          <p:cNvSpPr/>
          <p:nvPr/>
        </p:nvSpPr>
        <p:spPr>
          <a:xfrm>
            <a:off x="685692" y="2546314"/>
            <a:ext cx="7079889" cy="2813393"/>
          </a:xfrm>
          <a:prstGeom prst="roundRect">
            <a:avLst>
              <a:gd name="adj" fmla="val 4401"/>
            </a:avLst>
          </a:prstGeom>
          <a:solidFill>
            <a:srgbClr val="0A0E18"/>
          </a:solidFill>
          <a:ln w="8659">
            <a:solidFill>
              <a:srgbClr val="1C2C49"/>
            </a:solidFill>
            <a:prstDash val="solid"/>
          </a:ln>
          <a:effectLst>
            <a:outerShdw sx="100000" sy="100000" kx="0" ky="0" algn="bl" rotWithShape="0" blurRad="381000" dist="171450" dir="5400000">
              <a:srgbClr val="000000">
                <a:alpha val="3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94351" y="2554973"/>
            <a:ext cx="7062571" cy="339328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694351" y="2885642"/>
            <a:ext cx="7062571" cy="9525"/>
          </a:xfrm>
          <a:prstGeom prst="rect">
            <a:avLst/>
          </a:prstGeom>
          <a:solidFill>
            <a:srgbClr val="1C2C49"/>
          </a:solidFill>
          <a:ln/>
        </p:spPr>
      </p:sp>
      <p:sp>
        <p:nvSpPr>
          <p:cNvPr id="12" name="Shape 9"/>
          <p:cNvSpPr/>
          <p:nvPr/>
        </p:nvSpPr>
        <p:spPr>
          <a:xfrm>
            <a:off x="837226" y="2672683"/>
            <a:ext cx="95250" cy="95250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3" name="Shape 10"/>
          <p:cNvSpPr/>
          <p:nvPr/>
        </p:nvSpPr>
        <p:spPr>
          <a:xfrm>
            <a:off x="999043" y="2672683"/>
            <a:ext cx="95250" cy="9525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4" name="Shape 11"/>
          <p:cNvSpPr/>
          <p:nvPr/>
        </p:nvSpPr>
        <p:spPr>
          <a:xfrm>
            <a:off x="1160859" y="2672683"/>
            <a:ext cx="95250" cy="9525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5" name="Text 12"/>
          <p:cNvSpPr/>
          <p:nvPr/>
        </p:nvSpPr>
        <p:spPr>
          <a:xfrm>
            <a:off x="1398849" y="2659694"/>
            <a:ext cx="1270884" cy="1593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8DA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UploadController.cs</a:t>
            </a:r>
            <a:endParaRPr lang="en-US" sz="825" dirty="0"/>
          </a:p>
        </p:txBody>
      </p:sp>
      <p:sp>
        <p:nvSpPr>
          <p:cNvPr id="16" name="Text 13"/>
          <p:cNvSpPr/>
          <p:nvPr/>
        </p:nvSpPr>
        <p:spPr>
          <a:xfrm>
            <a:off x="903901" y="3065751"/>
            <a:ext cx="6855348" cy="21519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85000"/>
              </a:lnSpc>
              <a:buNone/>
            </a:pPr>
            <a:r>
              <a:rPr lang="en-US" sz="1125" dirty="0">
                <a:solidFill>
                  <a:srgbClr val="5F72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POST /api/upload </a:t>
            </a:r>
            <a:pPr algn="l" indent="0" marL="0">
              <a:lnSpc>
                <a:spcPct val="185000"/>
              </a:lnSpc>
              <a:buNone/>
            </a:pPr>
            <a:r>
              <a:rPr lang="en-US" sz="1125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algn="l" indent="0" marL="0">
              <a:lnSpc>
                <a:spcPct val="185000"/>
              </a:lnSpc>
              <a:buNone/>
            </a:pPr>
            <a:r>
              <a:rPr lang="en-US" sz="1125" dirty="0">
                <a:solidFill>
                  <a:srgbClr val="9EC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HttpPost</a:t>
            </a:r>
            <a:pPr algn="l" indent="0" marL="0">
              <a:lnSpc>
                <a:spcPct val="185000"/>
              </a:lnSpc>
              <a:buNone/>
            </a:pPr>
            <a:r>
              <a:rPr lang="en-US" sz="1125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 </a:t>
            </a:r>
            <a:pPr algn="l" indent="0" marL="0">
              <a:lnSpc>
                <a:spcPct val="185000"/>
              </a:lnSpc>
              <a:buNone/>
            </a:pPr>
            <a:r>
              <a:rPr lang="en-US" sz="1125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async</a:t>
            </a:r>
            <a:pPr algn="l" indent="0" marL="0">
              <a:lnSpc>
                <a:spcPct val="185000"/>
              </a:lnSpc>
              <a:buNone/>
            </a:pPr>
            <a:r>
              <a:rPr lang="en-US" sz="1125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85000"/>
              </a:lnSpc>
              <a:buNone/>
            </a:pPr>
            <a:r>
              <a:rPr lang="en-US" sz="1125" dirty="0">
                <a:solidFill>
                  <a:srgbClr val="9EC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Task</a:t>
            </a:r>
            <a:pPr algn="l" indent="0" marL="0">
              <a:lnSpc>
                <a:spcPct val="185000"/>
              </a:lnSpc>
              <a:buNone/>
            </a:pPr>
            <a:r>
              <a:rPr lang="en-US" sz="1125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algn="l" indent="0" marL="0">
              <a:lnSpc>
                <a:spcPct val="185000"/>
              </a:lnSpc>
              <a:buNone/>
            </a:pPr>
            <a:r>
              <a:rPr lang="en-US" sz="1125" dirty="0">
                <a:solidFill>
                  <a:srgbClr val="9EC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IActionResult</a:t>
            </a:r>
            <a:pPr algn="l" indent="0" marL="0">
              <a:lnSpc>
                <a:spcPct val="185000"/>
              </a:lnSpc>
              <a:buNone/>
            </a:pPr>
            <a:r>
              <a:rPr lang="en-US" sz="1125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</a:t>
            </a:r>
            <a:pPr algn="l" indent="0" marL="0">
              <a:lnSpc>
                <a:spcPct val="185000"/>
              </a:lnSpc>
              <a:buNone/>
            </a:pPr>
            <a:r>
              <a:rPr lang="en-US" sz="1125" dirty="0">
                <a:solidFill>
                  <a:srgbClr val="FFD4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Subir</a:t>
            </a:r>
            <a:pPr algn="l" indent="0" marL="0">
              <a:lnSpc>
                <a:spcPct val="185000"/>
              </a:lnSpc>
              <a:buNone/>
            </a:pPr>
            <a:r>
              <a:rPr lang="en-US" sz="1125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85000"/>
              </a:lnSpc>
              <a:buNone/>
            </a:pPr>
            <a:r>
              <a:rPr lang="en-US" sz="1125" dirty="0">
                <a:solidFill>
                  <a:srgbClr val="9EC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IFormFile </a:t>
            </a:r>
            <a:pPr algn="l" indent="0" marL="0">
              <a:lnSpc>
                <a:spcPct val="185000"/>
              </a:lnSpc>
              <a:buNone/>
            </a:pPr>
            <a:r>
              <a:rPr lang="en-US" sz="1125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archivo) {</a:t>
            </a:r>
            <a:endParaRPr lang="en-US" sz="1125" dirty="0"/>
          </a:p>
          <a:p>
            <a:pPr algn="l" indent="0" marL="0">
              <a:lnSpc>
                <a:spcPct val="185000"/>
              </a:lnSpc>
              <a:buNone/>
            </a:pPr>
            <a:r>
              <a:rPr lang="en-US" sz="1125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</a:t>
            </a:r>
            <a:endParaRPr lang="en-US" sz="1125" dirty="0"/>
          </a:p>
          <a:p>
            <a:pPr algn="l" indent="0" marL="0">
              <a:lnSpc>
                <a:spcPct val="185000"/>
              </a:lnSpc>
              <a:buNone/>
            </a:pPr>
            <a:r>
              <a:rPr lang="en-US" sz="1125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</a:t>
            </a:r>
            <a:pPr algn="l" indent="0" marL="0">
              <a:lnSpc>
                <a:spcPct val="185000"/>
              </a:lnSpc>
              <a:buNone/>
            </a:pPr>
            <a:r>
              <a:rPr lang="en-US" sz="1125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nombre = $</a:t>
            </a:r>
            <a:pPr algn="l" indent="0" marL="0">
              <a:lnSpc>
                <a:spcPct val="185000"/>
              </a:lnSpc>
              <a:buNone/>
            </a:pPr>
            <a:r>
              <a:rPr lang="en-US" sz="1125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"{Guid.NewGuid()}{Path.GetExtension(archivo.FileName)}" </a:t>
            </a:r>
            <a:pPr algn="l" indent="0" marL="0">
              <a:lnSpc>
                <a:spcPct val="185000"/>
              </a:lnSpc>
              <a:buNone/>
            </a:pPr>
            <a:r>
              <a:rPr lang="en-US" sz="1125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25" dirty="0"/>
          </a:p>
          <a:p>
            <a:pPr algn="l" indent="0" marL="0">
              <a:lnSpc>
                <a:spcPct val="185000"/>
              </a:lnSpc>
              <a:buNone/>
            </a:pPr>
            <a:r>
              <a:rPr lang="en-US" sz="1125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</a:t>
            </a:r>
            <a:endParaRPr lang="en-US" sz="1125" dirty="0"/>
          </a:p>
          <a:p>
            <a:pPr algn="l" indent="0" marL="0">
              <a:lnSpc>
                <a:spcPct val="185000"/>
              </a:lnSpc>
              <a:buNone/>
            </a:pPr>
            <a:r>
              <a:rPr lang="en-US" sz="1125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</a:t>
            </a:r>
            <a:pPr algn="l" indent="0" marL="0">
              <a:lnSpc>
                <a:spcPct val="185000"/>
              </a:lnSpc>
              <a:buNone/>
            </a:pPr>
            <a:r>
              <a:rPr lang="en-US" sz="1125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ruta = </a:t>
            </a:r>
            <a:pPr algn="l" indent="0" marL="0">
              <a:lnSpc>
                <a:spcPct val="185000"/>
              </a:lnSpc>
              <a:buNone/>
            </a:pPr>
            <a:r>
              <a:rPr lang="en-US" sz="1125" dirty="0">
                <a:solidFill>
                  <a:srgbClr val="9EC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Path</a:t>
            </a:r>
            <a:pPr algn="l" indent="0" marL="0">
              <a:lnSpc>
                <a:spcPct val="185000"/>
              </a:lnSpc>
              <a:buNone/>
            </a:pPr>
            <a:r>
              <a:rPr lang="en-US" sz="1125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ct val="185000"/>
              </a:lnSpc>
              <a:buNone/>
            </a:pPr>
            <a:r>
              <a:rPr lang="en-US" sz="1125" dirty="0">
                <a:solidFill>
                  <a:srgbClr val="FFD4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Combine</a:t>
            </a:r>
            <a:pPr algn="l" indent="0" marL="0">
              <a:lnSpc>
                <a:spcPct val="185000"/>
              </a:lnSpc>
              <a:buNone/>
            </a:pPr>
            <a:r>
              <a:rPr lang="en-US" sz="1125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(_env.WebRootPath, </a:t>
            </a:r>
            <a:pPr algn="l" indent="0" marL="0">
              <a:lnSpc>
                <a:spcPct val="185000"/>
              </a:lnSpc>
              <a:buNone/>
            </a:pPr>
            <a:r>
              <a:rPr lang="en-US" sz="1125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"images" </a:t>
            </a:r>
            <a:pPr algn="l" indent="0" marL="0">
              <a:lnSpc>
                <a:spcPct val="185000"/>
              </a:lnSpc>
              <a:buNone/>
            </a:pPr>
            <a:r>
              <a:rPr lang="en-US" sz="1125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nombre);</a:t>
            </a:r>
            <a:endParaRPr lang="en-US" sz="1125" dirty="0"/>
          </a:p>
          <a:p>
            <a:pPr algn="l" indent="0" marL="0">
              <a:lnSpc>
                <a:spcPct val="185000"/>
              </a:lnSpc>
              <a:buNone/>
            </a:pPr>
            <a:r>
              <a:rPr lang="en-US" sz="1125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</a:t>
            </a:r>
            <a:endParaRPr lang="en-US" sz="1125" dirty="0"/>
          </a:p>
          <a:p>
            <a:pPr algn="l" indent="0" marL="0">
              <a:lnSpc>
                <a:spcPct val="185000"/>
              </a:lnSpc>
              <a:buNone/>
            </a:pPr>
            <a:r>
              <a:rPr lang="en-US" sz="1125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</a:t>
            </a:r>
            <a:pPr algn="l" indent="0" marL="0">
              <a:lnSpc>
                <a:spcPct val="185000"/>
              </a:lnSpc>
              <a:buNone/>
            </a:pPr>
            <a:r>
              <a:rPr lang="en-US" sz="1125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archivo.</a:t>
            </a:r>
            <a:pPr algn="l" indent="0" marL="0">
              <a:lnSpc>
                <a:spcPct val="185000"/>
              </a:lnSpc>
              <a:buNone/>
            </a:pPr>
            <a:r>
              <a:rPr lang="en-US" sz="1125" dirty="0">
                <a:solidFill>
                  <a:srgbClr val="FFD4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CopyToAsync</a:t>
            </a:r>
            <a:pPr algn="l" indent="0" marL="0">
              <a:lnSpc>
                <a:spcPct val="185000"/>
              </a:lnSpc>
              <a:buNone/>
            </a:pPr>
            <a:r>
              <a:rPr lang="en-US" sz="1125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85000"/>
              </a:lnSpc>
              <a:buNone/>
            </a:pPr>
            <a:r>
              <a:rPr lang="en-US" sz="1125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algn="l" indent="0" marL="0">
              <a:lnSpc>
                <a:spcPct val="185000"/>
              </a:lnSpc>
              <a:buNone/>
            </a:pPr>
            <a:r>
              <a:rPr lang="en-US" sz="1125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85000"/>
              </a:lnSpc>
              <a:buNone/>
            </a:pPr>
            <a:r>
              <a:rPr lang="en-US" sz="1125" dirty="0">
                <a:solidFill>
                  <a:srgbClr val="9EC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FileStream</a:t>
            </a:r>
            <a:pPr algn="l" indent="0" marL="0">
              <a:lnSpc>
                <a:spcPct val="185000"/>
              </a:lnSpc>
              <a:buNone/>
            </a:pPr>
            <a:r>
              <a:rPr lang="en-US" sz="1125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(ruta, </a:t>
            </a:r>
            <a:pPr algn="l" indent="0" marL="0">
              <a:lnSpc>
                <a:spcPct val="185000"/>
              </a:lnSpc>
              <a:buNone/>
            </a:pPr>
            <a:r>
              <a:rPr lang="en-US" sz="1125" dirty="0">
                <a:solidFill>
                  <a:srgbClr val="9EC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FileMode </a:t>
            </a:r>
            <a:pPr algn="l" indent="0" marL="0">
              <a:lnSpc>
                <a:spcPct val="185000"/>
              </a:lnSpc>
              <a:buNone/>
            </a:pPr>
            <a:r>
              <a:rPr lang="en-US" sz="1125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.Create));</a:t>
            </a:r>
            <a:endParaRPr lang="en-US" sz="1125" dirty="0"/>
          </a:p>
          <a:p>
            <a:pPr algn="l" indent="0" marL="0">
              <a:lnSpc>
                <a:spcPct val="185000"/>
              </a:lnSpc>
              <a:buNone/>
            </a:pPr>
            <a:r>
              <a:rPr lang="en-US" sz="1125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</a:t>
            </a:r>
            <a:endParaRPr lang="en-US" sz="1125" dirty="0"/>
          </a:p>
          <a:p>
            <a:pPr algn="l" indent="0" marL="0">
              <a:lnSpc>
                <a:spcPct val="185000"/>
              </a:lnSpc>
              <a:buNone/>
            </a:pPr>
            <a:r>
              <a:rPr lang="en-US" sz="1125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algn="l" indent="0" marL="0">
              <a:lnSpc>
                <a:spcPct val="185000"/>
              </a:lnSpc>
              <a:buNone/>
            </a:pPr>
            <a:r>
              <a:rPr lang="en-US" sz="1125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85000"/>
              </a:lnSpc>
              <a:buNone/>
            </a:pPr>
            <a:r>
              <a:rPr lang="en-US" sz="1125" dirty="0">
                <a:solidFill>
                  <a:srgbClr val="FFD4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Ok</a:t>
            </a:r>
            <a:pPr algn="l" indent="0" marL="0">
              <a:lnSpc>
                <a:spcPct val="185000"/>
              </a:lnSpc>
              <a:buNone/>
            </a:pPr>
            <a:r>
              <a:rPr lang="en-US" sz="1125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85000"/>
              </a:lnSpc>
              <a:buNone/>
            </a:pPr>
            <a:r>
              <a:rPr lang="en-US" sz="1125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algn="l" indent="0" marL="0">
              <a:lnSpc>
                <a:spcPct val="185000"/>
              </a:lnSpc>
              <a:buNone/>
            </a:pPr>
            <a:r>
              <a:rPr lang="en-US" sz="1125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 url = $</a:t>
            </a:r>
            <a:pPr algn="l" indent="0" marL="0">
              <a:lnSpc>
                <a:spcPct val="185000"/>
              </a:lnSpc>
              <a:buNone/>
            </a:pPr>
            <a:r>
              <a:rPr lang="en-US" sz="1125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"http://localhost:5157/images/{nombre}" </a:t>
            </a:r>
            <a:pPr algn="l" indent="0" marL="0">
              <a:lnSpc>
                <a:spcPct val="185000"/>
              </a:lnSpc>
              <a:buNone/>
            </a:pPr>
            <a:r>
              <a:rPr lang="en-US" sz="1125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});</a:t>
            </a:r>
            <a:endParaRPr lang="en-US" sz="1125" dirty="0"/>
          </a:p>
          <a:p>
            <a:pPr algn="l" indent="0" marL="0">
              <a:lnSpc>
                <a:spcPct val="185000"/>
              </a:lnSpc>
              <a:buNone/>
            </a:pPr>
            <a:r>
              <a:rPr lang="en-US" sz="1125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25" dirty="0"/>
          </a:p>
        </p:txBody>
      </p:sp>
      <p:sp>
        <p:nvSpPr>
          <p:cNvPr id="17" name="Shape 14"/>
          <p:cNvSpPr/>
          <p:nvPr/>
        </p:nvSpPr>
        <p:spPr>
          <a:xfrm>
            <a:off x="7975023" y="3050706"/>
            <a:ext cx="3531285" cy="596124"/>
          </a:xfrm>
          <a:prstGeom prst="roundRect">
            <a:avLst>
              <a:gd name="adj" fmla="val 15978"/>
            </a:avLst>
          </a:prstGeom>
          <a:solidFill>
            <a:srgbClr val="22324F"/>
          </a:solidFill>
          <a:ln/>
        </p:spPr>
      </p:sp>
      <p:sp>
        <p:nvSpPr>
          <p:cNvPr id="18" name="Text 15"/>
          <p:cNvSpPr/>
          <p:nvPr/>
        </p:nvSpPr>
        <p:spPr>
          <a:xfrm>
            <a:off x="8117898" y="3155481"/>
            <a:ext cx="3351474" cy="4246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C4D0E4"/>
                </a:solidFill>
                <a:highlight>
                  <a:srgbClr val="22324F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Cada archivo recibe un nombre único con </a:t>
            </a:r>
            <a:pPr algn="l" indent="0" marL="0">
              <a:lnSpc>
                <a:spcPct val="145000"/>
              </a:lnSpc>
              <a:buNone/>
            </a:pPr>
            <a:r>
              <a:rPr lang="en-US" sz="966" b="1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Guid.NewGuid()</a:t>
            </a:r>
            <a:pPr algn="l"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C4D0E4"/>
                </a:solidFill>
                <a:highlight>
                  <a:srgbClr val="22324F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7975023" y="3751551"/>
            <a:ext cx="3531285" cy="402783"/>
          </a:xfrm>
          <a:prstGeom prst="roundRect">
            <a:avLst>
              <a:gd name="adj" fmla="val 23648"/>
            </a:avLst>
          </a:prstGeom>
          <a:solidFill>
            <a:srgbClr val="22324F"/>
          </a:solidFill>
          <a:ln/>
        </p:spPr>
      </p:sp>
      <p:sp>
        <p:nvSpPr>
          <p:cNvPr id="20" name="Text 17"/>
          <p:cNvSpPr/>
          <p:nvPr/>
        </p:nvSpPr>
        <p:spPr>
          <a:xfrm>
            <a:off x="8117898" y="3856326"/>
            <a:ext cx="3351474" cy="2313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C4D0E4"/>
                </a:solidFill>
                <a:highlight>
                  <a:srgbClr val="22324F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La URL devuelta se guarda en </a:t>
            </a:r>
            <a:pPr algn="l" indent="0" marL="0">
              <a:lnSpc>
                <a:spcPct val="145000"/>
              </a:lnSpc>
              <a:buNone/>
            </a:pPr>
            <a:r>
              <a:rPr lang="en-US" sz="966" b="1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Relojes.ImagenUrl</a:t>
            </a:r>
            <a:pPr algn="l"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C4D0E4"/>
                </a:solidFill>
                <a:highlight>
                  <a:srgbClr val="22324F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7975023" y="4259055"/>
            <a:ext cx="3531285" cy="596124"/>
          </a:xfrm>
          <a:prstGeom prst="roundRect">
            <a:avLst>
              <a:gd name="adj" fmla="val 15978"/>
            </a:avLst>
          </a:prstGeom>
          <a:solidFill>
            <a:srgbClr val="22324F"/>
          </a:solidFill>
          <a:ln/>
        </p:spPr>
      </p:sp>
      <p:sp>
        <p:nvSpPr>
          <p:cNvPr id="22" name="Text 19"/>
          <p:cNvSpPr/>
          <p:nvPr/>
        </p:nvSpPr>
        <p:spPr>
          <a:xfrm>
            <a:off x="8117898" y="4363830"/>
            <a:ext cx="3351474" cy="4246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C4D0E4"/>
                </a:solidFill>
                <a:highlight>
                  <a:srgbClr val="22324F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Servidas por </a:t>
            </a:r>
            <a:pPr algn="l" indent="0" marL="0">
              <a:lnSpc>
                <a:spcPct val="145000"/>
              </a:lnSpc>
              <a:buNone/>
            </a:pPr>
            <a:r>
              <a:rPr lang="en-US" sz="966" b="1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app.UseStaticFiles() </a:t>
            </a:r>
            <a:pPr algn="l"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C4D0E4"/>
                </a:solidFill>
                <a:highlight>
                  <a:srgbClr val="22324F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desde wwwroot/images/.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685692" y="6279600"/>
            <a:ext cx="1965505" cy="1593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spc="66" kern="0" dirty="0">
                <a:solidFill>
                  <a:srgbClr val="C4D0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RelojAPI · Dominican Watch Men</a:t>
            </a:r>
            <a:endParaRPr lang="en-US" sz="825" dirty="0"/>
          </a:p>
        </p:txBody>
      </p:sp>
      <p:sp>
        <p:nvSpPr>
          <p:cNvPr id="24" name="Text 21"/>
          <p:cNvSpPr/>
          <p:nvPr/>
        </p:nvSpPr>
        <p:spPr>
          <a:xfrm>
            <a:off x="11127202" y="6279600"/>
            <a:ext cx="455306" cy="1593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66" kern="0" dirty="0">
                <a:solidFill>
                  <a:srgbClr val="8DA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/ 25</a:t>
            </a:r>
            <a:endParaRPr lang="en-US" sz="825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13357"/>
          </a:solidFill>
          <a:ln/>
        </p:spPr>
      </p:sp>
      <p:sp>
        <p:nvSpPr>
          <p:cNvPr id="3" name="Shape 1"/>
          <p:cNvSpPr/>
          <p:nvPr/>
        </p:nvSpPr>
        <p:spPr>
          <a:xfrm>
            <a:off x="685692" y="514269"/>
            <a:ext cx="285750" cy="285750"/>
          </a:xfrm>
          <a:prstGeom prst="roundRect">
            <a:avLst>
              <a:gd name="adj" fmla="val 26667"/>
            </a:avLst>
          </a:prstGeom>
          <a:solidFill>
            <a:srgbClr val="4FC3F7">
              <a:alpha val="12000"/>
            </a:srgbClr>
          </a:solidFill>
          <a:ln w="8659">
            <a:solidFill>
              <a:srgbClr val="314363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7658" y="576235"/>
            <a:ext cx="161817" cy="16181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76163" y="592201"/>
            <a:ext cx="1603312" cy="1679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b="1" spc="169" kern="0" dirty="0">
                <a:solidFill>
                  <a:srgbClr val="4FC3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CONEXIÓN A DATOS</a:t>
            </a:r>
            <a:endParaRPr lang="en-US" sz="938" dirty="0"/>
          </a:p>
        </p:txBody>
      </p:sp>
      <p:sp>
        <p:nvSpPr>
          <p:cNvPr id="6" name="Text 3"/>
          <p:cNvSpPr/>
          <p:nvPr/>
        </p:nvSpPr>
        <p:spPr>
          <a:xfrm>
            <a:off x="11029381" y="596530"/>
            <a:ext cx="553126" cy="1593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41" kern="0" dirty="0">
                <a:solidFill>
                  <a:srgbClr val="8DA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 / 25</a:t>
            </a:r>
            <a:endParaRPr lang="en-US" sz="825" dirty="0"/>
          </a:p>
        </p:txBody>
      </p:sp>
      <p:sp>
        <p:nvSpPr>
          <p:cNvPr id="7" name="Text 4"/>
          <p:cNvSpPr/>
          <p:nvPr/>
        </p:nvSpPr>
        <p:spPr>
          <a:xfrm>
            <a:off x="685692" y="971442"/>
            <a:ext cx="11145235" cy="4361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850" b="1" spc="-29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Conexión a SQL Server con EF Core</a:t>
            </a:r>
            <a:endParaRPr lang="en-US" sz="2850" dirty="0"/>
          </a:p>
        </p:txBody>
      </p:sp>
      <p:sp>
        <p:nvSpPr>
          <p:cNvPr id="8" name="Shape 5"/>
          <p:cNvSpPr/>
          <p:nvPr/>
        </p:nvSpPr>
        <p:spPr>
          <a:xfrm>
            <a:off x="685692" y="1559854"/>
            <a:ext cx="438096" cy="28548"/>
          </a:xfrm>
          <a:prstGeom prst="roundRect">
            <a:avLst>
              <a:gd name="adj" fmla="val 50000"/>
            </a:avLst>
          </a:prstGeom>
          <a:solidFill>
            <a:srgbClr val="4FC3F7"/>
          </a:solidFill>
          <a:ln/>
        </p:spPr>
      </p:sp>
      <p:sp>
        <p:nvSpPr>
          <p:cNvPr id="9" name="Shape 6"/>
          <p:cNvSpPr/>
          <p:nvPr/>
        </p:nvSpPr>
        <p:spPr>
          <a:xfrm>
            <a:off x="685692" y="2810551"/>
            <a:ext cx="6277299" cy="2284918"/>
          </a:xfrm>
          <a:prstGeom prst="roundRect">
            <a:avLst>
              <a:gd name="adj" fmla="val 5419"/>
            </a:avLst>
          </a:prstGeom>
          <a:solidFill>
            <a:srgbClr val="0A0E18"/>
          </a:solidFill>
          <a:ln w="8659">
            <a:solidFill>
              <a:srgbClr val="1C2C49"/>
            </a:solidFill>
            <a:prstDash val="solid"/>
          </a:ln>
          <a:effectLst>
            <a:outerShdw sx="100000" sy="100000" kx="0" ky="0" algn="bl" rotWithShape="0" blurRad="381000" dist="171450" dir="5400000">
              <a:srgbClr val="000000">
                <a:alpha val="3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94351" y="2819210"/>
            <a:ext cx="6259981" cy="339328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694351" y="3149880"/>
            <a:ext cx="6259981" cy="9525"/>
          </a:xfrm>
          <a:prstGeom prst="rect">
            <a:avLst/>
          </a:prstGeom>
          <a:solidFill>
            <a:srgbClr val="1C2C49"/>
          </a:solidFill>
          <a:ln/>
        </p:spPr>
      </p:sp>
      <p:sp>
        <p:nvSpPr>
          <p:cNvPr id="12" name="Shape 9"/>
          <p:cNvSpPr/>
          <p:nvPr/>
        </p:nvSpPr>
        <p:spPr>
          <a:xfrm>
            <a:off x="837226" y="2936920"/>
            <a:ext cx="95250" cy="95250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3" name="Shape 10"/>
          <p:cNvSpPr/>
          <p:nvPr/>
        </p:nvSpPr>
        <p:spPr>
          <a:xfrm>
            <a:off x="999043" y="2936920"/>
            <a:ext cx="95250" cy="9525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4" name="Shape 11"/>
          <p:cNvSpPr/>
          <p:nvPr/>
        </p:nvSpPr>
        <p:spPr>
          <a:xfrm>
            <a:off x="1160859" y="2936920"/>
            <a:ext cx="95250" cy="9525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5" name="Text 12"/>
          <p:cNvSpPr/>
          <p:nvPr/>
        </p:nvSpPr>
        <p:spPr>
          <a:xfrm>
            <a:off x="1398849" y="2923931"/>
            <a:ext cx="1082278" cy="1593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8DA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appsettings.json</a:t>
            </a:r>
            <a:endParaRPr lang="en-US" sz="825" dirty="0"/>
          </a:p>
        </p:txBody>
      </p:sp>
      <p:sp>
        <p:nvSpPr>
          <p:cNvPr id="16" name="Text 13"/>
          <p:cNvSpPr/>
          <p:nvPr/>
        </p:nvSpPr>
        <p:spPr>
          <a:xfrm>
            <a:off x="903901" y="3329989"/>
            <a:ext cx="6028681" cy="16234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85000"/>
              </a:lnSpc>
              <a:buNone/>
            </a:pPr>
            <a:r>
              <a:rPr lang="en-US" sz="1125" dirty="0">
                <a:solidFill>
                  <a:srgbClr val="9EC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"ConnectionStrings" </a:t>
            </a:r>
            <a:pPr algn="l" indent="0" marL="0">
              <a:lnSpc>
                <a:spcPct val="185000"/>
              </a:lnSpc>
              <a:buNone/>
            </a:pPr>
            <a:r>
              <a:rPr lang="en-US" sz="1125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{</a:t>
            </a:r>
            <a:endParaRPr lang="en-US" sz="1125" dirty="0"/>
          </a:p>
          <a:p>
            <a:pPr algn="l" indent="0" marL="0">
              <a:lnSpc>
                <a:spcPct val="185000"/>
              </a:lnSpc>
              <a:buNone/>
            </a:pPr>
            <a:r>
              <a:rPr lang="en-US" sz="1125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endParaRPr lang="en-US" sz="1125" dirty="0"/>
          </a:p>
          <a:p>
            <a:pPr algn="l" indent="0" marL="0">
              <a:lnSpc>
                <a:spcPct val="185000"/>
              </a:lnSpc>
              <a:buNone/>
            </a:pPr>
            <a:r>
              <a:rPr lang="en-US" sz="1125" dirty="0">
                <a:solidFill>
                  <a:srgbClr val="9EC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"DefaultConnection"</a:t>
            </a:r>
            <a:pPr algn="l" indent="0" marL="0">
              <a:lnSpc>
                <a:spcPct val="185000"/>
              </a:lnSpc>
              <a:buNone/>
            </a:pPr>
            <a:r>
              <a:rPr lang="en-US" sz="1125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algn="l" indent="0" marL="0">
              <a:lnSpc>
                <a:spcPct val="185000"/>
              </a:lnSpc>
              <a:buNone/>
            </a:pPr>
            <a:r>
              <a:rPr lang="en-US" sz="1125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"Server=localhost\\SQLEXPRESS; </a:t>
            </a:r>
            <a:pPr algn="l" indent="0" marL="0">
              <a:lnSpc>
                <a:spcPct val="185000"/>
              </a:lnSpc>
              <a:buNone/>
            </a:pPr>
            <a:r>
              <a:rPr lang="en-US" sz="1125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pPr algn="l" indent="0" marL="0">
              <a:lnSpc>
                <a:spcPct val="185000"/>
              </a:lnSpc>
              <a:buNone/>
            </a:pPr>
            <a:r>
              <a:rPr lang="en-US" sz="1125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Database=RelojDB; </a:t>
            </a:r>
            <a:pPr algn="l" indent="0" marL="0">
              <a:lnSpc>
                <a:spcPct val="185000"/>
              </a:lnSpc>
              <a:buNone/>
            </a:pPr>
            <a:r>
              <a:rPr lang="en-US" sz="1125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pPr algn="l" indent="0" marL="0">
              <a:lnSpc>
                <a:spcPct val="185000"/>
              </a:lnSpc>
              <a:buNone/>
            </a:pPr>
            <a:r>
              <a:rPr lang="en-US" sz="1125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Trusted_Connection=True; </a:t>
            </a:r>
            <a:pPr algn="l" indent="0" marL="0">
              <a:lnSpc>
                <a:spcPct val="185000"/>
              </a:lnSpc>
              <a:buNone/>
            </a:pPr>
            <a:r>
              <a:rPr lang="en-US" sz="1125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pPr algn="l" indent="0" marL="0">
              <a:lnSpc>
                <a:spcPct val="185000"/>
              </a:lnSpc>
              <a:buNone/>
            </a:pPr>
            <a:r>
              <a:rPr lang="en-US" sz="1125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TrustServerCertificate=True;" </a:t>
            </a:r>
            <a:pPr algn="l" indent="0" marL="0">
              <a:lnSpc>
                <a:spcPct val="185000"/>
              </a:lnSpc>
              <a:buNone/>
            </a:pPr>
            <a:r>
              <a:rPr lang="en-US" sz="1125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25" dirty="0"/>
          </a:p>
        </p:txBody>
      </p:sp>
      <p:sp>
        <p:nvSpPr>
          <p:cNvPr id="17" name="Shape 14"/>
          <p:cNvSpPr/>
          <p:nvPr/>
        </p:nvSpPr>
        <p:spPr>
          <a:xfrm>
            <a:off x="7172433" y="3050706"/>
            <a:ext cx="4333875" cy="402783"/>
          </a:xfrm>
          <a:prstGeom prst="roundRect">
            <a:avLst>
              <a:gd name="adj" fmla="val 23648"/>
            </a:avLst>
          </a:prstGeom>
          <a:solidFill>
            <a:srgbClr val="22324F"/>
          </a:solidFill>
          <a:ln/>
        </p:spPr>
      </p:sp>
      <p:sp>
        <p:nvSpPr>
          <p:cNvPr id="18" name="Text 15"/>
          <p:cNvSpPr/>
          <p:nvPr/>
        </p:nvSpPr>
        <p:spPr>
          <a:xfrm>
            <a:off x="7315308" y="3155481"/>
            <a:ext cx="4178141" cy="2313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966" b="1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AppDbContext </a:t>
            </a:r>
            <a:pPr algn="l"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C4D0E4"/>
                </a:solidFill>
                <a:highlight>
                  <a:srgbClr val="22324F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hereda de </a:t>
            </a:r>
            <a:pPr algn="l" indent="0" marL="0">
              <a:lnSpc>
                <a:spcPct val="145000"/>
              </a:lnSpc>
              <a:buNone/>
            </a:pPr>
            <a:r>
              <a:rPr lang="en-US" sz="966" b="1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DbContext</a:t>
            </a:r>
            <a:pPr algn="l"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C4D0E4"/>
                </a:solidFill>
                <a:highlight>
                  <a:srgbClr val="22324F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7172433" y="3558210"/>
            <a:ext cx="4333875" cy="596124"/>
          </a:xfrm>
          <a:prstGeom prst="roundRect">
            <a:avLst>
              <a:gd name="adj" fmla="val 15978"/>
            </a:avLst>
          </a:prstGeom>
          <a:solidFill>
            <a:srgbClr val="22324F"/>
          </a:solidFill>
          <a:ln/>
        </p:spPr>
      </p:sp>
      <p:sp>
        <p:nvSpPr>
          <p:cNvPr id="20" name="Text 17"/>
          <p:cNvSpPr/>
          <p:nvPr/>
        </p:nvSpPr>
        <p:spPr>
          <a:xfrm>
            <a:off x="7315308" y="3662985"/>
            <a:ext cx="4178141" cy="4246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050" b="1" dirty="0">
                <a:solidFill>
                  <a:srgbClr val="4FC3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OnModelCreating </a:t>
            </a:r>
            <a:pPr algn="l"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C4D0E4"/>
                </a:solidFill>
                <a:highlight>
                  <a:srgbClr val="22324F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configura relaciones, índices únicos y tipos de columna.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7172433" y="4259055"/>
            <a:ext cx="4333875" cy="596124"/>
          </a:xfrm>
          <a:prstGeom prst="roundRect">
            <a:avLst>
              <a:gd name="adj" fmla="val 15978"/>
            </a:avLst>
          </a:prstGeom>
          <a:solidFill>
            <a:srgbClr val="22324F"/>
          </a:solidFill>
          <a:ln/>
        </p:spPr>
      </p:sp>
      <p:sp>
        <p:nvSpPr>
          <p:cNvPr id="22" name="Text 19"/>
          <p:cNvSpPr/>
          <p:nvPr/>
        </p:nvSpPr>
        <p:spPr>
          <a:xfrm>
            <a:off x="7315308" y="4363830"/>
            <a:ext cx="4178141" cy="4246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8DA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 Core traduce las operaciones LINQ a consultas SQL automáticamente.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685692" y="6279600"/>
            <a:ext cx="1965505" cy="1593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spc="66" kern="0" dirty="0">
                <a:solidFill>
                  <a:srgbClr val="C4D0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RelojAPI · Dominican Watch Men</a:t>
            </a:r>
            <a:endParaRPr lang="en-US" sz="825" dirty="0"/>
          </a:p>
        </p:txBody>
      </p:sp>
      <p:sp>
        <p:nvSpPr>
          <p:cNvPr id="24" name="Text 21"/>
          <p:cNvSpPr/>
          <p:nvPr/>
        </p:nvSpPr>
        <p:spPr>
          <a:xfrm>
            <a:off x="11127202" y="6279600"/>
            <a:ext cx="455306" cy="1593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66" kern="0" dirty="0">
                <a:solidFill>
                  <a:srgbClr val="8DA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/ 25</a:t>
            </a:r>
            <a:endParaRPr lang="en-US" sz="825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13357"/>
          </a:solidFill>
          <a:ln/>
        </p:spPr>
      </p:sp>
      <p:sp>
        <p:nvSpPr>
          <p:cNvPr id="3" name="Shape 1"/>
          <p:cNvSpPr/>
          <p:nvPr/>
        </p:nvSpPr>
        <p:spPr>
          <a:xfrm>
            <a:off x="685692" y="514269"/>
            <a:ext cx="285750" cy="285750"/>
          </a:xfrm>
          <a:prstGeom prst="roundRect">
            <a:avLst>
              <a:gd name="adj" fmla="val 26667"/>
            </a:avLst>
          </a:prstGeom>
          <a:solidFill>
            <a:srgbClr val="4FC3F7">
              <a:alpha val="12000"/>
            </a:srgbClr>
          </a:solidFill>
          <a:ln w="8659">
            <a:solidFill>
              <a:srgbClr val="314363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7658" y="576235"/>
            <a:ext cx="161817" cy="16181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76163" y="592201"/>
            <a:ext cx="3696451" cy="1679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b="1" spc="169" kern="0" dirty="0">
                <a:solidFill>
                  <a:srgbClr val="4FC3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REACT · ÁRBOL DE COMPONENTES</a:t>
            </a:r>
            <a:endParaRPr lang="en-US" sz="938" dirty="0"/>
          </a:p>
        </p:txBody>
      </p:sp>
      <p:sp>
        <p:nvSpPr>
          <p:cNvPr id="6" name="Text 3"/>
          <p:cNvSpPr/>
          <p:nvPr/>
        </p:nvSpPr>
        <p:spPr>
          <a:xfrm>
            <a:off x="11029381" y="596530"/>
            <a:ext cx="553126" cy="1593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41" kern="0" dirty="0">
                <a:solidFill>
                  <a:srgbClr val="8DA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 / 25</a:t>
            </a:r>
            <a:endParaRPr lang="en-US" sz="825" dirty="0"/>
          </a:p>
        </p:txBody>
      </p:sp>
      <p:sp>
        <p:nvSpPr>
          <p:cNvPr id="7" name="Text 4"/>
          <p:cNvSpPr/>
          <p:nvPr/>
        </p:nvSpPr>
        <p:spPr>
          <a:xfrm>
            <a:off x="685692" y="971442"/>
            <a:ext cx="11145235" cy="4361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850" b="1" spc="-29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Componentes del Frontend</a:t>
            </a:r>
            <a:endParaRPr lang="en-US" sz="2850" dirty="0"/>
          </a:p>
        </p:txBody>
      </p:sp>
      <p:sp>
        <p:nvSpPr>
          <p:cNvPr id="8" name="Shape 5"/>
          <p:cNvSpPr/>
          <p:nvPr/>
        </p:nvSpPr>
        <p:spPr>
          <a:xfrm>
            <a:off x="685692" y="1559854"/>
            <a:ext cx="438096" cy="28548"/>
          </a:xfrm>
          <a:prstGeom prst="roundRect">
            <a:avLst>
              <a:gd name="adj" fmla="val 50000"/>
            </a:avLst>
          </a:prstGeom>
          <a:solidFill>
            <a:srgbClr val="4FC3F7"/>
          </a:solidFill>
          <a:ln/>
        </p:spPr>
      </p:sp>
      <p:sp>
        <p:nvSpPr>
          <p:cNvPr id="9" name="Shape 6"/>
          <p:cNvSpPr/>
          <p:nvPr/>
        </p:nvSpPr>
        <p:spPr>
          <a:xfrm>
            <a:off x="685692" y="1798123"/>
            <a:ext cx="10820616" cy="4310333"/>
          </a:xfrm>
          <a:prstGeom prst="roundRect">
            <a:avLst>
              <a:gd name="adj" fmla="val 3094"/>
            </a:avLst>
          </a:prstGeom>
          <a:solidFill>
            <a:srgbClr val="0A0E18"/>
          </a:solidFill>
          <a:ln w="8659">
            <a:solidFill>
              <a:srgbClr val="1C2C4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22870" y="2766317"/>
            <a:ext cx="350585" cy="2848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2000"/>
              </a:lnSpc>
              <a:buNone/>
            </a:pPr>
            <a:r>
              <a:rPr lang="en-US" sz="1200" b="1" dirty="0">
                <a:solidFill>
                  <a:srgbClr val="C4A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132311" y="3070197"/>
            <a:ext cx="350585" cy="2848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2000"/>
              </a:lnSpc>
              <a:buNone/>
            </a:pPr>
            <a:r>
              <a:rPr lang="en-US" sz="1200" dirty="0">
                <a:solidFill>
                  <a:srgbClr val="3D55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492340" y="3070197"/>
            <a:ext cx="350585" cy="2848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2000"/>
              </a:lnSpc>
              <a:buNone/>
            </a:pPr>
            <a:r>
              <a:rPr lang="en-US" sz="12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Nav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852369" y="3093333"/>
            <a:ext cx="1711009" cy="2386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2000"/>
              </a:lnSpc>
              <a:buNone/>
            </a:pPr>
            <a:r>
              <a:rPr lang="en-US" sz="975" dirty="0">
                <a:solidFill>
                  <a:srgbClr val="5F72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botón Admin si esAdmin</a:t>
            </a:r>
            <a:endParaRPr lang="en-US" sz="975" dirty="0"/>
          </a:p>
        </p:txBody>
      </p:sp>
      <p:sp>
        <p:nvSpPr>
          <p:cNvPr id="14" name="Text 11"/>
          <p:cNvSpPr/>
          <p:nvPr/>
        </p:nvSpPr>
        <p:spPr>
          <a:xfrm>
            <a:off x="1132311" y="3374077"/>
            <a:ext cx="350585" cy="2848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2000"/>
              </a:lnSpc>
              <a:buNone/>
            </a:pPr>
            <a:r>
              <a:rPr lang="en-US" sz="1200" dirty="0">
                <a:solidFill>
                  <a:srgbClr val="3D55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492340" y="3397213"/>
            <a:ext cx="2008260" cy="2386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2000"/>
              </a:lnSpc>
              <a:buNone/>
            </a:pPr>
            <a:r>
              <a:rPr lang="en-US" sz="975" dirty="0">
                <a:solidFill>
                  <a:srgbClr val="5F72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Secciones de la tienda ]</a:t>
            </a:r>
            <a:endParaRPr lang="en-US" sz="975" dirty="0"/>
          </a:p>
        </p:txBody>
      </p:sp>
      <p:sp>
        <p:nvSpPr>
          <p:cNvPr id="16" name="Text 13"/>
          <p:cNvSpPr/>
          <p:nvPr/>
        </p:nvSpPr>
        <p:spPr>
          <a:xfrm>
            <a:off x="1380043" y="3677957"/>
            <a:ext cx="350585" cy="2848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2000"/>
              </a:lnSpc>
              <a:buNone/>
            </a:pPr>
            <a:r>
              <a:rPr lang="en-US" sz="1200" dirty="0">
                <a:solidFill>
                  <a:srgbClr val="3D55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1740071" y="3677957"/>
            <a:ext cx="2731820" cy="2848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2000"/>
              </a:lnSpc>
              <a:buNone/>
            </a:pPr>
            <a:r>
              <a:rPr lang="en-US" sz="12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Hero · Strip · CollectionGrid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4477968" y="3701093"/>
            <a:ext cx="1265201" cy="2386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2000"/>
              </a:lnSpc>
              <a:buNone/>
            </a:pPr>
            <a:r>
              <a:rPr lang="en-US" sz="975" dirty="0">
                <a:solidFill>
                  <a:srgbClr val="5F72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fetch /api/reloj</a:t>
            </a:r>
            <a:endParaRPr lang="en-US" sz="975" dirty="0"/>
          </a:p>
        </p:txBody>
      </p:sp>
      <p:sp>
        <p:nvSpPr>
          <p:cNvPr id="19" name="Text 16"/>
          <p:cNvSpPr/>
          <p:nvPr/>
        </p:nvSpPr>
        <p:spPr>
          <a:xfrm>
            <a:off x="1380043" y="3981837"/>
            <a:ext cx="350585" cy="2848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2000"/>
              </a:lnSpc>
              <a:buNone/>
            </a:pPr>
            <a:r>
              <a:rPr lang="en-US" sz="1200" dirty="0">
                <a:solidFill>
                  <a:srgbClr val="3D55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1740071" y="3981837"/>
            <a:ext cx="5086818" cy="2848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2000"/>
              </a:lnSpc>
              <a:buNone/>
            </a:pPr>
            <a:r>
              <a:rPr lang="en-US" sz="12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Editorial · Specs · Process · FAQ · CTABanner · Footer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1380043" y="4285717"/>
            <a:ext cx="350585" cy="2848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2000"/>
              </a:lnSpc>
              <a:buNone/>
            </a:pPr>
            <a:r>
              <a:rPr lang="en-US" sz="1200" dirty="0">
                <a:solidFill>
                  <a:srgbClr val="3D55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1740071" y="4285717"/>
            <a:ext cx="1082278" cy="2848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2000"/>
              </a:lnSpc>
              <a:buNone/>
            </a:pPr>
            <a:r>
              <a:rPr lang="en-US" sz="12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PanelCuenta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2831793" y="4308853"/>
            <a:ext cx="1933981" cy="2386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2000"/>
              </a:lnSpc>
              <a:buNone/>
            </a:pPr>
            <a:r>
              <a:rPr lang="en-US" sz="975" dirty="0">
                <a:solidFill>
                  <a:srgbClr val="5F72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login / registro / perfil</a:t>
            </a:r>
            <a:endParaRPr lang="en-US" sz="975" dirty="0"/>
          </a:p>
        </p:txBody>
      </p:sp>
      <p:sp>
        <p:nvSpPr>
          <p:cNvPr id="24" name="Text 21"/>
          <p:cNvSpPr/>
          <p:nvPr/>
        </p:nvSpPr>
        <p:spPr>
          <a:xfrm>
            <a:off x="1132311" y="4589597"/>
            <a:ext cx="350585" cy="2848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2000"/>
              </a:lnSpc>
              <a:buNone/>
            </a:pPr>
            <a:r>
              <a:rPr lang="en-US" sz="1200" dirty="0">
                <a:solidFill>
                  <a:srgbClr val="3D55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1492340" y="4589597"/>
            <a:ext cx="899355" cy="2848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2000"/>
              </a:lnSpc>
              <a:buNone/>
            </a:pPr>
            <a:r>
              <a:rPr lang="en-US" sz="1200" dirty="0">
                <a:solidFill>
                  <a:srgbClr val="FFD4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AdminPage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2401139" y="4612733"/>
            <a:ext cx="1190923" cy="2386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2000"/>
              </a:lnSpc>
              <a:buNone/>
            </a:pPr>
            <a:r>
              <a:rPr lang="en-US" sz="975" dirty="0">
                <a:solidFill>
                  <a:srgbClr val="5F72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solo si esAdmin</a:t>
            </a:r>
            <a:endParaRPr lang="en-US" sz="975" dirty="0"/>
          </a:p>
        </p:txBody>
      </p:sp>
      <p:sp>
        <p:nvSpPr>
          <p:cNvPr id="27" name="Text 24"/>
          <p:cNvSpPr/>
          <p:nvPr/>
        </p:nvSpPr>
        <p:spPr>
          <a:xfrm>
            <a:off x="1380043" y="4893477"/>
            <a:ext cx="350585" cy="2848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2000"/>
              </a:lnSpc>
              <a:buNone/>
            </a:pPr>
            <a:r>
              <a:rPr lang="en-US" sz="1200" dirty="0">
                <a:solidFill>
                  <a:srgbClr val="3D55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1740071" y="4893477"/>
            <a:ext cx="990816" cy="2848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2000"/>
              </a:lnSpc>
              <a:buNone/>
            </a:pPr>
            <a:r>
              <a:rPr lang="en-US" sz="1200" dirty="0">
                <a:solidFill>
                  <a:srgbClr val="FFD4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RelojModal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2740332" y="4916613"/>
            <a:ext cx="1116509" cy="2386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2000"/>
              </a:lnSpc>
              <a:buNone/>
            </a:pPr>
            <a:r>
              <a:rPr lang="en-US" sz="975" dirty="0">
                <a:solidFill>
                  <a:srgbClr val="5F72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crear / editar</a:t>
            </a:r>
            <a:endParaRPr lang="en-US" sz="975" dirty="0"/>
          </a:p>
        </p:txBody>
      </p:sp>
      <p:sp>
        <p:nvSpPr>
          <p:cNvPr id="30" name="Text 27"/>
          <p:cNvSpPr/>
          <p:nvPr/>
        </p:nvSpPr>
        <p:spPr>
          <a:xfrm>
            <a:off x="685692" y="6279600"/>
            <a:ext cx="1965505" cy="1593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spc="66" kern="0" dirty="0">
                <a:solidFill>
                  <a:srgbClr val="C4D0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RelojAPI · Dominican Watch Men</a:t>
            </a:r>
            <a:endParaRPr lang="en-US" sz="825" dirty="0"/>
          </a:p>
        </p:txBody>
      </p:sp>
      <p:sp>
        <p:nvSpPr>
          <p:cNvPr id="31" name="Text 28"/>
          <p:cNvSpPr/>
          <p:nvPr/>
        </p:nvSpPr>
        <p:spPr>
          <a:xfrm>
            <a:off x="11127202" y="6279600"/>
            <a:ext cx="455306" cy="1593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66" kern="0" dirty="0">
                <a:solidFill>
                  <a:srgbClr val="8DA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/ 25</a:t>
            </a:r>
            <a:endParaRPr lang="en-US" sz="825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13357"/>
          </a:solidFill>
          <a:ln/>
        </p:spPr>
      </p:sp>
      <p:sp>
        <p:nvSpPr>
          <p:cNvPr id="3" name="Shape 1"/>
          <p:cNvSpPr/>
          <p:nvPr/>
        </p:nvSpPr>
        <p:spPr>
          <a:xfrm>
            <a:off x="685692" y="514269"/>
            <a:ext cx="285750" cy="285750"/>
          </a:xfrm>
          <a:prstGeom prst="roundRect">
            <a:avLst>
              <a:gd name="adj" fmla="val 26667"/>
            </a:avLst>
          </a:prstGeom>
          <a:solidFill>
            <a:srgbClr val="4FC3F7">
              <a:alpha val="12000"/>
            </a:srgbClr>
          </a:solidFill>
          <a:ln w="8659">
            <a:solidFill>
              <a:srgbClr val="314363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7658" y="576235"/>
            <a:ext cx="161817" cy="16181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76163" y="592201"/>
            <a:ext cx="1388458" cy="1679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b="1" spc="169" kern="0" dirty="0">
                <a:solidFill>
                  <a:srgbClr val="4FC3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SESIÓN &amp; ROLES</a:t>
            </a:r>
            <a:endParaRPr lang="en-US" sz="938" dirty="0"/>
          </a:p>
        </p:txBody>
      </p:sp>
      <p:sp>
        <p:nvSpPr>
          <p:cNvPr id="6" name="Text 3"/>
          <p:cNvSpPr/>
          <p:nvPr/>
        </p:nvSpPr>
        <p:spPr>
          <a:xfrm>
            <a:off x="11029381" y="596530"/>
            <a:ext cx="553126" cy="1593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41" kern="0" dirty="0">
                <a:solidFill>
                  <a:srgbClr val="8DA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 / 25</a:t>
            </a:r>
            <a:endParaRPr lang="en-US" sz="825" dirty="0"/>
          </a:p>
        </p:txBody>
      </p:sp>
      <p:sp>
        <p:nvSpPr>
          <p:cNvPr id="7" name="Text 4"/>
          <p:cNvSpPr/>
          <p:nvPr/>
        </p:nvSpPr>
        <p:spPr>
          <a:xfrm>
            <a:off x="685692" y="971442"/>
            <a:ext cx="11145235" cy="4361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850" b="1" spc="-29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 de Cuenta y Sistema de Roles</a:t>
            </a:r>
            <a:endParaRPr lang="en-US" sz="2850" dirty="0"/>
          </a:p>
        </p:txBody>
      </p:sp>
      <p:sp>
        <p:nvSpPr>
          <p:cNvPr id="8" name="Shape 5"/>
          <p:cNvSpPr/>
          <p:nvPr/>
        </p:nvSpPr>
        <p:spPr>
          <a:xfrm>
            <a:off x="685692" y="1559854"/>
            <a:ext cx="438096" cy="28548"/>
          </a:xfrm>
          <a:prstGeom prst="roundRect">
            <a:avLst>
              <a:gd name="adj" fmla="val 50000"/>
            </a:avLst>
          </a:prstGeom>
          <a:solidFill>
            <a:srgbClr val="4FC3F7"/>
          </a:solidFill>
          <a:ln/>
        </p:spPr>
      </p:sp>
      <p:sp>
        <p:nvSpPr>
          <p:cNvPr id="9" name="Shape 6"/>
          <p:cNvSpPr/>
          <p:nvPr/>
        </p:nvSpPr>
        <p:spPr>
          <a:xfrm>
            <a:off x="2508430" y="3518981"/>
            <a:ext cx="1036520" cy="374912"/>
          </a:xfrm>
          <a:prstGeom prst="roundRect">
            <a:avLst>
              <a:gd name="adj" fmla="val 22865"/>
            </a:avLst>
          </a:prstGeom>
          <a:solidFill>
            <a:srgbClr val="22324F"/>
          </a:solidFill>
          <a:ln w="8659">
            <a:solidFill>
              <a:srgbClr val="4FC3F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602814" y="3622891"/>
            <a:ext cx="847752" cy="2051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13" b="1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Abre panel</a:t>
            </a:r>
            <a:endParaRPr lang="en-US" sz="1013" dirty="0"/>
          </a:p>
        </p:txBody>
      </p:sp>
      <p:sp>
        <p:nvSpPr>
          <p:cNvPr id="11" name="Text 8"/>
          <p:cNvSpPr/>
          <p:nvPr/>
        </p:nvSpPr>
        <p:spPr>
          <a:xfrm>
            <a:off x="3602046" y="3615585"/>
            <a:ext cx="228681" cy="2199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8DA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3811623" y="3518981"/>
            <a:ext cx="1268016" cy="374912"/>
          </a:xfrm>
          <a:prstGeom prst="roundRect">
            <a:avLst>
              <a:gd name="adj" fmla="val 22865"/>
            </a:avLst>
          </a:prstGeom>
          <a:solidFill>
            <a:srgbClr val="22324F"/>
          </a:solidFill>
          <a:ln w="8659">
            <a:solidFill>
              <a:srgbClr val="4FC3F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906008" y="3622891"/>
            <a:ext cx="1079247" cy="2051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13" b="1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Inicia sesión</a:t>
            </a:r>
            <a:endParaRPr lang="en-US" sz="1013" dirty="0"/>
          </a:p>
        </p:txBody>
      </p:sp>
      <p:sp>
        <p:nvSpPr>
          <p:cNvPr id="14" name="Text 11"/>
          <p:cNvSpPr/>
          <p:nvPr/>
        </p:nvSpPr>
        <p:spPr>
          <a:xfrm>
            <a:off x="5136735" y="3615585"/>
            <a:ext cx="228681" cy="2199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8DA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346312" y="3518981"/>
            <a:ext cx="1499376" cy="374912"/>
          </a:xfrm>
          <a:prstGeom prst="roundRect">
            <a:avLst>
              <a:gd name="adj" fmla="val 22865"/>
            </a:avLst>
          </a:prstGeom>
          <a:solidFill>
            <a:srgbClr val="22324F"/>
          </a:solidFill>
          <a:ln w="8659">
            <a:solidFill>
              <a:srgbClr val="7EE78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440696" y="3622891"/>
            <a:ext cx="1310607" cy="2051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13" b="1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API: { esAdmin }</a:t>
            </a:r>
            <a:endParaRPr lang="en-US" sz="1013" dirty="0"/>
          </a:p>
        </p:txBody>
      </p:sp>
      <p:sp>
        <p:nvSpPr>
          <p:cNvPr id="17" name="Text 14"/>
          <p:cNvSpPr/>
          <p:nvPr/>
        </p:nvSpPr>
        <p:spPr>
          <a:xfrm>
            <a:off x="6902783" y="3615585"/>
            <a:ext cx="228681" cy="2199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8DA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7112361" y="3435503"/>
            <a:ext cx="1190760" cy="542005"/>
          </a:xfrm>
          <a:prstGeom prst="roundRect">
            <a:avLst>
              <a:gd name="adj" fmla="val 15816"/>
            </a:avLst>
          </a:prstGeom>
          <a:solidFill>
            <a:srgbClr val="22324F"/>
          </a:solidFill>
          <a:ln w="8659">
            <a:solidFill>
              <a:srgbClr val="C4A5F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206745" y="3539412"/>
            <a:ext cx="1001992" cy="3722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13" b="1" dirty="0">
                <a:solidFill>
                  <a:srgbClr val="C4A5FF"/>
                </a:solidFill>
                <a:highlight>
                  <a:srgbClr val="22324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React guarda en estado</a:t>
            </a:r>
            <a:endParaRPr lang="en-US" sz="1013" dirty="0"/>
          </a:p>
        </p:txBody>
      </p:sp>
      <p:sp>
        <p:nvSpPr>
          <p:cNvPr id="20" name="Text 17"/>
          <p:cNvSpPr/>
          <p:nvPr/>
        </p:nvSpPr>
        <p:spPr>
          <a:xfrm>
            <a:off x="8360216" y="3615585"/>
            <a:ext cx="228681" cy="2199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8DA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8569794" y="3435503"/>
            <a:ext cx="1113640" cy="542005"/>
          </a:xfrm>
          <a:prstGeom prst="roundRect">
            <a:avLst>
              <a:gd name="adj" fmla="val 15816"/>
            </a:avLst>
          </a:prstGeom>
          <a:solidFill>
            <a:srgbClr val="22324F"/>
          </a:solidFill>
          <a:ln w="8659">
            <a:solidFill>
              <a:srgbClr val="FFD479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664178" y="3539412"/>
            <a:ext cx="924872" cy="3722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13" b="1" dirty="0">
                <a:solidFill>
                  <a:srgbClr val="FFD479"/>
                </a:solidFill>
                <a:highlight>
                  <a:srgbClr val="22324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 admin: botón Admin</a:t>
            </a:r>
            <a:endParaRPr lang="en-US" sz="1013" dirty="0"/>
          </a:p>
        </p:txBody>
      </p:sp>
      <p:sp>
        <p:nvSpPr>
          <p:cNvPr id="23" name="Shape 20"/>
          <p:cNvSpPr/>
          <p:nvPr/>
        </p:nvSpPr>
        <p:spPr>
          <a:xfrm>
            <a:off x="685692" y="5614608"/>
            <a:ext cx="10820616" cy="493568"/>
          </a:xfrm>
          <a:prstGeom prst="roundRect">
            <a:avLst>
              <a:gd name="adj" fmla="val 23158"/>
            </a:avLst>
          </a:prstGeom>
          <a:solidFill>
            <a:srgbClr val="FFD479">
              <a:alpha val="8000"/>
            </a:srgbClr>
          </a:solidFill>
          <a:ln w="8659">
            <a:solidFill>
              <a:srgbClr val="FFD479">
                <a:alpha val="25000"/>
              </a:srgbClr>
            </a:solidFill>
            <a:prstDash val="solid"/>
          </a:ln>
        </p:spPr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4851" y="5766143"/>
            <a:ext cx="190500" cy="190500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1170601" y="5783461"/>
            <a:ext cx="5092392" cy="1939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88" b="1" dirty="0">
                <a:solidFill>
                  <a:srgbClr val="FFD4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JWT: </a:t>
            </a:r>
            <a:pPr algn="l" indent="0" marL="0">
              <a:buNone/>
            </a:pPr>
            <a:r>
              <a:rPr lang="en-US" sz="1088" dirty="0">
                <a:solidFill>
                  <a:srgbClr val="C4D0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sesión vive en el estado de React — se pierde al recargar la página.</a:t>
            </a:r>
            <a:endParaRPr lang="en-US" sz="1088" dirty="0"/>
          </a:p>
        </p:txBody>
      </p:sp>
      <p:sp>
        <p:nvSpPr>
          <p:cNvPr id="26" name="Text 22"/>
          <p:cNvSpPr/>
          <p:nvPr/>
        </p:nvSpPr>
        <p:spPr>
          <a:xfrm>
            <a:off x="685692" y="6279600"/>
            <a:ext cx="1965505" cy="1593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spc="66" kern="0" dirty="0">
                <a:solidFill>
                  <a:srgbClr val="C4D0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RelojAPI · Dominican Watch Men</a:t>
            </a:r>
            <a:endParaRPr lang="en-US" sz="825" dirty="0"/>
          </a:p>
        </p:txBody>
      </p:sp>
      <p:sp>
        <p:nvSpPr>
          <p:cNvPr id="27" name="Text 23"/>
          <p:cNvSpPr/>
          <p:nvPr/>
        </p:nvSpPr>
        <p:spPr>
          <a:xfrm>
            <a:off x="11127202" y="6279600"/>
            <a:ext cx="455306" cy="1593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66" kern="0" dirty="0">
                <a:solidFill>
                  <a:srgbClr val="8DA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 / 25</a:t>
            </a:r>
            <a:endParaRPr lang="en-US" sz="825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13357"/>
          </a:solidFill>
          <a:ln/>
        </p:spPr>
      </p:sp>
      <p:sp>
        <p:nvSpPr>
          <p:cNvPr id="3" name="Shape 1"/>
          <p:cNvSpPr/>
          <p:nvPr/>
        </p:nvSpPr>
        <p:spPr>
          <a:xfrm>
            <a:off x="685692" y="514269"/>
            <a:ext cx="285750" cy="285750"/>
          </a:xfrm>
          <a:prstGeom prst="roundRect">
            <a:avLst>
              <a:gd name="adj" fmla="val 26667"/>
            </a:avLst>
          </a:prstGeom>
          <a:solidFill>
            <a:srgbClr val="4FC3F7">
              <a:alpha val="12000"/>
            </a:srgbClr>
          </a:solidFill>
          <a:ln w="8659">
            <a:solidFill>
              <a:srgbClr val="314363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7658" y="576235"/>
            <a:ext cx="161817" cy="16181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76163" y="592201"/>
            <a:ext cx="2529699" cy="1679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b="1" spc="169" kern="0" dirty="0">
                <a:solidFill>
                  <a:srgbClr val="4FC3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DEMOSTRACIÓN · PANEL ADMIN</a:t>
            </a:r>
            <a:endParaRPr lang="en-US" sz="938" dirty="0"/>
          </a:p>
        </p:txBody>
      </p:sp>
      <p:sp>
        <p:nvSpPr>
          <p:cNvPr id="6" name="Text 3"/>
          <p:cNvSpPr/>
          <p:nvPr/>
        </p:nvSpPr>
        <p:spPr>
          <a:xfrm>
            <a:off x="11029381" y="596530"/>
            <a:ext cx="553126" cy="1593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41" kern="0" dirty="0">
                <a:solidFill>
                  <a:srgbClr val="8DA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 / 25</a:t>
            </a:r>
            <a:endParaRPr lang="en-US" sz="825" dirty="0"/>
          </a:p>
        </p:txBody>
      </p:sp>
      <p:sp>
        <p:nvSpPr>
          <p:cNvPr id="7" name="Text 4"/>
          <p:cNvSpPr/>
          <p:nvPr/>
        </p:nvSpPr>
        <p:spPr>
          <a:xfrm>
            <a:off x="685692" y="971442"/>
            <a:ext cx="11145235" cy="4361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850" b="1" spc="-29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Dashboard</a:t>
            </a:r>
            <a:endParaRPr lang="en-US" sz="2850" dirty="0"/>
          </a:p>
        </p:txBody>
      </p:sp>
      <p:sp>
        <p:nvSpPr>
          <p:cNvPr id="8" name="Shape 5"/>
          <p:cNvSpPr/>
          <p:nvPr/>
        </p:nvSpPr>
        <p:spPr>
          <a:xfrm>
            <a:off x="685692" y="1559854"/>
            <a:ext cx="438096" cy="28548"/>
          </a:xfrm>
          <a:prstGeom prst="roundRect">
            <a:avLst>
              <a:gd name="adj" fmla="val 50000"/>
            </a:avLst>
          </a:prstGeom>
          <a:solidFill>
            <a:srgbClr val="4FC3F7"/>
          </a:solidFill>
          <a:ln/>
        </p:spPr>
      </p:sp>
      <p:sp>
        <p:nvSpPr>
          <p:cNvPr id="9" name="Shape 6"/>
          <p:cNvSpPr/>
          <p:nvPr/>
        </p:nvSpPr>
        <p:spPr>
          <a:xfrm>
            <a:off x="685692" y="1798121"/>
            <a:ext cx="10820616" cy="4310333"/>
          </a:xfrm>
          <a:prstGeom prst="roundRect">
            <a:avLst>
              <a:gd name="adj" fmla="val 2873"/>
            </a:avLst>
          </a:prstGeom>
          <a:solidFill>
            <a:srgbClr val="0D1117"/>
          </a:solidFill>
          <a:ln w="8659">
            <a:solidFill>
              <a:srgbClr val="1C2C49"/>
            </a:solidFill>
            <a:prstDash val="solid"/>
          </a:ln>
          <a:effectLst>
            <a:outerShdw sx="100000" sy="100000" kx="0" ky="0" algn="bl" rotWithShape="0" blurRad="381000" dist="171450" dir="5400000">
              <a:srgbClr val="000000">
                <a:alpha val="3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94351" y="2364209"/>
            <a:ext cx="10803298" cy="9525"/>
          </a:xfrm>
          <a:prstGeom prst="rect">
            <a:avLst/>
          </a:prstGeom>
          <a:solidFill>
            <a:srgbClr val="1C2C49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4851" y="1999716"/>
            <a:ext cx="171423" cy="17142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151524" y="1985915"/>
            <a:ext cx="1650125" cy="2372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Gestión de Relojes</a:t>
            </a:r>
            <a:endParaRPr lang="en-US" sz="1275" dirty="0"/>
          </a:p>
        </p:txBody>
      </p:sp>
      <p:sp>
        <p:nvSpPr>
          <p:cNvPr id="13" name="Shape 9"/>
          <p:cNvSpPr/>
          <p:nvPr/>
        </p:nvSpPr>
        <p:spPr>
          <a:xfrm>
            <a:off x="10028716" y="1940049"/>
            <a:ext cx="1278434" cy="290891"/>
          </a:xfrm>
          <a:prstGeom prst="roundRect">
            <a:avLst>
              <a:gd name="adj" fmla="val 26195"/>
            </a:avLst>
          </a:prstGeom>
          <a:solidFill>
            <a:srgbClr val="4FC3F7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1984" y="2018793"/>
            <a:ext cx="133269" cy="13326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0361820" y="2016222"/>
            <a:ext cx="888260" cy="1766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0A0E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Agregar Reloj</a:t>
            </a:r>
            <a:endParaRPr lang="en-US" sz="975" dirty="0"/>
          </a:p>
        </p:txBody>
      </p:sp>
      <p:sp>
        <p:nvSpPr>
          <p:cNvPr id="16" name="Shape 11"/>
          <p:cNvSpPr/>
          <p:nvPr/>
        </p:nvSpPr>
        <p:spPr>
          <a:xfrm>
            <a:off x="884851" y="2760633"/>
            <a:ext cx="10422298" cy="9525"/>
          </a:xfrm>
          <a:prstGeom prst="rect">
            <a:avLst/>
          </a:prstGeom>
          <a:solidFill>
            <a:srgbClr val="314363"/>
          </a:solidFill>
          <a:ln/>
        </p:spPr>
      </p:sp>
      <p:sp>
        <p:nvSpPr>
          <p:cNvPr id="17" name="Text 12"/>
          <p:cNvSpPr/>
          <p:nvPr/>
        </p:nvSpPr>
        <p:spPr>
          <a:xfrm>
            <a:off x="961024" y="2534685"/>
            <a:ext cx="685719" cy="1593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83" kern="0" dirty="0">
                <a:solidFill>
                  <a:srgbClr val="8DA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IMAGEN</a:t>
            </a:r>
            <a:endParaRPr lang="en-US" sz="825" dirty="0"/>
          </a:p>
        </p:txBody>
      </p:sp>
      <p:sp>
        <p:nvSpPr>
          <p:cNvPr id="18" name="Text 13"/>
          <p:cNvSpPr/>
          <p:nvPr/>
        </p:nvSpPr>
        <p:spPr>
          <a:xfrm>
            <a:off x="1703811" y="2534685"/>
            <a:ext cx="2497633" cy="1593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83" kern="0" dirty="0">
                <a:solidFill>
                  <a:srgbClr val="8DA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NOMBRE</a:t>
            </a:r>
            <a:endParaRPr lang="en-US" sz="825" dirty="0"/>
          </a:p>
        </p:txBody>
      </p:sp>
      <p:sp>
        <p:nvSpPr>
          <p:cNvPr id="19" name="Text 14"/>
          <p:cNvSpPr/>
          <p:nvPr/>
        </p:nvSpPr>
        <p:spPr>
          <a:xfrm>
            <a:off x="4258514" y="2534685"/>
            <a:ext cx="2151811" cy="1593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83" kern="0" dirty="0">
                <a:solidFill>
                  <a:srgbClr val="8DA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MARCA</a:t>
            </a:r>
            <a:endParaRPr lang="en-US" sz="825" dirty="0"/>
          </a:p>
        </p:txBody>
      </p:sp>
      <p:sp>
        <p:nvSpPr>
          <p:cNvPr id="20" name="Text 15"/>
          <p:cNvSpPr/>
          <p:nvPr/>
        </p:nvSpPr>
        <p:spPr>
          <a:xfrm>
            <a:off x="6467394" y="2534685"/>
            <a:ext cx="1459896" cy="1593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83" kern="0" dirty="0">
                <a:solidFill>
                  <a:srgbClr val="8DA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PRECIO</a:t>
            </a:r>
            <a:endParaRPr lang="en-US" sz="825" dirty="0"/>
          </a:p>
        </p:txBody>
      </p:sp>
      <p:sp>
        <p:nvSpPr>
          <p:cNvPr id="21" name="Text 16"/>
          <p:cNvSpPr/>
          <p:nvPr/>
        </p:nvSpPr>
        <p:spPr>
          <a:xfrm>
            <a:off x="7984358" y="2534685"/>
            <a:ext cx="1113938" cy="1593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83" kern="0" dirty="0">
                <a:solidFill>
                  <a:srgbClr val="8DA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STOCK</a:t>
            </a:r>
            <a:endParaRPr lang="en-US" sz="825" dirty="0"/>
          </a:p>
        </p:txBody>
      </p:sp>
      <p:sp>
        <p:nvSpPr>
          <p:cNvPr id="22" name="Text 17"/>
          <p:cNvSpPr/>
          <p:nvPr/>
        </p:nvSpPr>
        <p:spPr>
          <a:xfrm>
            <a:off x="9079165" y="2534685"/>
            <a:ext cx="2151811" cy="1593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825" spc="83" kern="0" dirty="0">
                <a:solidFill>
                  <a:srgbClr val="8DA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ACCIONES</a:t>
            </a:r>
            <a:endParaRPr lang="en-US" sz="825" dirty="0"/>
          </a:p>
        </p:txBody>
      </p:sp>
      <p:sp>
        <p:nvSpPr>
          <p:cNvPr id="23" name="Shape 18"/>
          <p:cNvSpPr/>
          <p:nvPr/>
        </p:nvSpPr>
        <p:spPr>
          <a:xfrm>
            <a:off x="884851" y="3397753"/>
            <a:ext cx="10422298" cy="9525"/>
          </a:xfrm>
          <a:prstGeom prst="rect">
            <a:avLst/>
          </a:prstGeom>
          <a:solidFill>
            <a:srgbClr val="1C2C49"/>
          </a:solidFill>
          <a:ln/>
        </p:spPr>
      </p:sp>
      <p:sp>
        <p:nvSpPr>
          <p:cNvPr id="24" name="Shape 19"/>
          <p:cNvSpPr/>
          <p:nvPr/>
        </p:nvSpPr>
        <p:spPr>
          <a:xfrm>
            <a:off x="961024" y="2874013"/>
            <a:ext cx="419019" cy="419019"/>
          </a:xfrm>
          <a:prstGeom prst="roundRect">
            <a:avLst>
              <a:gd name="adj" fmla="val 18185"/>
            </a:avLst>
          </a:prstGeom>
          <a:solidFill>
            <a:srgbClr val="22324F"/>
          </a:solidFill>
          <a:ln w="8659">
            <a:solidFill>
              <a:srgbClr val="314363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1703811" y="3005523"/>
            <a:ext cx="2497633" cy="1939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88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Seamaster Diver</a:t>
            </a:r>
            <a:endParaRPr lang="en-US" sz="1088" dirty="0"/>
          </a:p>
        </p:txBody>
      </p:sp>
      <p:sp>
        <p:nvSpPr>
          <p:cNvPr id="26" name="Text 21"/>
          <p:cNvSpPr/>
          <p:nvPr/>
        </p:nvSpPr>
        <p:spPr>
          <a:xfrm>
            <a:off x="4258514" y="3005523"/>
            <a:ext cx="2151811" cy="1939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88" dirty="0">
                <a:solidFill>
                  <a:srgbClr val="8DA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Omega</a:t>
            </a:r>
            <a:endParaRPr lang="en-US" sz="1088" dirty="0"/>
          </a:p>
        </p:txBody>
      </p:sp>
      <p:sp>
        <p:nvSpPr>
          <p:cNvPr id="27" name="Text 22"/>
          <p:cNvSpPr/>
          <p:nvPr/>
        </p:nvSpPr>
        <p:spPr>
          <a:xfrm>
            <a:off x="6467394" y="3014182"/>
            <a:ext cx="1459896" cy="1766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$5,400</a:t>
            </a:r>
            <a:endParaRPr lang="en-US" sz="1000" dirty="0"/>
          </a:p>
        </p:txBody>
      </p:sp>
      <p:sp>
        <p:nvSpPr>
          <p:cNvPr id="28" name="Shape 23"/>
          <p:cNvSpPr/>
          <p:nvPr/>
        </p:nvSpPr>
        <p:spPr>
          <a:xfrm>
            <a:off x="7984358" y="2995240"/>
            <a:ext cx="308480" cy="185088"/>
          </a:xfrm>
          <a:prstGeom prst="roundRect">
            <a:avLst>
              <a:gd name="adj" fmla="val 50000"/>
            </a:avLst>
          </a:prstGeom>
          <a:solidFill>
            <a:srgbClr val="7EE787">
              <a:alpha val="16000"/>
            </a:srgbClr>
          </a:solidFill>
          <a:ln/>
        </p:spPr>
      </p:sp>
      <p:sp>
        <p:nvSpPr>
          <p:cNvPr id="29" name="Text 24"/>
          <p:cNvSpPr/>
          <p:nvPr/>
        </p:nvSpPr>
        <p:spPr>
          <a:xfrm>
            <a:off x="8070083" y="3014290"/>
            <a:ext cx="213230" cy="185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28</a:t>
            </a:r>
            <a:endParaRPr lang="en-US" sz="900" dirty="0"/>
          </a:p>
        </p:txBody>
      </p:sp>
      <p:sp>
        <p:nvSpPr>
          <p:cNvPr id="30" name="Shape 25"/>
          <p:cNvSpPr/>
          <p:nvPr/>
        </p:nvSpPr>
        <p:spPr>
          <a:xfrm>
            <a:off x="9926159" y="2962228"/>
            <a:ext cx="550799" cy="242455"/>
          </a:xfrm>
          <a:prstGeom prst="roundRect">
            <a:avLst>
              <a:gd name="adj" fmla="val 27500"/>
            </a:avLst>
          </a:prstGeom>
          <a:solidFill>
            <a:srgbClr val="4FC3F7">
              <a:alpha val="12000"/>
            </a:srgbClr>
          </a:solidFill>
          <a:ln w="8659">
            <a:solidFill>
              <a:srgbClr val="4FC3F7">
                <a:alpha val="30000"/>
              </a:srgbClr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10039593" y="3018512"/>
            <a:ext cx="400131" cy="1679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FC3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Editar</a:t>
            </a:r>
            <a:endParaRPr lang="en-US" sz="900" dirty="0"/>
          </a:p>
        </p:txBody>
      </p:sp>
      <p:sp>
        <p:nvSpPr>
          <p:cNvPr id="32" name="Shape 27"/>
          <p:cNvSpPr/>
          <p:nvPr/>
        </p:nvSpPr>
        <p:spPr>
          <a:xfrm>
            <a:off x="10553131" y="2962228"/>
            <a:ext cx="677844" cy="242455"/>
          </a:xfrm>
          <a:prstGeom prst="roundRect">
            <a:avLst>
              <a:gd name="adj" fmla="val 27500"/>
            </a:avLst>
          </a:prstGeom>
          <a:solidFill>
            <a:srgbClr val="FF9A9A">
              <a:alpha val="10000"/>
            </a:srgbClr>
          </a:solidFill>
          <a:ln w="8659">
            <a:solidFill>
              <a:srgbClr val="FF9A9A">
                <a:alpha val="25000"/>
              </a:srgbClr>
            </a:solidFill>
            <a:prstDash val="solid"/>
          </a:ln>
        </p:spPr>
      </p:sp>
      <p:sp>
        <p:nvSpPr>
          <p:cNvPr id="33" name="Text 28"/>
          <p:cNvSpPr/>
          <p:nvPr/>
        </p:nvSpPr>
        <p:spPr>
          <a:xfrm>
            <a:off x="10666566" y="3018512"/>
            <a:ext cx="527176" cy="1679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Eliminar</a:t>
            </a:r>
            <a:endParaRPr lang="en-US" sz="900" dirty="0"/>
          </a:p>
        </p:txBody>
      </p:sp>
      <p:sp>
        <p:nvSpPr>
          <p:cNvPr id="34" name="Shape 29"/>
          <p:cNvSpPr/>
          <p:nvPr/>
        </p:nvSpPr>
        <p:spPr>
          <a:xfrm>
            <a:off x="884851" y="4034872"/>
            <a:ext cx="10422298" cy="9525"/>
          </a:xfrm>
          <a:prstGeom prst="rect">
            <a:avLst/>
          </a:prstGeom>
          <a:solidFill>
            <a:srgbClr val="1C2C49"/>
          </a:solidFill>
          <a:ln/>
        </p:spPr>
      </p:sp>
      <p:sp>
        <p:nvSpPr>
          <p:cNvPr id="35" name="Shape 30"/>
          <p:cNvSpPr/>
          <p:nvPr/>
        </p:nvSpPr>
        <p:spPr>
          <a:xfrm>
            <a:off x="961024" y="3511133"/>
            <a:ext cx="419019" cy="419019"/>
          </a:xfrm>
          <a:prstGeom prst="roundRect">
            <a:avLst>
              <a:gd name="adj" fmla="val 18185"/>
            </a:avLst>
          </a:prstGeom>
          <a:solidFill>
            <a:srgbClr val="22324F"/>
          </a:solidFill>
          <a:ln w="8659">
            <a:solidFill>
              <a:srgbClr val="314363"/>
            </a:solidFill>
            <a:prstDash val="solid"/>
          </a:ln>
        </p:spPr>
      </p:sp>
      <p:sp>
        <p:nvSpPr>
          <p:cNvPr id="36" name="Text 31"/>
          <p:cNvSpPr/>
          <p:nvPr/>
        </p:nvSpPr>
        <p:spPr>
          <a:xfrm>
            <a:off x="1703811" y="3642643"/>
            <a:ext cx="2497633" cy="1939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88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Submariner</a:t>
            </a:r>
            <a:endParaRPr lang="en-US" sz="1088" dirty="0"/>
          </a:p>
        </p:txBody>
      </p:sp>
      <p:sp>
        <p:nvSpPr>
          <p:cNvPr id="37" name="Text 32"/>
          <p:cNvSpPr/>
          <p:nvPr/>
        </p:nvSpPr>
        <p:spPr>
          <a:xfrm>
            <a:off x="4258514" y="3642643"/>
            <a:ext cx="2151811" cy="1939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88" dirty="0">
                <a:solidFill>
                  <a:srgbClr val="8DA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Rolex</a:t>
            </a:r>
            <a:endParaRPr lang="en-US" sz="1088" dirty="0"/>
          </a:p>
        </p:txBody>
      </p:sp>
      <p:sp>
        <p:nvSpPr>
          <p:cNvPr id="38" name="Text 33"/>
          <p:cNvSpPr/>
          <p:nvPr/>
        </p:nvSpPr>
        <p:spPr>
          <a:xfrm>
            <a:off x="6467394" y="3651302"/>
            <a:ext cx="1459896" cy="1766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$9,200</a:t>
            </a:r>
            <a:endParaRPr lang="en-US" sz="1000" dirty="0"/>
          </a:p>
        </p:txBody>
      </p:sp>
      <p:sp>
        <p:nvSpPr>
          <p:cNvPr id="39" name="Shape 34"/>
          <p:cNvSpPr/>
          <p:nvPr/>
        </p:nvSpPr>
        <p:spPr>
          <a:xfrm>
            <a:off x="7984358" y="3632360"/>
            <a:ext cx="239884" cy="185088"/>
          </a:xfrm>
          <a:prstGeom prst="ellipse">
            <a:avLst/>
          </a:prstGeom>
          <a:solidFill>
            <a:srgbClr val="FFD479">
              <a:alpha val="16000"/>
            </a:srgbClr>
          </a:solidFill>
          <a:ln/>
        </p:spPr>
      </p:sp>
      <p:sp>
        <p:nvSpPr>
          <p:cNvPr id="40" name="Text 35"/>
          <p:cNvSpPr/>
          <p:nvPr/>
        </p:nvSpPr>
        <p:spPr>
          <a:xfrm>
            <a:off x="8070083" y="3651410"/>
            <a:ext cx="144634" cy="185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D4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900" dirty="0"/>
          </a:p>
        </p:txBody>
      </p:sp>
      <p:sp>
        <p:nvSpPr>
          <p:cNvPr id="41" name="Shape 36"/>
          <p:cNvSpPr/>
          <p:nvPr/>
        </p:nvSpPr>
        <p:spPr>
          <a:xfrm>
            <a:off x="9926159" y="3599347"/>
            <a:ext cx="550799" cy="242455"/>
          </a:xfrm>
          <a:prstGeom prst="roundRect">
            <a:avLst>
              <a:gd name="adj" fmla="val 27500"/>
            </a:avLst>
          </a:prstGeom>
          <a:solidFill>
            <a:srgbClr val="4FC3F7">
              <a:alpha val="12000"/>
            </a:srgbClr>
          </a:solidFill>
          <a:ln w="8659">
            <a:solidFill>
              <a:srgbClr val="4FC3F7">
                <a:alpha val="30000"/>
              </a:srgbClr>
            </a:solidFill>
            <a:prstDash val="solid"/>
          </a:ln>
        </p:spPr>
      </p:sp>
      <p:sp>
        <p:nvSpPr>
          <p:cNvPr id="42" name="Text 37"/>
          <p:cNvSpPr/>
          <p:nvPr/>
        </p:nvSpPr>
        <p:spPr>
          <a:xfrm>
            <a:off x="10039593" y="3655631"/>
            <a:ext cx="400131" cy="1679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FC3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Editar</a:t>
            </a:r>
            <a:endParaRPr lang="en-US" sz="900" dirty="0"/>
          </a:p>
        </p:txBody>
      </p:sp>
      <p:sp>
        <p:nvSpPr>
          <p:cNvPr id="43" name="Shape 38"/>
          <p:cNvSpPr/>
          <p:nvPr/>
        </p:nvSpPr>
        <p:spPr>
          <a:xfrm>
            <a:off x="10553131" y="3599347"/>
            <a:ext cx="677844" cy="242455"/>
          </a:xfrm>
          <a:prstGeom prst="roundRect">
            <a:avLst>
              <a:gd name="adj" fmla="val 27500"/>
            </a:avLst>
          </a:prstGeom>
          <a:solidFill>
            <a:srgbClr val="FF9A9A">
              <a:alpha val="10000"/>
            </a:srgbClr>
          </a:solidFill>
          <a:ln w="8659">
            <a:solidFill>
              <a:srgbClr val="FF9A9A">
                <a:alpha val="25000"/>
              </a:srgbClr>
            </a:solidFill>
            <a:prstDash val="solid"/>
          </a:ln>
        </p:spPr>
      </p:sp>
      <p:sp>
        <p:nvSpPr>
          <p:cNvPr id="44" name="Text 39"/>
          <p:cNvSpPr/>
          <p:nvPr/>
        </p:nvSpPr>
        <p:spPr>
          <a:xfrm>
            <a:off x="10666566" y="3655631"/>
            <a:ext cx="527176" cy="1679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Eliminar</a:t>
            </a:r>
            <a:endParaRPr lang="en-US" sz="900" dirty="0"/>
          </a:p>
        </p:txBody>
      </p:sp>
      <p:sp>
        <p:nvSpPr>
          <p:cNvPr id="45" name="Shape 40"/>
          <p:cNvSpPr/>
          <p:nvPr/>
        </p:nvSpPr>
        <p:spPr>
          <a:xfrm>
            <a:off x="884851" y="4671992"/>
            <a:ext cx="10422298" cy="9525"/>
          </a:xfrm>
          <a:prstGeom prst="rect">
            <a:avLst/>
          </a:prstGeom>
          <a:solidFill>
            <a:srgbClr val="1C2C49"/>
          </a:solidFill>
          <a:ln/>
        </p:spPr>
      </p:sp>
      <p:sp>
        <p:nvSpPr>
          <p:cNvPr id="46" name="Shape 41"/>
          <p:cNvSpPr/>
          <p:nvPr/>
        </p:nvSpPr>
        <p:spPr>
          <a:xfrm>
            <a:off x="961024" y="4148252"/>
            <a:ext cx="419019" cy="419019"/>
          </a:xfrm>
          <a:prstGeom prst="roundRect">
            <a:avLst>
              <a:gd name="adj" fmla="val 18185"/>
            </a:avLst>
          </a:prstGeom>
          <a:solidFill>
            <a:srgbClr val="22324F"/>
          </a:solidFill>
          <a:ln w="8659">
            <a:solidFill>
              <a:srgbClr val="314363"/>
            </a:solidFill>
            <a:prstDash val="solid"/>
          </a:ln>
        </p:spPr>
      </p:sp>
      <p:sp>
        <p:nvSpPr>
          <p:cNvPr id="47" name="Text 42"/>
          <p:cNvSpPr/>
          <p:nvPr/>
        </p:nvSpPr>
        <p:spPr>
          <a:xfrm>
            <a:off x="1703811" y="4279762"/>
            <a:ext cx="2497633" cy="1939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88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Nautilus 5711</a:t>
            </a:r>
            <a:endParaRPr lang="en-US" sz="1088" dirty="0"/>
          </a:p>
        </p:txBody>
      </p:sp>
      <p:sp>
        <p:nvSpPr>
          <p:cNvPr id="48" name="Text 43"/>
          <p:cNvSpPr/>
          <p:nvPr/>
        </p:nvSpPr>
        <p:spPr>
          <a:xfrm>
            <a:off x="4258514" y="4279762"/>
            <a:ext cx="2151811" cy="1939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88" dirty="0">
                <a:solidFill>
                  <a:srgbClr val="8DA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Patek Philippe</a:t>
            </a:r>
            <a:endParaRPr lang="en-US" sz="1088" dirty="0"/>
          </a:p>
        </p:txBody>
      </p:sp>
      <p:sp>
        <p:nvSpPr>
          <p:cNvPr id="49" name="Text 44"/>
          <p:cNvSpPr/>
          <p:nvPr/>
        </p:nvSpPr>
        <p:spPr>
          <a:xfrm>
            <a:off x="6467394" y="4288421"/>
            <a:ext cx="1459896" cy="1766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$34,000</a:t>
            </a:r>
            <a:endParaRPr lang="en-US" sz="1000" dirty="0"/>
          </a:p>
        </p:txBody>
      </p:sp>
      <p:sp>
        <p:nvSpPr>
          <p:cNvPr id="50" name="Shape 45"/>
          <p:cNvSpPr/>
          <p:nvPr/>
        </p:nvSpPr>
        <p:spPr>
          <a:xfrm>
            <a:off x="7984358" y="4269480"/>
            <a:ext cx="308480" cy="185088"/>
          </a:xfrm>
          <a:prstGeom prst="roundRect">
            <a:avLst>
              <a:gd name="adj" fmla="val 50000"/>
            </a:avLst>
          </a:prstGeom>
          <a:solidFill>
            <a:srgbClr val="7EE787">
              <a:alpha val="16000"/>
            </a:srgbClr>
          </a:solidFill>
          <a:ln/>
        </p:spPr>
      </p:sp>
      <p:sp>
        <p:nvSpPr>
          <p:cNvPr id="51" name="Text 46"/>
          <p:cNvSpPr/>
          <p:nvPr/>
        </p:nvSpPr>
        <p:spPr>
          <a:xfrm>
            <a:off x="8070083" y="4288530"/>
            <a:ext cx="213230" cy="185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900" dirty="0"/>
          </a:p>
        </p:txBody>
      </p:sp>
      <p:sp>
        <p:nvSpPr>
          <p:cNvPr id="52" name="Shape 47"/>
          <p:cNvSpPr/>
          <p:nvPr/>
        </p:nvSpPr>
        <p:spPr>
          <a:xfrm>
            <a:off x="9926159" y="4236467"/>
            <a:ext cx="550799" cy="242455"/>
          </a:xfrm>
          <a:prstGeom prst="roundRect">
            <a:avLst>
              <a:gd name="adj" fmla="val 27500"/>
            </a:avLst>
          </a:prstGeom>
          <a:solidFill>
            <a:srgbClr val="4FC3F7">
              <a:alpha val="12000"/>
            </a:srgbClr>
          </a:solidFill>
          <a:ln w="8659">
            <a:solidFill>
              <a:srgbClr val="4FC3F7">
                <a:alpha val="30000"/>
              </a:srgbClr>
            </a:solidFill>
            <a:prstDash val="solid"/>
          </a:ln>
        </p:spPr>
      </p:sp>
      <p:sp>
        <p:nvSpPr>
          <p:cNvPr id="53" name="Text 48"/>
          <p:cNvSpPr/>
          <p:nvPr/>
        </p:nvSpPr>
        <p:spPr>
          <a:xfrm>
            <a:off x="10039593" y="4292751"/>
            <a:ext cx="400131" cy="1679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FC3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Editar</a:t>
            </a:r>
            <a:endParaRPr lang="en-US" sz="900" dirty="0"/>
          </a:p>
        </p:txBody>
      </p:sp>
      <p:sp>
        <p:nvSpPr>
          <p:cNvPr id="54" name="Shape 49"/>
          <p:cNvSpPr/>
          <p:nvPr/>
        </p:nvSpPr>
        <p:spPr>
          <a:xfrm>
            <a:off x="10553131" y="4236467"/>
            <a:ext cx="677844" cy="242455"/>
          </a:xfrm>
          <a:prstGeom prst="roundRect">
            <a:avLst>
              <a:gd name="adj" fmla="val 27500"/>
            </a:avLst>
          </a:prstGeom>
          <a:solidFill>
            <a:srgbClr val="FF9A9A">
              <a:alpha val="10000"/>
            </a:srgbClr>
          </a:solidFill>
          <a:ln w="8659">
            <a:solidFill>
              <a:srgbClr val="FF9A9A">
                <a:alpha val="25000"/>
              </a:srgbClr>
            </a:solidFill>
            <a:prstDash val="solid"/>
          </a:ln>
        </p:spPr>
      </p:sp>
      <p:sp>
        <p:nvSpPr>
          <p:cNvPr id="55" name="Text 50"/>
          <p:cNvSpPr/>
          <p:nvPr/>
        </p:nvSpPr>
        <p:spPr>
          <a:xfrm>
            <a:off x="10666566" y="4292751"/>
            <a:ext cx="527176" cy="1679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Eliminar</a:t>
            </a:r>
            <a:endParaRPr lang="en-US" sz="900" dirty="0"/>
          </a:p>
        </p:txBody>
      </p:sp>
      <p:sp>
        <p:nvSpPr>
          <p:cNvPr id="56" name="Shape 51"/>
          <p:cNvSpPr/>
          <p:nvPr/>
        </p:nvSpPr>
        <p:spPr>
          <a:xfrm>
            <a:off x="884851" y="5309112"/>
            <a:ext cx="10422298" cy="9525"/>
          </a:xfrm>
          <a:prstGeom prst="rect">
            <a:avLst/>
          </a:prstGeom>
          <a:solidFill>
            <a:srgbClr val="1C2C49"/>
          </a:solidFill>
          <a:ln/>
        </p:spPr>
      </p:sp>
      <p:sp>
        <p:nvSpPr>
          <p:cNvPr id="57" name="Shape 52"/>
          <p:cNvSpPr/>
          <p:nvPr/>
        </p:nvSpPr>
        <p:spPr>
          <a:xfrm>
            <a:off x="961024" y="4785372"/>
            <a:ext cx="419019" cy="419019"/>
          </a:xfrm>
          <a:prstGeom prst="roundRect">
            <a:avLst>
              <a:gd name="adj" fmla="val 18185"/>
            </a:avLst>
          </a:prstGeom>
          <a:solidFill>
            <a:srgbClr val="22324F"/>
          </a:solidFill>
          <a:ln w="8659">
            <a:solidFill>
              <a:srgbClr val="314363"/>
            </a:solidFill>
            <a:prstDash val="solid"/>
          </a:ln>
        </p:spPr>
      </p:sp>
      <p:sp>
        <p:nvSpPr>
          <p:cNvPr id="58" name="Text 53"/>
          <p:cNvSpPr/>
          <p:nvPr/>
        </p:nvSpPr>
        <p:spPr>
          <a:xfrm>
            <a:off x="1703811" y="4916882"/>
            <a:ext cx="2497633" cy="1939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88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Royal Oak</a:t>
            </a:r>
            <a:endParaRPr lang="en-US" sz="1088" dirty="0"/>
          </a:p>
        </p:txBody>
      </p:sp>
      <p:sp>
        <p:nvSpPr>
          <p:cNvPr id="59" name="Text 54"/>
          <p:cNvSpPr/>
          <p:nvPr/>
        </p:nvSpPr>
        <p:spPr>
          <a:xfrm>
            <a:off x="4258514" y="4916882"/>
            <a:ext cx="2151811" cy="1939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88" dirty="0">
                <a:solidFill>
                  <a:srgbClr val="8DA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Audemars Piguet</a:t>
            </a:r>
            <a:endParaRPr lang="en-US" sz="1088" dirty="0"/>
          </a:p>
        </p:txBody>
      </p:sp>
      <p:sp>
        <p:nvSpPr>
          <p:cNvPr id="60" name="Text 55"/>
          <p:cNvSpPr/>
          <p:nvPr/>
        </p:nvSpPr>
        <p:spPr>
          <a:xfrm>
            <a:off x="6467394" y="4925541"/>
            <a:ext cx="1459896" cy="1766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$28,500</a:t>
            </a:r>
            <a:endParaRPr lang="en-US" sz="1000" dirty="0"/>
          </a:p>
        </p:txBody>
      </p:sp>
      <p:sp>
        <p:nvSpPr>
          <p:cNvPr id="61" name="Shape 56"/>
          <p:cNvSpPr/>
          <p:nvPr/>
        </p:nvSpPr>
        <p:spPr>
          <a:xfrm>
            <a:off x="7984358" y="4906599"/>
            <a:ext cx="239884" cy="185088"/>
          </a:xfrm>
          <a:prstGeom prst="ellipse">
            <a:avLst/>
          </a:prstGeom>
          <a:solidFill>
            <a:srgbClr val="FF9A9A">
              <a:alpha val="16000"/>
            </a:srgbClr>
          </a:solidFill>
          <a:ln/>
        </p:spPr>
      </p:sp>
      <p:sp>
        <p:nvSpPr>
          <p:cNvPr id="62" name="Text 57"/>
          <p:cNvSpPr/>
          <p:nvPr/>
        </p:nvSpPr>
        <p:spPr>
          <a:xfrm>
            <a:off x="8070083" y="4925649"/>
            <a:ext cx="144634" cy="185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9A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900" dirty="0"/>
          </a:p>
        </p:txBody>
      </p:sp>
      <p:sp>
        <p:nvSpPr>
          <p:cNvPr id="63" name="Shape 58"/>
          <p:cNvSpPr/>
          <p:nvPr/>
        </p:nvSpPr>
        <p:spPr>
          <a:xfrm>
            <a:off x="9926159" y="4873587"/>
            <a:ext cx="550799" cy="242455"/>
          </a:xfrm>
          <a:prstGeom prst="roundRect">
            <a:avLst>
              <a:gd name="adj" fmla="val 27500"/>
            </a:avLst>
          </a:prstGeom>
          <a:solidFill>
            <a:srgbClr val="4FC3F7">
              <a:alpha val="12000"/>
            </a:srgbClr>
          </a:solidFill>
          <a:ln w="8659">
            <a:solidFill>
              <a:srgbClr val="4FC3F7">
                <a:alpha val="30000"/>
              </a:srgbClr>
            </a:solidFill>
            <a:prstDash val="solid"/>
          </a:ln>
        </p:spPr>
      </p:sp>
      <p:sp>
        <p:nvSpPr>
          <p:cNvPr id="64" name="Text 59"/>
          <p:cNvSpPr/>
          <p:nvPr/>
        </p:nvSpPr>
        <p:spPr>
          <a:xfrm>
            <a:off x="10039593" y="4929871"/>
            <a:ext cx="400131" cy="1679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FC3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Editar</a:t>
            </a:r>
            <a:endParaRPr lang="en-US" sz="900" dirty="0"/>
          </a:p>
        </p:txBody>
      </p:sp>
      <p:sp>
        <p:nvSpPr>
          <p:cNvPr id="65" name="Shape 60"/>
          <p:cNvSpPr/>
          <p:nvPr/>
        </p:nvSpPr>
        <p:spPr>
          <a:xfrm>
            <a:off x="10553131" y="4873587"/>
            <a:ext cx="677844" cy="242455"/>
          </a:xfrm>
          <a:prstGeom prst="roundRect">
            <a:avLst>
              <a:gd name="adj" fmla="val 27500"/>
            </a:avLst>
          </a:prstGeom>
          <a:solidFill>
            <a:srgbClr val="FF9A9A">
              <a:alpha val="10000"/>
            </a:srgbClr>
          </a:solidFill>
          <a:ln w="8659">
            <a:solidFill>
              <a:srgbClr val="FF9A9A">
                <a:alpha val="25000"/>
              </a:srgbClr>
            </a:solidFill>
            <a:prstDash val="solid"/>
          </a:ln>
        </p:spPr>
      </p:sp>
      <p:sp>
        <p:nvSpPr>
          <p:cNvPr id="66" name="Text 61"/>
          <p:cNvSpPr/>
          <p:nvPr/>
        </p:nvSpPr>
        <p:spPr>
          <a:xfrm>
            <a:off x="10666566" y="4929871"/>
            <a:ext cx="527176" cy="1679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Eliminar</a:t>
            </a:r>
            <a:endParaRPr lang="en-US" sz="900" dirty="0"/>
          </a:p>
        </p:txBody>
      </p:sp>
      <p:sp>
        <p:nvSpPr>
          <p:cNvPr id="67" name="Text 62"/>
          <p:cNvSpPr/>
          <p:nvPr/>
        </p:nvSpPr>
        <p:spPr>
          <a:xfrm>
            <a:off x="685692" y="6279600"/>
            <a:ext cx="1965505" cy="1593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spc="66" kern="0" dirty="0">
                <a:solidFill>
                  <a:srgbClr val="C4D0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RelojAPI · Dominican Watch Men</a:t>
            </a:r>
            <a:endParaRPr lang="en-US" sz="825" dirty="0"/>
          </a:p>
        </p:txBody>
      </p:sp>
      <p:sp>
        <p:nvSpPr>
          <p:cNvPr id="68" name="Text 63"/>
          <p:cNvSpPr/>
          <p:nvPr/>
        </p:nvSpPr>
        <p:spPr>
          <a:xfrm>
            <a:off x="11127202" y="6279600"/>
            <a:ext cx="455306" cy="1593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66" kern="0" dirty="0">
                <a:solidFill>
                  <a:srgbClr val="8DA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/ 25</a:t>
            </a:r>
            <a:endParaRPr lang="en-US" sz="825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13357"/>
          </a:solidFill>
          <a:ln/>
        </p:spPr>
      </p:sp>
      <p:sp>
        <p:nvSpPr>
          <p:cNvPr id="3" name="Shape 1"/>
          <p:cNvSpPr/>
          <p:nvPr/>
        </p:nvSpPr>
        <p:spPr>
          <a:xfrm>
            <a:off x="685692" y="514269"/>
            <a:ext cx="285750" cy="285750"/>
          </a:xfrm>
          <a:prstGeom prst="roundRect">
            <a:avLst>
              <a:gd name="adj" fmla="val 26667"/>
            </a:avLst>
          </a:prstGeom>
          <a:solidFill>
            <a:srgbClr val="4FC3F7">
              <a:alpha val="12000"/>
            </a:srgbClr>
          </a:solidFill>
          <a:ln w="8659">
            <a:solidFill>
              <a:srgbClr val="314363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7658" y="576235"/>
            <a:ext cx="161817" cy="16181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76163" y="592201"/>
            <a:ext cx="2470709" cy="1679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b="1" spc="169" kern="0" dirty="0">
                <a:solidFill>
                  <a:srgbClr val="4FC3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DEMOSTRACIÓN · SWAGGER UI</a:t>
            </a:r>
            <a:endParaRPr lang="en-US" sz="938" dirty="0"/>
          </a:p>
        </p:txBody>
      </p:sp>
      <p:sp>
        <p:nvSpPr>
          <p:cNvPr id="6" name="Text 3"/>
          <p:cNvSpPr/>
          <p:nvPr/>
        </p:nvSpPr>
        <p:spPr>
          <a:xfrm>
            <a:off x="11029381" y="596530"/>
            <a:ext cx="553126" cy="1593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41" kern="0" dirty="0">
                <a:solidFill>
                  <a:srgbClr val="8DA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 / 25</a:t>
            </a:r>
            <a:endParaRPr lang="en-US" sz="825" dirty="0"/>
          </a:p>
        </p:txBody>
      </p:sp>
      <p:sp>
        <p:nvSpPr>
          <p:cNvPr id="7" name="Text 4"/>
          <p:cNvSpPr/>
          <p:nvPr/>
        </p:nvSpPr>
        <p:spPr>
          <a:xfrm>
            <a:off x="685692" y="971442"/>
            <a:ext cx="11145235" cy="4361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850" b="1" spc="-29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API probada en el navegador</a:t>
            </a:r>
            <a:endParaRPr lang="en-US" sz="2850" dirty="0"/>
          </a:p>
        </p:txBody>
      </p:sp>
      <p:sp>
        <p:nvSpPr>
          <p:cNvPr id="8" name="Shape 5"/>
          <p:cNvSpPr/>
          <p:nvPr/>
        </p:nvSpPr>
        <p:spPr>
          <a:xfrm>
            <a:off x="685692" y="1559854"/>
            <a:ext cx="438096" cy="28548"/>
          </a:xfrm>
          <a:prstGeom prst="roundRect">
            <a:avLst>
              <a:gd name="adj" fmla="val 50000"/>
            </a:avLst>
          </a:prstGeom>
          <a:solidFill>
            <a:srgbClr val="4FC3F7"/>
          </a:solidFill>
          <a:ln/>
        </p:spPr>
      </p:sp>
      <p:sp>
        <p:nvSpPr>
          <p:cNvPr id="9" name="Shape 6"/>
          <p:cNvSpPr/>
          <p:nvPr/>
        </p:nvSpPr>
        <p:spPr>
          <a:xfrm>
            <a:off x="685692" y="1798123"/>
            <a:ext cx="10820616" cy="4310333"/>
          </a:xfrm>
          <a:prstGeom prst="roundRect">
            <a:avLst>
              <a:gd name="adj" fmla="val 2873"/>
            </a:avLst>
          </a:prstGeom>
          <a:solidFill>
            <a:srgbClr val="0D1117"/>
          </a:solidFill>
          <a:ln w="8659">
            <a:solidFill>
              <a:srgbClr val="1C2C49"/>
            </a:solidFill>
            <a:prstDash val="solid"/>
          </a:ln>
          <a:effectLst>
            <a:outerShdw sx="100000" sy="100000" kx="0" ky="0" algn="bl" rotWithShape="0" blurRad="381000" dist="171450" dir="5400000">
              <a:srgbClr val="000000">
                <a:alpha val="3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94351" y="1806782"/>
            <a:ext cx="10803298" cy="443237"/>
          </a:xfrm>
          <a:prstGeom prst="rect">
            <a:avLst/>
          </a:prstGeom>
          <a:solidFill>
            <a:srgbClr val="11192B"/>
          </a:solidFill>
          <a:ln/>
        </p:spPr>
      </p:sp>
      <p:sp>
        <p:nvSpPr>
          <p:cNvPr id="11" name="Shape 8"/>
          <p:cNvSpPr/>
          <p:nvPr/>
        </p:nvSpPr>
        <p:spPr>
          <a:xfrm>
            <a:off x="694351" y="2241360"/>
            <a:ext cx="10803298" cy="9525"/>
          </a:xfrm>
          <a:prstGeom prst="rect">
            <a:avLst/>
          </a:prstGeom>
          <a:solidFill>
            <a:srgbClr val="1C2C49"/>
          </a:solidFill>
          <a:ln/>
        </p:spPr>
      </p:sp>
      <p:sp>
        <p:nvSpPr>
          <p:cNvPr id="12" name="Shape 9"/>
          <p:cNvSpPr/>
          <p:nvPr/>
        </p:nvSpPr>
        <p:spPr>
          <a:xfrm>
            <a:off x="846697" y="1971711"/>
            <a:ext cx="104721" cy="104721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3" name="Shape 10"/>
          <p:cNvSpPr/>
          <p:nvPr/>
        </p:nvSpPr>
        <p:spPr>
          <a:xfrm>
            <a:off x="1027591" y="1971711"/>
            <a:ext cx="104721" cy="104721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4" name="Shape 11"/>
          <p:cNvSpPr/>
          <p:nvPr/>
        </p:nvSpPr>
        <p:spPr>
          <a:xfrm>
            <a:off x="1208484" y="1971711"/>
            <a:ext cx="104721" cy="104721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5" name="Shape 12"/>
          <p:cNvSpPr/>
          <p:nvPr/>
        </p:nvSpPr>
        <p:spPr>
          <a:xfrm>
            <a:off x="1503570" y="1911503"/>
            <a:ext cx="9841733" cy="225136"/>
          </a:xfrm>
          <a:prstGeom prst="roundRect">
            <a:avLst>
              <a:gd name="adj" fmla="val 25385"/>
            </a:avLst>
          </a:prstGeom>
          <a:solidFill>
            <a:srgbClr val="0A0E18"/>
          </a:solidFill>
          <a:ln/>
        </p:spPr>
      </p:sp>
      <p:sp>
        <p:nvSpPr>
          <p:cNvPr id="16" name="Text 13"/>
          <p:cNvSpPr/>
          <p:nvPr/>
        </p:nvSpPr>
        <p:spPr>
          <a:xfrm>
            <a:off x="1617870" y="1959128"/>
            <a:ext cx="9908385" cy="1679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8DA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http://localhost:5157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941947" y="2796354"/>
            <a:ext cx="10308106" cy="9525"/>
          </a:xfrm>
          <a:prstGeom prst="rect">
            <a:avLst/>
          </a:prstGeom>
          <a:solidFill>
            <a:srgbClr val="1C2C49"/>
          </a:solidFill>
          <a:ln/>
        </p:spPr>
      </p:sp>
      <p:sp>
        <p:nvSpPr>
          <p:cNvPr id="18" name="Text 15"/>
          <p:cNvSpPr/>
          <p:nvPr/>
        </p:nvSpPr>
        <p:spPr>
          <a:xfrm>
            <a:off x="941947" y="2421442"/>
            <a:ext cx="1010435" cy="2892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Reloj API</a:t>
            </a:r>
            <a:endParaRPr lang="en-US" sz="1575" dirty="0"/>
          </a:p>
        </p:txBody>
      </p:sp>
      <p:sp>
        <p:nvSpPr>
          <p:cNvPr id="19" name="Shape 16"/>
          <p:cNvSpPr/>
          <p:nvPr/>
        </p:nvSpPr>
        <p:spPr>
          <a:xfrm>
            <a:off x="1990373" y="2463926"/>
            <a:ext cx="287644" cy="166146"/>
          </a:xfrm>
          <a:prstGeom prst="roundRect">
            <a:avLst>
              <a:gd name="adj" fmla="val 28665"/>
            </a:avLst>
          </a:prstGeom>
          <a:ln w="8659">
            <a:solidFill>
              <a:srgbClr val="7EE787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2065707" y="2482110"/>
            <a:ext cx="213176" cy="1678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v1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2392209" y="2482056"/>
            <a:ext cx="508343" cy="1679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8DA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OAS 3.0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941947" y="2947888"/>
            <a:ext cx="5244849" cy="2026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spc="42" kern="0" dirty="0">
                <a:solidFill>
                  <a:srgbClr val="4FC3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Reloj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941947" y="3188584"/>
            <a:ext cx="5092086" cy="318222"/>
          </a:xfrm>
          <a:prstGeom prst="roundRect">
            <a:avLst>
              <a:gd name="adj" fmla="val 20952"/>
            </a:avLst>
          </a:prstGeom>
          <a:solidFill>
            <a:srgbClr val="11192B"/>
          </a:solidFill>
          <a:ln w="8659">
            <a:solidFill>
              <a:srgbClr val="1C2C49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055327" y="3263810"/>
            <a:ext cx="313216" cy="167770"/>
          </a:xfrm>
          <a:prstGeom prst="roundRect">
            <a:avLst>
              <a:gd name="adj" fmla="val 22710"/>
            </a:avLst>
          </a:prstGeom>
          <a:solidFill>
            <a:srgbClr val="7EE787">
              <a:alpha val="16000"/>
            </a:srgbClr>
          </a:solidFill>
          <a:ln/>
        </p:spPr>
      </p:sp>
      <p:sp>
        <p:nvSpPr>
          <p:cNvPr id="25" name="Text 22"/>
          <p:cNvSpPr/>
          <p:nvPr/>
        </p:nvSpPr>
        <p:spPr>
          <a:xfrm>
            <a:off x="1122002" y="3282860"/>
            <a:ext cx="256066" cy="1677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b="1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</a:t>
            </a:r>
            <a:endParaRPr lang="en-US" sz="788" dirty="0"/>
          </a:p>
        </p:txBody>
      </p:sp>
      <p:sp>
        <p:nvSpPr>
          <p:cNvPr id="26" name="Text 23"/>
          <p:cNvSpPr/>
          <p:nvPr/>
        </p:nvSpPr>
        <p:spPr>
          <a:xfrm>
            <a:off x="1473263" y="3282751"/>
            <a:ext cx="790710" cy="1679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dirty="0">
                <a:solidFill>
                  <a:srgbClr val="C4D0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/api/reloj</a:t>
            </a:r>
            <a:endParaRPr lang="en-US" sz="938" dirty="0"/>
          </a:p>
        </p:txBody>
      </p:sp>
      <p:sp>
        <p:nvSpPr>
          <p:cNvPr id="27" name="Shape 24"/>
          <p:cNvSpPr/>
          <p:nvPr/>
        </p:nvSpPr>
        <p:spPr>
          <a:xfrm>
            <a:off x="941947" y="3563901"/>
            <a:ext cx="5092086" cy="318222"/>
          </a:xfrm>
          <a:prstGeom prst="roundRect">
            <a:avLst>
              <a:gd name="adj" fmla="val 20952"/>
            </a:avLst>
          </a:prstGeom>
          <a:solidFill>
            <a:srgbClr val="11192B"/>
          </a:solidFill>
          <a:ln w="8659">
            <a:solidFill>
              <a:srgbClr val="1C2C49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1055327" y="3639127"/>
            <a:ext cx="373288" cy="167770"/>
          </a:xfrm>
          <a:prstGeom prst="roundRect">
            <a:avLst>
              <a:gd name="adj" fmla="val 22710"/>
            </a:avLst>
          </a:prstGeom>
          <a:solidFill>
            <a:srgbClr val="4FC3F7">
              <a:alpha val="16000"/>
            </a:srgbClr>
          </a:solidFill>
          <a:ln/>
        </p:spPr>
      </p:sp>
      <p:sp>
        <p:nvSpPr>
          <p:cNvPr id="29" name="Text 26"/>
          <p:cNvSpPr/>
          <p:nvPr/>
        </p:nvSpPr>
        <p:spPr>
          <a:xfrm>
            <a:off x="1122002" y="3658177"/>
            <a:ext cx="316138" cy="1677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b="1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</a:t>
            </a:r>
            <a:endParaRPr lang="en-US" sz="788" dirty="0"/>
          </a:p>
        </p:txBody>
      </p:sp>
      <p:sp>
        <p:nvSpPr>
          <p:cNvPr id="30" name="Text 27"/>
          <p:cNvSpPr/>
          <p:nvPr/>
        </p:nvSpPr>
        <p:spPr>
          <a:xfrm>
            <a:off x="1533335" y="3658069"/>
            <a:ext cx="790710" cy="1679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dirty="0">
                <a:solidFill>
                  <a:srgbClr val="C4D0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/api/reloj</a:t>
            </a:r>
            <a:endParaRPr lang="en-US" sz="938" dirty="0"/>
          </a:p>
        </p:txBody>
      </p:sp>
      <p:sp>
        <p:nvSpPr>
          <p:cNvPr id="31" name="Shape 28"/>
          <p:cNvSpPr/>
          <p:nvPr/>
        </p:nvSpPr>
        <p:spPr>
          <a:xfrm>
            <a:off x="941947" y="3939219"/>
            <a:ext cx="5092086" cy="318222"/>
          </a:xfrm>
          <a:prstGeom prst="roundRect">
            <a:avLst>
              <a:gd name="adj" fmla="val 20952"/>
            </a:avLst>
          </a:prstGeom>
          <a:solidFill>
            <a:srgbClr val="11192B"/>
          </a:solidFill>
          <a:ln w="8659">
            <a:solidFill>
              <a:srgbClr val="1C2C49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1055327" y="4014444"/>
            <a:ext cx="493298" cy="167770"/>
          </a:xfrm>
          <a:prstGeom prst="roundRect">
            <a:avLst>
              <a:gd name="adj" fmla="val 22710"/>
            </a:avLst>
          </a:prstGeom>
          <a:solidFill>
            <a:srgbClr val="FF9A9A">
              <a:alpha val="16000"/>
            </a:srgbClr>
          </a:solidFill>
          <a:ln/>
        </p:spPr>
      </p:sp>
      <p:sp>
        <p:nvSpPr>
          <p:cNvPr id="33" name="Text 30"/>
          <p:cNvSpPr/>
          <p:nvPr/>
        </p:nvSpPr>
        <p:spPr>
          <a:xfrm>
            <a:off x="1122002" y="4033494"/>
            <a:ext cx="436148" cy="1677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b="1" dirty="0">
                <a:solidFill>
                  <a:srgbClr val="FF9A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</a:t>
            </a:r>
            <a:endParaRPr lang="en-US" sz="788" dirty="0"/>
          </a:p>
        </p:txBody>
      </p:sp>
      <p:sp>
        <p:nvSpPr>
          <p:cNvPr id="34" name="Text 31"/>
          <p:cNvSpPr/>
          <p:nvPr/>
        </p:nvSpPr>
        <p:spPr>
          <a:xfrm>
            <a:off x="1653345" y="4033386"/>
            <a:ext cx="1148033" cy="1679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dirty="0">
                <a:solidFill>
                  <a:srgbClr val="C4D0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/api/reloj/{id}</a:t>
            </a:r>
            <a:endParaRPr lang="en-US" sz="938" dirty="0"/>
          </a:p>
        </p:txBody>
      </p:sp>
      <p:sp>
        <p:nvSpPr>
          <p:cNvPr id="35" name="Text 32"/>
          <p:cNvSpPr/>
          <p:nvPr/>
        </p:nvSpPr>
        <p:spPr>
          <a:xfrm>
            <a:off x="6157831" y="2947888"/>
            <a:ext cx="5244988" cy="2026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spc="42" kern="0" dirty="0">
                <a:solidFill>
                  <a:srgbClr val="4FC3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Marca</a:t>
            </a:r>
            <a:endParaRPr lang="en-US" sz="1050" dirty="0"/>
          </a:p>
        </p:txBody>
      </p:sp>
      <p:sp>
        <p:nvSpPr>
          <p:cNvPr id="36" name="Shape 33"/>
          <p:cNvSpPr/>
          <p:nvPr/>
        </p:nvSpPr>
        <p:spPr>
          <a:xfrm>
            <a:off x="6157831" y="3188584"/>
            <a:ext cx="5092222" cy="318222"/>
          </a:xfrm>
          <a:prstGeom prst="roundRect">
            <a:avLst>
              <a:gd name="adj" fmla="val 20952"/>
            </a:avLst>
          </a:prstGeom>
          <a:solidFill>
            <a:srgbClr val="11192B"/>
          </a:solidFill>
          <a:ln w="8659">
            <a:solidFill>
              <a:srgbClr val="1C2C49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6271211" y="3263810"/>
            <a:ext cx="313216" cy="167770"/>
          </a:xfrm>
          <a:prstGeom prst="roundRect">
            <a:avLst>
              <a:gd name="adj" fmla="val 22710"/>
            </a:avLst>
          </a:prstGeom>
          <a:solidFill>
            <a:srgbClr val="7EE787">
              <a:alpha val="16000"/>
            </a:srgbClr>
          </a:solidFill>
          <a:ln/>
        </p:spPr>
      </p:sp>
      <p:sp>
        <p:nvSpPr>
          <p:cNvPr id="38" name="Text 35"/>
          <p:cNvSpPr/>
          <p:nvPr/>
        </p:nvSpPr>
        <p:spPr>
          <a:xfrm>
            <a:off x="6337886" y="3282860"/>
            <a:ext cx="256066" cy="1677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b="1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</a:t>
            </a:r>
            <a:endParaRPr lang="en-US" sz="788" dirty="0"/>
          </a:p>
        </p:txBody>
      </p:sp>
      <p:sp>
        <p:nvSpPr>
          <p:cNvPr id="39" name="Text 36"/>
          <p:cNvSpPr/>
          <p:nvPr/>
        </p:nvSpPr>
        <p:spPr>
          <a:xfrm>
            <a:off x="6689148" y="3282751"/>
            <a:ext cx="790710" cy="1679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dirty="0">
                <a:solidFill>
                  <a:srgbClr val="C4D0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/api/marca</a:t>
            </a:r>
            <a:endParaRPr lang="en-US" sz="938" dirty="0"/>
          </a:p>
        </p:txBody>
      </p:sp>
      <p:sp>
        <p:nvSpPr>
          <p:cNvPr id="40" name="Shape 37"/>
          <p:cNvSpPr/>
          <p:nvPr/>
        </p:nvSpPr>
        <p:spPr>
          <a:xfrm>
            <a:off x="6157831" y="3563901"/>
            <a:ext cx="5092222" cy="318222"/>
          </a:xfrm>
          <a:prstGeom prst="roundRect">
            <a:avLst>
              <a:gd name="adj" fmla="val 20952"/>
            </a:avLst>
          </a:prstGeom>
          <a:solidFill>
            <a:srgbClr val="11192B"/>
          </a:solidFill>
          <a:ln w="8659">
            <a:solidFill>
              <a:srgbClr val="1C2C49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6271211" y="3639127"/>
            <a:ext cx="373288" cy="167770"/>
          </a:xfrm>
          <a:prstGeom prst="roundRect">
            <a:avLst>
              <a:gd name="adj" fmla="val 22710"/>
            </a:avLst>
          </a:prstGeom>
          <a:solidFill>
            <a:srgbClr val="4FC3F7">
              <a:alpha val="16000"/>
            </a:srgbClr>
          </a:solidFill>
          <a:ln/>
        </p:spPr>
      </p:sp>
      <p:sp>
        <p:nvSpPr>
          <p:cNvPr id="42" name="Text 39"/>
          <p:cNvSpPr/>
          <p:nvPr/>
        </p:nvSpPr>
        <p:spPr>
          <a:xfrm>
            <a:off x="6337886" y="3658177"/>
            <a:ext cx="316138" cy="1677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b="1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</a:t>
            </a:r>
            <a:endParaRPr lang="en-US" sz="788" dirty="0"/>
          </a:p>
        </p:txBody>
      </p:sp>
      <p:sp>
        <p:nvSpPr>
          <p:cNvPr id="43" name="Text 40"/>
          <p:cNvSpPr/>
          <p:nvPr/>
        </p:nvSpPr>
        <p:spPr>
          <a:xfrm>
            <a:off x="6749220" y="3658069"/>
            <a:ext cx="790710" cy="1679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dirty="0">
                <a:solidFill>
                  <a:srgbClr val="C4D0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/api/marca</a:t>
            </a:r>
            <a:endParaRPr lang="en-US" sz="938" dirty="0"/>
          </a:p>
        </p:txBody>
      </p:sp>
      <p:sp>
        <p:nvSpPr>
          <p:cNvPr id="44" name="Shape 41"/>
          <p:cNvSpPr/>
          <p:nvPr/>
        </p:nvSpPr>
        <p:spPr>
          <a:xfrm>
            <a:off x="6157831" y="3939219"/>
            <a:ext cx="5092222" cy="318222"/>
          </a:xfrm>
          <a:prstGeom prst="roundRect">
            <a:avLst>
              <a:gd name="adj" fmla="val 20952"/>
            </a:avLst>
          </a:prstGeom>
          <a:solidFill>
            <a:srgbClr val="11192B"/>
          </a:solidFill>
          <a:ln w="8659">
            <a:solidFill>
              <a:srgbClr val="1C2C49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6271211" y="4014444"/>
            <a:ext cx="313216" cy="167770"/>
          </a:xfrm>
          <a:prstGeom prst="roundRect">
            <a:avLst>
              <a:gd name="adj" fmla="val 22710"/>
            </a:avLst>
          </a:prstGeom>
          <a:solidFill>
            <a:srgbClr val="FFD479">
              <a:alpha val="16000"/>
            </a:srgbClr>
          </a:solidFill>
          <a:ln/>
        </p:spPr>
      </p:sp>
      <p:sp>
        <p:nvSpPr>
          <p:cNvPr id="46" name="Text 43"/>
          <p:cNvSpPr/>
          <p:nvPr/>
        </p:nvSpPr>
        <p:spPr>
          <a:xfrm>
            <a:off x="6337886" y="4033494"/>
            <a:ext cx="256066" cy="1677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b="1" dirty="0">
                <a:solidFill>
                  <a:srgbClr val="FFD4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PUT</a:t>
            </a:r>
            <a:endParaRPr lang="en-US" sz="788" dirty="0"/>
          </a:p>
        </p:txBody>
      </p:sp>
      <p:sp>
        <p:nvSpPr>
          <p:cNvPr id="47" name="Text 44"/>
          <p:cNvSpPr/>
          <p:nvPr/>
        </p:nvSpPr>
        <p:spPr>
          <a:xfrm>
            <a:off x="6689148" y="4033386"/>
            <a:ext cx="1148033" cy="1679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dirty="0">
                <a:solidFill>
                  <a:srgbClr val="C4D0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/api/marca/{id}</a:t>
            </a:r>
            <a:endParaRPr lang="en-US" sz="938" dirty="0"/>
          </a:p>
        </p:txBody>
      </p:sp>
      <p:sp>
        <p:nvSpPr>
          <p:cNvPr id="48" name="Text 45"/>
          <p:cNvSpPr/>
          <p:nvPr/>
        </p:nvSpPr>
        <p:spPr>
          <a:xfrm>
            <a:off x="941947" y="4438333"/>
            <a:ext cx="5244849" cy="2026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spc="42" kern="0" dirty="0">
                <a:solidFill>
                  <a:srgbClr val="4FC3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Usuario</a:t>
            </a:r>
            <a:endParaRPr lang="en-US" sz="1050" dirty="0"/>
          </a:p>
        </p:txBody>
      </p:sp>
      <p:sp>
        <p:nvSpPr>
          <p:cNvPr id="49" name="Shape 46"/>
          <p:cNvSpPr/>
          <p:nvPr/>
        </p:nvSpPr>
        <p:spPr>
          <a:xfrm>
            <a:off x="941947" y="4679029"/>
            <a:ext cx="5092086" cy="318222"/>
          </a:xfrm>
          <a:prstGeom prst="roundRect">
            <a:avLst>
              <a:gd name="adj" fmla="val 20952"/>
            </a:avLst>
          </a:prstGeom>
          <a:solidFill>
            <a:srgbClr val="11192B"/>
          </a:solidFill>
          <a:ln w="8659">
            <a:solidFill>
              <a:srgbClr val="1C2C49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1055327" y="4754255"/>
            <a:ext cx="373288" cy="167770"/>
          </a:xfrm>
          <a:prstGeom prst="roundRect">
            <a:avLst>
              <a:gd name="adj" fmla="val 22710"/>
            </a:avLst>
          </a:prstGeom>
          <a:solidFill>
            <a:srgbClr val="4FC3F7">
              <a:alpha val="16000"/>
            </a:srgbClr>
          </a:solidFill>
          <a:ln/>
        </p:spPr>
      </p:sp>
      <p:sp>
        <p:nvSpPr>
          <p:cNvPr id="51" name="Text 48"/>
          <p:cNvSpPr/>
          <p:nvPr/>
        </p:nvSpPr>
        <p:spPr>
          <a:xfrm>
            <a:off x="1122002" y="4773305"/>
            <a:ext cx="316138" cy="1677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b="1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</a:t>
            </a:r>
            <a:endParaRPr lang="en-US" sz="788" dirty="0"/>
          </a:p>
        </p:txBody>
      </p:sp>
      <p:sp>
        <p:nvSpPr>
          <p:cNvPr id="52" name="Text 49"/>
          <p:cNvSpPr/>
          <p:nvPr/>
        </p:nvSpPr>
        <p:spPr>
          <a:xfrm>
            <a:off x="1533335" y="4773197"/>
            <a:ext cx="1576658" cy="1679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dirty="0">
                <a:solidFill>
                  <a:srgbClr val="C4D0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/api/usuario/registro</a:t>
            </a:r>
            <a:endParaRPr lang="en-US" sz="938" dirty="0"/>
          </a:p>
        </p:txBody>
      </p:sp>
      <p:sp>
        <p:nvSpPr>
          <p:cNvPr id="53" name="Shape 50"/>
          <p:cNvSpPr/>
          <p:nvPr/>
        </p:nvSpPr>
        <p:spPr>
          <a:xfrm>
            <a:off x="941947" y="5054347"/>
            <a:ext cx="5092086" cy="318222"/>
          </a:xfrm>
          <a:prstGeom prst="roundRect">
            <a:avLst>
              <a:gd name="adj" fmla="val 20952"/>
            </a:avLst>
          </a:prstGeom>
          <a:solidFill>
            <a:srgbClr val="11192B"/>
          </a:solidFill>
          <a:ln w="8659">
            <a:solidFill>
              <a:srgbClr val="1C2C49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1055327" y="5129572"/>
            <a:ext cx="373288" cy="167770"/>
          </a:xfrm>
          <a:prstGeom prst="roundRect">
            <a:avLst>
              <a:gd name="adj" fmla="val 22710"/>
            </a:avLst>
          </a:prstGeom>
          <a:solidFill>
            <a:srgbClr val="4FC3F7">
              <a:alpha val="16000"/>
            </a:srgbClr>
          </a:solidFill>
          <a:ln/>
        </p:spPr>
      </p:sp>
      <p:sp>
        <p:nvSpPr>
          <p:cNvPr id="55" name="Text 52"/>
          <p:cNvSpPr/>
          <p:nvPr/>
        </p:nvSpPr>
        <p:spPr>
          <a:xfrm>
            <a:off x="1122002" y="5148622"/>
            <a:ext cx="316138" cy="1677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b="1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</a:t>
            </a:r>
            <a:endParaRPr lang="en-US" sz="788" dirty="0"/>
          </a:p>
        </p:txBody>
      </p:sp>
      <p:sp>
        <p:nvSpPr>
          <p:cNvPr id="56" name="Text 53"/>
          <p:cNvSpPr/>
          <p:nvPr/>
        </p:nvSpPr>
        <p:spPr>
          <a:xfrm>
            <a:off x="1533335" y="5148514"/>
            <a:ext cx="1362346" cy="1679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dirty="0">
                <a:solidFill>
                  <a:srgbClr val="C4D0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/api/usuario/login</a:t>
            </a:r>
            <a:endParaRPr lang="en-US" sz="938" dirty="0"/>
          </a:p>
        </p:txBody>
      </p:sp>
      <p:sp>
        <p:nvSpPr>
          <p:cNvPr id="57" name="Text 54"/>
          <p:cNvSpPr/>
          <p:nvPr/>
        </p:nvSpPr>
        <p:spPr>
          <a:xfrm>
            <a:off x="6157831" y="4438333"/>
            <a:ext cx="5244988" cy="2026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spc="42" kern="0" dirty="0">
                <a:solidFill>
                  <a:srgbClr val="4FC3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</a:t>
            </a:r>
            <a:endParaRPr lang="en-US" sz="1050" dirty="0"/>
          </a:p>
        </p:txBody>
      </p:sp>
      <p:sp>
        <p:nvSpPr>
          <p:cNvPr id="58" name="Shape 55"/>
          <p:cNvSpPr/>
          <p:nvPr/>
        </p:nvSpPr>
        <p:spPr>
          <a:xfrm>
            <a:off x="6157831" y="4679029"/>
            <a:ext cx="5092222" cy="318222"/>
          </a:xfrm>
          <a:prstGeom prst="roundRect">
            <a:avLst>
              <a:gd name="adj" fmla="val 20952"/>
            </a:avLst>
          </a:prstGeom>
          <a:solidFill>
            <a:srgbClr val="11192B"/>
          </a:solidFill>
          <a:ln w="8659">
            <a:solidFill>
              <a:srgbClr val="1C2C49"/>
            </a:solidFill>
            <a:prstDash val="solid"/>
          </a:ln>
        </p:spPr>
      </p:sp>
      <p:sp>
        <p:nvSpPr>
          <p:cNvPr id="59" name="Shape 56"/>
          <p:cNvSpPr/>
          <p:nvPr/>
        </p:nvSpPr>
        <p:spPr>
          <a:xfrm>
            <a:off x="6271211" y="4754255"/>
            <a:ext cx="373288" cy="167770"/>
          </a:xfrm>
          <a:prstGeom prst="roundRect">
            <a:avLst>
              <a:gd name="adj" fmla="val 22710"/>
            </a:avLst>
          </a:prstGeom>
          <a:solidFill>
            <a:srgbClr val="4FC3F7">
              <a:alpha val="16000"/>
            </a:srgbClr>
          </a:solidFill>
          <a:ln/>
        </p:spPr>
      </p:sp>
      <p:sp>
        <p:nvSpPr>
          <p:cNvPr id="60" name="Text 57"/>
          <p:cNvSpPr/>
          <p:nvPr/>
        </p:nvSpPr>
        <p:spPr>
          <a:xfrm>
            <a:off x="6337886" y="4773305"/>
            <a:ext cx="316138" cy="1677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b="1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</a:t>
            </a:r>
            <a:endParaRPr lang="en-US" sz="788" dirty="0"/>
          </a:p>
        </p:txBody>
      </p:sp>
      <p:sp>
        <p:nvSpPr>
          <p:cNvPr id="61" name="Text 58"/>
          <p:cNvSpPr/>
          <p:nvPr/>
        </p:nvSpPr>
        <p:spPr>
          <a:xfrm>
            <a:off x="6749220" y="4773197"/>
            <a:ext cx="862148" cy="1679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dirty="0">
                <a:solidFill>
                  <a:srgbClr val="C4D0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/api/upload</a:t>
            </a:r>
            <a:endParaRPr lang="en-US" sz="938" dirty="0"/>
          </a:p>
        </p:txBody>
      </p:sp>
      <p:sp>
        <p:nvSpPr>
          <p:cNvPr id="62" name="Text 59"/>
          <p:cNvSpPr/>
          <p:nvPr/>
        </p:nvSpPr>
        <p:spPr>
          <a:xfrm>
            <a:off x="685692" y="6279600"/>
            <a:ext cx="1965505" cy="1593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spc="66" kern="0" dirty="0">
                <a:solidFill>
                  <a:srgbClr val="C4D0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RelojAPI · Dominican Watch Men</a:t>
            </a:r>
            <a:endParaRPr lang="en-US" sz="825" dirty="0"/>
          </a:p>
        </p:txBody>
      </p:sp>
      <p:sp>
        <p:nvSpPr>
          <p:cNvPr id="63" name="Text 60"/>
          <p:cNvSpPr/>
          <p:nvPr/>
        </p:nvSpPr>
        <p:spPr>
          <a:xfrm>
            <a:off x="11127202" y="6279600"/>
            <a:ext cx="455306" cy="1593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66" kern="0" dirty="0">
                <a:solidFill>
                  <a:srgbClr val="8DA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 / 25</a:t>
            </a:r>
            <a:endParaRPr lang="en-US" sz="825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13357"/>
          </a:solidFill>
          <a:ln/>
        </p:spPr>
      </p:sp>
      <p:sp>
        <p:nvSpPr>
          <p:cNvPr id="3" name="Shape 1"/>
          <p:cNvSpPr/>
          <p:nvPr/>
        </p:nvSpPr>
        <p:spPr>
          <a:xfrm>
            <a:off x="685692" y="514269"/>
            <a:ext cx="285750" cy="285750"/>
          </a:xfrm>
          <a:prstGeom prst="roundRect">
            <a:avLst>
              <a:gd name="adj" fmla="val 26667"/>
            </a:avLst>
          </a:prstGeom>
          <a:solidFill>
            <a:srgbClr val="4FC3F7">
              <a:alpha val="12000"/>
            </a:srgbClr>
          </a:solidFill>
          <a:ln w="8659">
            <a:solidFill>
              <a:srgbClr val="314363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7658" y="576235"/>
            <a:ext cx="161817" cy="16181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76163" y="592201"/>
            <a:ext cx="2881908" cy="1679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b="1" spc="169" kern="0" dirty="0">
                <a:solidFill>
                  <a:srgbClr val="4FC3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CROSS-ORIGIN RESOURCE SHARING</a:t>
            </a:r>
            <a:endParaRPr lang="en-US" sz="938" dirty="0"/>
          </a:p>
        </p:txBody>
      </p:sp>
      <p:sp>
        <p:nvSpPr>
          <p:cNvPr id="6" name="Text 3"/>
          <p:cNvSpPr/>
          <p:nvPr/>
        </p:nvSpPr>
        <p:spPr>
          <a:xfrm>
            <a:off x="11029381" y="596530"/>
            <a:ext cx="553126" cy="1593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41" kern="0" dirty="0">
                <a:solidFill>
                  <a:srgbClr val="8DA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 / 25</a:t>
            </a:r>
            <a:endParaRPr lang="en-US" sz="825" dirty="0"/>
          </a:p>
        </p:txBody>
      </p:sp>
      <p:sp>
        <p:nvSpPr>
          <p:cNvPr id="7" name="Text 4"/>
          <p:cNvSpPr/>
          <p:nvPr/>
        </p:nvSpPr>
        <p:spPr>
          <a:xfrm>
            <a:off x="685692" y="971442"/>
            <a:ext cx="11145235" cy="4361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850" b="1" spc="-29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CORS: ¿por qué fue necesario?</a:t>
            </a:r>
            <a:endParaRPr lang="en-US" sz="2850" dirty="0"/>
          </a:p>
        </p:txBody>
      </p:sp>
      <p:sp>
        <p:nvSpPr>
          <p:cNvPr id="8" name="Shape 5"/>
          <p:cNvSpPr/>
          <p:nvPr/>
        </p:nvSpPr>
        <p:spPr>
          <a:xfrm>
            <a:off x="685692" y="1559854"/>
            <a:ext cx="438096" cy="28548"/>
          </a:xfrm>
          <a:prstGeom prst="roundRect">
            <a:avLst>
              <a:gd name="adj" fmla="val 50000"/>
            </a:avLst>
          </a:prstGeom>
          <a:solidFill>
            <a:srgbClr val="4FC3F7"/>
          </a:solidFill>
          <a:ln/>
        </p:spPr>
      </p:sp>
      <p:sp>
        <p:nvSpPr>
          <p:cNvPr id="9" name="Shape 6"/>
          <p:cNvSpPr/>
          <p:nvPr/>
        </p:nvSpPr>
        <p:spPr>
          <a:xfrm>
            <a:off x="3835030" y="1798268"/>
            <a:ext cx="2000520" cy="512510"/>
          </a:xfrm>
          <a:prstGeom prst="roundRect">
            <a:avLst>
              <a:gd name="adj" fmla="val 22302"/>
            </a:avLst>
          </a:prstGeom>
          <a:solidFill>
            <a:srgbClr val="22324F"/>
          </a:solidFill>
          <a:ln w="8659">
            <a:solidFill>
              <a:srgbClr val="314363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3131" y="1949802"/>
            <a:ext cx="209442" cy="20944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357823" y="1959273"/>
            <a:ext cx="1335827" cy="219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· :5500</a:t>
            </a:r>
            <a:endParaRPr lang="en-US" sz="1275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6973" y="1874846"/>
            <a:ext cx="609519" cy="20944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066910" y="2112836"/>
            <a:ext cx="565709" cy="1593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FF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bloqueado</a:t>
            </a:r>
            <a:endParaRPr lang="en-US" sz="825" dirty="0"/>
          </a:p>
        </p:txBody>
      </p:sp>
      <p:sp>
        <p:nvSpPr>
          <p:cNvPr id="14" name="Shape 9"/>
          <p:cNvSpPr/>
          <p:nvPr/>
        </p:nvSpPr>
        <p:spPr>
          <a:xfrm>
            <a:off x="6787915" y="1798268"/>
            <a:ext cx="1568919" cy="512510"/>
          </a:xfrm>
          <a:prstGeom prst="roundRect">
            <a:avLst>
              <a:gd name="adj" fmla="val 22302"/>
            </a:avLst>
          </a:prstGeom>
          <a:solidFill>
            <a:srgbClr val="22324F"/>
          </a:solidFill>
          <a:ln w="8659">
            <a:solidFill>
              <a:srgbClr val="314363"/>
            </a:solidFill>
            <a:prstDash val="solid"/>
          </a:ln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06016" y="1949802"/>
            <a:ext cx="209442" cy="209442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7310708" y="1959273"/>
            <a:ext cx="904226" cy="219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· :5157</a:t>
            </a:r>
            <a:endParaRPr lang="en-US" sz="1275" dirty="0"/>
          </a:p>
        </p:txBody>
      </p:sp>
      <p:sp>
        <p:nvSpPr>
          <p:cNvPr id="17" name="Shape 11"/>
          <p:cNvSpPr/>
          <p:nvPr/>
        </p:nvSpPr>
        <p:spPr>
          <a:xfrm>
            <a:off x="685692" y="2519795"/>
            <a:ext cx="5334135" cy="3588381"/>
          </a:xfrm>
          <a:prstGeom prst="roundRect">
            <a:avLst>
              <a:gd name="adj" fmla="val 3716"/>
            </a:avLst>
          </a:prstGeom>
          <a:solidFill>
            <a:srgbClr val="22324F"/>
          </a:solidFill>
          <a:ln w="8659">
            <a:solidFill>
              <a:srgbClr val="314363"/>
            </a:solidFill>
            <a:prstDash val="solid"/>
          </a:ln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2870" y="2737896"/>
            <a:ext cx="171423" cy="171423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170466" y="2741279"/>
            <a:ext cx="894078" cy="1939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FF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problema</a:t>
            </a:r>
            <a:endParaRPr lang="en-US" sz="1125" dirty="0"/>
          </a:p>
        </p:txBody>
      </p:sp>
      <p:sp>
        <p:nvSpPr>
          <p:cNvPr id="20" name="Text 13"/>
          <p:cNvSpPr/>
          <p:nvPr/>
        </p:nvSpPr>
        <p:spPr>
          <a:xfrm>
            <a:off x="922870" y="2985492"/>
            <a:ext cx="5005573" cy="466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088" dirty="0">
                <a:solidFill>
                  <a:srgbClr val="C4D0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navegador bloquea peticiones de </a:t>
            </a:r>
            <a:pPr algn="l" indent="0" marL="0">
              <a:lnSpc>
                <a:spcPct val="155000"/>
              </a:lnSpc>
              <a:buNone/>
            </a:pPr>
            <a:r>
              <a:rPr lang="en-US" sz="1000" b="1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:5500 </a:t>
            </a:r>
            <a:pPr algn="l" indent="0" marL="0">
              <a:lnSpc>
                <a:spcPct val="155000"/>
              </a:lnSpc>
              <a:buNone/>
            </a:pPr>
            <a:r>
              <a:rPr lang="en-US" sz="1088" dirty="0">
                <a:solidFill>
                  <a:srgbClr val="C4D0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</a:t>
            </a:r>
            <a:pPr algn="l" indent="0" marL="0">
              <a:lnSpc>
                <a:spcPct val="155000"/>
              </a:lnSpc>
              <a:buNone/>
            </a:pPr>
            <a:r>
              <a:rPr lang="en-US" sz="1000" b="1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:5157 </a:t>
            </a:r>
            <a:pPr algn="l" indent="0" marL="0">
              <a:lnSpc>
                <a:spcPct val="155000"/>
              </a:lnSpc>
              <a:buNone/>
            </a:pPr>
            <a:r>
              <a:rPr lang="en-US" sz="1088" dirty="0">
                <a:solidFill>
                  <a:srgbClr val="C4D0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la </a:t>
            </a:r>
            <a:pPr algn="l" indent="0" marL="0">
              <a:lnSpc>
                <a:spcPct val="155000"/>
              </a:lnSpc>
              <a:buNone/>
            </a:pPr>
            <a:r>
              <a:rPr lang="en-US" sz="1088" b="1" dirty="0">
                <a:solidFill>
                  <a:srgbClr val="C4D0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Same-Origin Policy </a:t>
            </a:r>
            <a:pPr algn="l" indent="0" marL="0">
              <a:lnSpc>
                <a:spcPct val="155000"/>
              </a:lnSpc>
              <a:buNone/>
            </a:pPr>
            <a:r>
              <a:rPr lang="en-US" sz="1088" dirty="0">
                <a:solidFill>
                  <a:srgbClr val="C4D0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088" dirty="0"/>
          </a:p>
        </p:txBody>
      </p:sp>
      <p:sp>
        <p:nvSpPr>
          <p:cNvPr id="21" name="Shape 14"/>
          <p:cNvSpPr/>
          <p:nvPr/>
        </p:nvSpPr>
        <p:spPr>
          <a:xfrm>
            <a:off x="6172173" y="2519795"/>
            <a:ext cx="5334135" cy="3588381"/>
          </a:xfrm>
          <a:prstGeom prst="roundRect">
            <a:avLst>
              <a:gd name="adj" fmla="val 3716"/>
            </a:avLst>
          </a:prstGeom>
          <a:solidFill>
            <a:srgbClr val="22324F"/>
          </a:solidFill>
          <a:ln w="8659">
            <a:solidFill>
              <a:srgbClr val="314363"/>
            </a:solidFill>
            <a:prstDash val="solid"/>
          </a:ln>
        </p:spPr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9351" y="2737896"/>
            <a:ext cx="171423" cy="171423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6656947" y="2741279"/>
            <a:ext cx="870130" cy="1939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7EE7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solución</a:t>
            </a:r>
            <a:endParaRPr lang="en-US" sz="1125" dirty="0"/>
          </a:p>
        </p:txBody>
      </p:sp>
      <p:sp>
        <p:nvSpPr>
          <p:cNvPr id="24" name="Text 16"/>
          <p:cNvSpPr/>
          <p:nvPr/>
        </p:nvSpPr>
        <p:spPr>
          <a:xfrm>
            <a:off x="6409351" y="2985492"/>
            <a:ext cx="5005573" cy="2521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000" b="1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AllowAnyOrigin </a:t>
            </a:r>
            <a:pPr algn="l" indent="0" marL="0">
              <a:lnSpc>
                <a:spcPct val="155000"/>
              </a:lnSpc>
              <a:buNone/>
            </a:pPr>
            <a:r>
              <a:rPr lang="en-US" sz="1088" dirty="0">
                <a:solidFill>
                  <a:srgbClr val="C4D0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desarrollo. En producción se restringiría al dominio real.</a:t>
            </a:r>
            <a:endParaRPr lang="en-US" sz="1088" dirty="0"/>
          </a:p>
        </p:txBody>
      </p:sp>
      <p:sp>
        <p:nvSpPr>
          <p:cNvPr id="25" name="Text 17"/>
          <p:cNvSpPr/>
          <p:nvPr/>
        </p:nvSpPr>
        <p:spPr>
          <a:xfrm>
            <a:off x="685692" y="6279600"/>
            <a:ext cx="1965505" cy="1593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spc="66" kern="0" dirty="0">
                <a:solidFill>
                  <a:srgbClr val="C4D0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RelojAPI · Dominican Watch Men</a:t>
            </a:r>
            <a:endParaRPr lang="en-US" sz="825" dirty="0"/>
          </a:p>
        </p:txBody>
      </p:sp>
      <p:sp>
        <p:nvSpPr>
          <p:cNvPr id="26" name="Text 18"/>
          <p:cNvSpPr/>
          <p:nvPr/>
        </p:nvSpPr>
        <p:spPr>
          <a:xfrm>
            <a:off x="11127202" y="6279600"/>
            <a:ext cx="455306" cy="1593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66" kern="0" dirty="0">
                <a:solidFill>
                  <a:srgbClr val="8DA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 / 25</a:t>
            </a:r>
            <a:endParaRPr lang="en-US" sz="825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13357"/>
          </a:solidFill>
          <a:ln/>
        </p:spPr>
      </p:sp>
      <p:sp>
        <p:nvSpPr>
          <p:cNvPr id="3" name="Shape 1"/>
          <p:cNvSpPr/>
          <p:nvPr/>
        </p:nvSpPr>
        <p:spPr>
          <a:xfrm>
            <a:off x="685692" y="514269"/>
            <a:ext cx="285750" cy="285750"/>
          </a:xfrm>
          <a:prstGeom prst="roundRect">
            <a:avLst>
              <a:gd name="adj" fmla="val 26667"/>
            </a:avLst>
          </a:prstGeom>
          <a:solidFill>
            <a:srgbClr val="4FC3F7">
              <a:alpha val="12000"/>
            </a:srgbClr>
          </a:solidFill>
          <a:ln w="8659">
            <a:solidFill>
              <a:srgbClr val="314363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7658" y="576235"/>
            <a:ext cx="161817" cy="16181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76163" y="592201"/>
            <a:ext cx="1604259" cy="1679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b="1" spc="169" kern="0" dirty="0">
                <a:solidFill>
                  <a:srgbClr val="4FC3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PRINCIPIO A FIN</a:t>
            </a:r>
            <a:endParaRPr lang="en-US" sz="938" dirty="0"/>
          </a:p>
        </p:txBody>
      </p:sp>
      <p:sp>
        <p:nvSpPr>
          <p:cNvPr id="6" name="Text 3"/>
          <p:cNvSpPr/>
          <p:nvPr/>
        </p:nvSpPr>
        <p:spPr>
          <a:xfrm>
            <a:off x="11029381" y="596530"/>
            <a:ext cx="553126" cy="1593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41" kern="0" dirty="0">
                <a:solidFill>
                  <a:srgbClr val="8DA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23 / 25</a:t>
            </a:r>
            <a:endParaRPr lang="en-US" sz="825" dirty="0"/>
          </a:p>
        </p:txBody>
      </p:sp>
      <p:sp>
        <p:nvSpPr>
          <p:cNvPr id="7" name="Text 4"/>
          <p:cNvSpPr/>
          <p:nvPr/>
        </p:nvSpPr>
        <p:spPr>
          <a:xfrm>
            <a:off x="685692" y="971442"/>
            <a:ext cx="11145235" cy="4361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850" b="1" spc="-29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Ciclo completo de una petición</a:t>
            </a:r>
            <a:endParaRPr lang="en-US" sz="2850" dirty="0"/>
          </a:p>
        </p:txBody>
      </p:sp>
      <p:sp>
        <p:nvSpPr>
          <p:cNvPr id="8" name="Shape 5"/>
          <p:cNvSpPr/>
          <p:nvPr/>
        </p:nvSpPr>
        <p:spPr>
          <a:xfrm>
            <a:off x="685692" y="1559854"/>
            <a:ext cx="438096" cy="28548"/>
          </a:xfrm>
          <a:prstGeom prst="roundRect">
            <a:avLst>
              <a:gd name="adj" fmla="val 50000"/>
            </a:avLst>
          </a:prstGeom>
          <a:solidFill>
            <a:srgbClr val="4FC3F7"/>
          </a:solidFill>
          <a:ln/>
        </p:spPr>
      </p:sp>
      <p:sp>
        <p:nvSpPr>
          <p:cNvPr id="9" name="Shape 6"/>
          <p:cNvSpPr/>
          <p:nvPr/>
        </p:nvSpPr>
        <p:spPr>
          <a:xfrm>
            <a:off x="685692" y="2510063"/>
            <a:ext cx="3619500" cy="455414"/>
          </a:xfrm>
          <a:prstGeom prst="roundRect">
            <a:avLst>
              <a:gd name="adj" fmla="val 20915"/>
            </a:avLst>
          </a:prstGeom>
          <a:solidFill>
            <a:srgbClr val="22324F"/>
          </a:solidFill>
          <a:ln/>
        </p:spPr>
      </p:sp>
      <p:sp>
        <p:nvSpPr>
          <p:cNvPr id="10" name="Shape 7"/>
          <p:cNvSpPr/>
          <p:nvPr/>
        </p:nvSpPr>
        <p:spPr>
          <a:xfrm>
            <a:off x="685692" y="2956818"/>
            <a:ext cx="3619500" cy="9525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11" name="Shape 8"/>
          <p:cNvSpPr/>
          <p:nvPr/>
        </p:nvSpPr>
        <p:spPr>
          <a:xfrm>
            <a:off x="685692" y="2510063"/>
            <a:ext cx="3619500" cy="9525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12" name="Shape 9"/>
          <p:cNvSpPr/>
          <p:nvPr/>
        </p:nvSpPr>
        <p:spPr>
          <a:xfrm>
            <a:off x="685692" y="2510063"/>
            <a:ext cx="34636" cy="455414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13" name="Shape 10"/>
          <p:cNvSpPr/>
          <p:nvPr/>
        </p:nvSpPr>
        <p:spPr>
          <a:xfrm>
            <a:off x="4296533" y="2510063"/>
            <a:ext cx="9525" cy="455414"/>
          </a:xfrm>
          <a:prstGeom prst="rect">
            <a:avLst/>
          </a:prstGeom>
          <a:solidFill>
            <a:srgbClr val="4FC3F7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0828" y="2642520"/>
            <a:ext cx="190500" cy="1905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206049" y="2646850"/>
            <a:ext cx="491295" cy="2112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4476615" y="2668498"/>
            <a:ext cx="1542428" cy="1766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13" dirty="0">
                <a:solidFill>
                  <a:srgbClr val="8DA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fetch('/api/reloj')</a:t>
            </a:r>
            <a:endParaRPr lang="en-US" sz="1013" dirty="0"/>
          </a:p>
        </p:txBody>
      </p:sp>
      <p:sp>
        <p:nvSpPr>
          <p:cNvPr id="17" name="Shape 13"/>
          <p:cNvSpPr/>
          <p:nvPr/>
        </p:nvSpPr>
        <p:spPr>
          <a:xfrm>
            <a:off x="1047615" y="2965477"/>
            <a:ext cx="18942" cy="152346"/>
          </a:xfrm>
          <a:prstGeom prst="rect">
            <a:avLst/>
          </a:prstGeom>
          <a:solidFill>
            <a:srgbClr val="3D557E"/>
          </a:solidFill>
          <a:ln/>
        </p:spPr>
      </p:sp>
      <p:sp>
        <p:nvSpPr>
          <p:cNvPr id="18" name="Shape 14"/>
          <p:cNvSpPr/>
          <p:nvPr/>
        </p:nvSpPr>
        <p:spPr>
          <a:xfrm>
            <a:off x="685692" y="3117823"/>
            <a:ext cx="3619500" cy="455414"/>
          </a:xfrm>
          <a:prstGeom prst="roundRect">
            <a:avLst>
              <a:gd name="adj" fmla="val 20915"/>
            </a:avLst>
          </a:prstGeom>
          <a:solidFill>
            <a:srgbClr val="22324F"/>
          </a:solidFill>
          <a:ln/>
        </p:spPr>
      </p:sp>
      <p:sp>
        <p:nvSpPr>
          <p:cNvPr id="19" name="Shape 15"/>
          <p:cNvSpPr/>
          <p:nvPr/>
        </p:nvSpPr>
        <p:spPr>
          <a:xfrm>
            <a:off x="685692" y="3564578"/>
            <a:ext cx="3619500" cy="9525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20" name="Shape 16"/>
          <p:cNvSpPr/>
          <p:nvPr/>
        </p:nvSpPr>
        <p:spPr>
          <a:xfrm>
            <a:off x="685692" y="3117823"/>
            <a:ext cx="3619500" cy="9525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21" name="Shape 17"/>
          <p:cNvSpPr/>
          <p:nvPr/>
        </p:nvSpPr>
        <p:spPr>
          <a:xfrm>
            <a:off x="685692" y="3117823"/>
            <a:ext cx="34636" cy="455414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22" name="Shape 18"/>
          <p:cNvSpPr/>
          <p:nvPr/>
        </p:nvSpPr>
        <p:spPr>
          <a:xfrm>
            <a:off x="4296533" y="3117823"/>
            <a:ext cx="9525" cy="455414"/>
          </a:xfrm>
          <a:prstGeom prst="rect">
            <a:avLst/>
          </a:prstGeom>
          <a:solidFill>
            <a:srgbClr val="4FC3F7"/>
          </a:solidFill>
          <a:ln/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0828" y="3250280"/>
            <a:ext cx="190500" cy="19050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1206049" y="3254610"/>
            <a:ext cx="991087" cy="2112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CORS check</a:t>
            </a:r>
            <a:endParaRPr lang="en-US" sz="1200" dirty="0"/>
          </a:p>
        </p:txBody>
      </p:sp>
      <p:sp>
        <p:nvSpPr>
          <p:cNvPr id="25" name="Text 20"/>
          <p:cNvSpPr/>
          <p:nvPr/>
        </p:nvSpPr>
        <p:spPr>
          <a:xfrm>
            <a:off x="4476615" y="3276258"/>
            <a:ext cx="1773923" cy="1766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13" dirty="0">
                <a:solidFill>
                  <a:srgbClr val="8DA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política AllowFrontend</a:t>
            </a:r>
            <a:endParaRPr lang="en-US" sz="1013" dirty="0"/>
          </a:p>
        </p:txBody>
      </p:sp>
      <p:sp>
        <p:nvSpPr>
          <p:cNvPr id="26" name="Shape 21"/>
          <p:cNvSpPr/>
          <p:nvPr/>
        </p:nvSpPr>
        <p:spPr>
          <a:xfrm>
            <a:off x="1047615" y="3573237"/>
            <a:ext cx="18942" cy="152346"/>
          </a:xfrm>
          <a:prstGeom prst="rect">
            <a:avLst/>
          </a:prstGeom>
          <a:solidFill>
            <a:srgbClr val="3D557E"/>
          </a:solidFill>
          <a:ln/>
        </p:spPr>
      </p:sp>
      <p:sp>
        <p:nvSpPr>
          <p:cNvPr id="27" name="Shape 22"/>
          <p:cNvSpPr/>
          <p:nvPr/>
        </p:nvSpPr>
        <p:spPr>
          <a:xfrm>
            <a:off x="685692" y="3725583"/>
            <a:ext cx="3619500" cy="455414"/>
          </a:xfrm>
          <a:prstGeom prst="roundRect">
            <a:avLst>
              <a:gd name="adj" fmla="val 20915"/>
            </a:avLst>
          </a:prstGeom>
          <a:solidFill>
            <a:srgbClr val="22324F"/>
          </a:solidFill>
          <a:ln/>
        </p:spPr>
      </p:sp>
      <p:sp>
        <p:nvSpPr>
          <p:cNvPr id="28" name="Shape 23"/>
          <p:cNvSpPr/>
          <p:nvPr/>
        </p:nvSpPr>
        <p:spPr>
          <a:xfrm>
            <a:off x="685692" y="4172338"/>
            <a:ext cx="3619500" cy="9525"/>
          </a:xfrm>
          <a:prstGeom prst="rect">
            <a:avLst/>
          </a:prstGeom>
          <a:solidFill>
            <a:srgbClr val="C4A5FF"/>
          </a:solidFill>
          <a:ln/>
        </p:spPr>
      </p:sp>
      <p:sp>
        <p:nvSpPr>
          <p:cNvPr id="29" name="Shape 24"/>
          <p:cNvSpPr/>
          <p:nvPr/>
        </p:nvSpPr>
        <p:spPr>
          <a:xfrm>
            <a:off x="685692" y="3725583"/>
            <a:ext cx="3619500" cy="9525"/>
          </a:xfrm>
          <a:prstGeom prst="rect">
            <a:avLst/>
          </a:prstGeom>
          <a:solidFill>
            <a:srgbClr val="C4A5FF"/>
          </a:solidFill>
          <a:ln/>
        </p:spPr>
      </p:sp>
      <p:sp>
        <p:nvSpPr>
          <p:cNvPr id="30" name="Shape 25"/>
          <p:cNvSpPr/>
          <p:nvPr/>
        </p:nvSpPr>
        <p:spPr>
          <a:xfrm>
            <a:off x="685692" y="3725583"/>
            <a:ext cx="34636" cy="455414"/>
          </a:xfrm>
          <a:prstGeom prst="rect">
            <a:avLst/>
          </a:prstGeom>
          <a:solidFill>
            <a:srgbClr val="C4A5FF"/>
          </a:solidFill>
          <a:ln/>
        </p:spPr>
      </p:sp>
      <p:sp>
        <p:nvSpPr>
          <p:cNvPr id="31" name="Shape 26"/>
          <p:cNvSpPr/>
          <p:nvPr/>
        </p:nvSpPr>
        <p:spPr>
          <a:xfrm>
            <a:off x="4296533" y="3725583"/>
            <a:ext cx="9525" cy="455414"/>
          </a:xfrm>
          <a:prstGeom prst="rect">
            <a:avLst/>
          </a:prstGeom>
          <a:solidFill>
            <a:srgbClr val="C4A5FF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0828" y="3858040"/>
            <a:ext cx="190500" cy="190500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206049" y="3862370"/>
            <a:ext cx="1176987" cy="2112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RelojController</a:t>
            </a:r>
            <a:endParaRPr lang="en-US" sz="1200" dirty="0"/>
          </a:p>
        </p:txBody>
      </p:sp>
      <p:sp>
        <p:nvSpPr>
          <p:cNvPr id="34" name="Text 28"/>
          <p:cNvSpPr/>
          <p:nvPr/>
        </p:nvSpPr>
        <p:spPr>
          <a:xfrm>
            <a:off x="4476615" y="3884018"/>
            <a:ext cx="2391154" cy="1766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13" dirty="0">
                <a:solidFill>
                  <a:srgbClr val="8DA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IRelojService → RelojService</a:t>
            </a:r>
            <a:endParaRPr lang="en-US" sz="1013" dirty="0"/>
          </a:p>
        </p:txBody>
      </p:sp>
      <p:sp>
        <p:nvSpPr>
          <p:cNvPr id="35" name="Shape 29"/>
          <p:cNvSpPr/>
          <p:nvPr/>
        </p:nvSpPr>
        <p:spPr>
          <a:xfrm>
            <a:off x="1047615" y="4180997"/>
            <a:ext cx="18942" cy="152346"/>
          </a:xfrm>
          <a:prstGeom prst="rect">
            <a:avLst/>
          </a:prstGeom>
          <a:solidFill>
            <a:srgbClr val="3D557E"/>
          </a:solidFill>
          <a:ln/>
        </p:spPr>
      </p:sp>
      <p:sp>
        <p:nvSpPr>
          <p:cNvPr id="36" name="Shape 30"/>
          <p:cNvSpPr/>
          <p:nvPr/>
        </p:nvSpPr>
        <p:spPr>
          <a:xfrm>
            <a:off x="685692" y="4333343"/>
            <a:ext cx="3619500" cy="455414"/>
          </a:xfrm>
          <a:prstGeom prst="roundRect">
            <a:avLst>
              <a:gd name="adj" fmla="val 20915"/>
            </a:avLst>
          </a:prstGeom>
          <a:solidFill>
            <a:srgbClr val="22324F"/>
          </a:solidFill>
          <a:ln/>
        </p:spPr>
      </p:sp>
      <p:sp>
        <p:nvSpPr>
          <p:cNvPr id="37" name="Shape 31"/>
          <p:cNvSpPr/>
          <p:nvPr/>
        </p:nvSpPr>
        <p:spPr>
          <a:xfrm>
            <a:off x="685692" y="4780098"/>
            <a:ext cx="3619500" cy="9525"/>
          </a:xfrm>
          <a:prstGeom prst="rect">
            <a:avLst/>
          </a:prstGeom>
          <a:solidFill>
            <a:srgbClr val="FFD479"/>
          </a:solidFill>
          <a:ln/>
        </p:spPr>
      </p:sp>
      <p:sp>
        <p:nvSpPr>
          <p:cNvPr id="38" name="Shape 32"/>
          <p:cNvSpPr/>
          <p:nvPr/>
        </p:nvSpPr>
        <p:spPr>
          <a:xfrm>
            <a:off x="685692" y="4333343"/>
            <a:ext cx="3619500" cy="9525"/>
          </a:xfrm>
          <a:prstGeom prst="rect">
            <a:avLst/>
          </a:prstGeom>
          <a:solidFill>
            <a:srgbClr val="FFD479"/>
          </a:solidFill>
          <a:ln/>
        </p:spPr>
      </p:sp>
      <p:sp>
        <p:nvSpPr>
          <p:cNvPr id="39" name="Shape 33"/>
          <p:cNvSpPr/>
          <p:nvPr/>
        </p:nvSpPr>
        <p:spPr>
          <a:xfrm>
            <a:off x="685692" y="4333343"/>
            <a:ext cx="34636" cy="455414"/>
          </a:xfrm>
          <a:prstGeom prst="rect">
            <a:avLst/>
          </a:prstGeom>
          <a:solidFill>
            <a:srgbClr val="FFD479"/>
          </a:solidFill>
          <a:ln/>
        </p:spPr>
      </p:sp>
      <p:sp>
        <p:nvSpPr>
          <p:cNvPr id="40" name="Shape 34"/>
          <p:cNvSpPr/>
          <p:nvPr/>
        </p:nvSpPr>
        <p:spPr>
          <a:xfrm>
            <a:off x="4296533" y="4333343"/>
            <a:ext cx="9525" cy="455414"/>
          </a:xfrm>
          <a:prstGeom prst="rect">
            <a:avLst/>
          </a:prstGeom>
          <a:solidFill>
            <a:srgbClr val="FFD479"/>
          </a:solidFill>
          <a:ln/>
        </p:spPr>
      </p:sp>
      <p:pic>
        <p:nvPicPr>
          <p:cNvPr id="4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0828" y="4465800"/>
            <a:ext cx="190500" cy="190500"/>
          </a:xfrm>
          <a:prstGeom prst="rect">
            <a:avLst/>
          </a:prstGeom>
        </p:spPr>
      </p:pic>
      <p:sp>
        <p:nvSpPr>
          <p:cNvPr id="42" name="Text 35"/>
          <p:cNvSpPr/>
          <p:nvPr/>
        </p:nvSpPr>
        <p:spPr>
          <a:xfrm>
            <a:off x="1206049" y="4470130"/>
            <a:ext cx="2207418" cy="2112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AppDbContext → SQL Server</a:t>
            </a:r>
            <a:endParaRPr lang="en-US" sz="1200" dirty="0"/>
          </a:p>
        </p:txBody>
      </p:sp>
      <p:sp>
        <p:nvSpPr>
          <p:cNvPr id="43" name="Text 36"/>
          <p:cNvSpPr/>
          <p:nvPr/>
        </p:nvSpPr>
        <p:spPr>
          <a:xfrm>
            <a:off x="4476615" y="4491778"/>
            <a:ext cx="1310932" cy="1766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13" dirty="0">
                <a:solidFill>
                  <a:srgbClr val="8DA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consulta EF Core</a:t>
            </a:r>
            <a:endParaRPr lang="en-US" sz="1013" dirty="0"/>
          </a:p>
        </p:txBody>
      </p:sp>
      <p:sp>
        <p:nvSpPr>
          <p:cNvPr id="44" name="Shape 37"/>
          <p:cNvSpPr/>
          <p:nvPr/>
        </p:nvSpPr>
        <p:spPr>
          <a:xfrm>
            <a:off x="1047615" y="4788757"/>
            <a:ext cx="18942" cy="152346"/>
          </a:xfrm>
          <a:prstGeom prst="rect">
            <a:avLst/>
          </a:prstGeom>
          <a:solidFill>
            <a:srgbClr val="3D557E"/>
          </a:solidFill>
          <a:ln/>
        </p:spPr>
      </p:sp>
      <p:sp>
        <p:nvSpPr>
          <p:cNvPr id="45" name="Shape 38"/>
          <p:cNvSpPr/>
          <p:nvPr/>
        </p:nvSpPr>
        <p:spPr>
          <a:xfrm>
            <a:off x="685692" y="4941103"/>
            <a:ext cx="3619500" cy="455414"/>
          </a:xfrm>
          <a:prstGeom prst="roundRect">
            <a:avLst>
              <a:gd name="adj" fmla="val 20915"/>
            </a:avLst>
          </a:prstGeom>
          <a:solidFill>
            <a:srgbClr val="22324F"/>
          </a:solidFill>
          <a:ln/>
        </p:spPr>
      </p:sp>
      <p:sp>
        <p:nvSpPr>
          <p:cNvPr id="46" name="Shape 39"/>
          <p:cNvSpPr/>
          <p:nvPr/>
        </p:nvSpPr>
        <p:spPr>
          <a:xfrm>
            <a:off x="685692" y="5387858"/>
            <a:ext cx="3619500" cy="9525"/>
          </a:xfrm>
          <a:prstGeom prst="rect">
            <a:avLst/>
          </a:prstGeom>
          <a:solidFill>
            <a:srgbClr val="7EE787"/>
          </a:solidFill>
          <a:ln/>
        </p:spPr>
      </p:sp>
      <p:sp>
        <p:nvSpPr>
          <p:cNvPr id="47" name="Shape 40"/>
          <p:cNvSpPr/>
          <p:nvPr/>
        </p:nvSpPr>
        <p:spPr>
          <a:xfrm>
            <a:off x="685692" y="4941103"/>
            <a:ext cx="3619500" cy="9525"/>
          </a:xfrm>
          <a:prstGeom prst="rect">
            <a:avLst/>
          </a:prstGeom>
          <a:solidFill>
            <a:srgbClr val="7EE787"/>
          </a:solidFill>
          <a:ln/>
        </p:spPr>
      </p:sp>
      <p:sp>
        <p:nvSpPr>
          <p:cNvPr id="48" name="Shape 41"/>
          <p:cNvSpPr/>
          <p:nvPr/>
        </p:nvSpPr>
        <p:spPr>
          <a:xfrm>
            <a:off x="685692" y="4941103"/>
            <a:ext cx="34636" cy="455414"/>
          </a:xfrm>
          <a:prstGeom prst="rect">
            <a:avLst/>
          </a:prstGeom>
          <a:solidFill>
            <a:srgbClr val="7EE787"/>
          </a:solidFill>
          <a:ln/>
        </p:spPr>
      </p:sp>
      <p:sp>
        <p:nvSpPr>
          <p:cNvPr id="49" name="Shape 42"/>
          <p:cNvSpPr/>
          <p:nvPr/>
        </p:nvSpPr>
        <p:spPr>
          <a:xfrm>
            <a:off x="4296533" y="4941103"/>
            <a:ext cx="9525" cy="455414"/>
          </a:xfrm>
          <a:prstGeom prst="rect">
            <a:avLst/>
          </a:prstGeom>
          <a:solidFill>
            <a:srgbClr val="7EE787"/>
          </a:solidFill>
          <a:ln/>
        </p:spPr>
      </p:sp>
      <p:pic>
        <p:nvPicPr>
          <p:cNvPr id="5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0828" y="5073560"/>
            <a:ext cx="190500" cy="190500"/>
          </a:xfrm>
          <a:prstGeom prst="rect">
            <a:avLst/>
          </a:prstGeom>
        </p:spPr>
      </p:pic>
      <p:sp>
        <p:nvSpPr>
          <p:cNvPr id="51" name="Text 43"/>
          <p:cNvSpPr/>
          <p:nvPr/>
        </p:nvSpPr>
        <p:spPr>
          <a:xfrm>
            <a:off x="1206049" y="5077889"/>
            <a:ext cx="2634688" cy="2112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Response JSON → React renderiza</a:t>
            </a:r>
            <a:endParaRPr lang="en-US" sz="1200" dirty="0"/>
          </a:p>
        </p:txBody>
      </p:sp>
      <p:sp>
        <p:nvSpPr>
          <p:cNvPr id="52" name="Text 44"/>
          <p:cNvSpPr/>
          <p:nvPr/>
        </p:nvSpPr>
        <p:spPr>
          <a:xfrm>
            <a:off x="4476615" y="5099538"/>
            <a:ext cx="2545529" cy="1766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13" dirty="0">
                <a:solidFill>
                  <a:srgbClr val="8DA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 colección aparece en pantalla</a:t>
            </a:r>
            <a:endParaRPr lang="en-US" sz="1013" dirty="0"/>
          </a:p>
        </p:txBody>
      </p:sp>
      <p:sp>
        <p:nvSpPr>
          <p:cNvPr id="53" name="Text 45"/>
          <p:cNvSpPr/>
          <p:nvPr/>
        </p:nvSpPr>
        <p:spPr>
          <a:xfrm>
            <a:off x="685692" y="6279600"/>
            <a:ext cx="1965505" cy="1593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spc="66" kern="0" dirty="0">
                <a:solidFill>
                  <a:srgbClr val="C4D0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RelojAPI · Dominican Watch Men</a:t>
            </a:r>
            <a:endParaRPr lang="en-US" sz="825" dirty="0"/>
          </a:p>
        </p:txBody>
      </p:sp>
      <p:sp>
        <p:nvSpPr>
          <p:cNvPr id="54" name="Text 46"/>
          <p:cNvSpPr/>
          <p:nvPr/>
        </p:nvSpPr>
        <p:spPr>
          <a:xfrm>
            <a:off x="11127202" y="6279600"/>
            <a:ext cx="455306" cy="1593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66" kern="0" dirty="0">
                <a:solidFill>
                  <a:srgbClr val="8DA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 / 25</a:t>
            </a:r>
            <a:endParaRPr lang="en-US" sz="825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13357"/>
          </a:solidFill>
          <a:ln/>
        </p:spPr>
      </p:sp>
      <p:sp>
        <p:nvSpPr>
          <p:cNvPr id="3" name="Shape 1"/>
          <p:cNvSpPr/>
          <p:nvPr/>
        </p:nvSpPr>
        <p:spPr>
          <a:xfrm>
            <a:off x="685692" y="514269"/>
            <a:ext cx="285750" cy="285750"/>
          </a:xfrm>
          <a:prstGeom prst="roundRect">
            <a:avLst>
              <a:gd name="adj" fmla="val 26667"/>
            </a:avLst>
          </a:prstGeom>
          <a:solidFill>
            <a:srgbClr val="4FC3F7">
              <a:alpha val="12000"/>
            </a:srgbClr>
          </a:solidFill>
          <a:ln w="8659">
            <a:solidFill>
              <a:srgbClr val="314363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7658" y="576235"/>
            <a:ext cx="161817" cy="16181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76163" y="592201"/>
            <a:ext cx="1459084" cy="1679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b="1" spc="169" kern="0" dirty="0">
                <a:solidFill>
                  <a:srgbClr val="4FC3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PRÓXIMOS PASOS</a:t>
            </a:r>
            <a:endParaRPr lang="en-US" sz="938" dirty="0"/>
          </a:p>
        </p:txBody>
      </p:sp>
      <p:sp>
        <p:nvSpPr>
          <p:cNvPr id="6" name="Text 3"/>
          <p:cNvSpPr/>
          <p:nvPr/>
        </p:nvSpPr>
        <p:spPr>
          <a:xfrm>
            <a:off x="11029381" y="596530"/>
            <a:ext cx="553126" cy="1593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41" kern="0" dirty="0">
                <a:solidFill>
                  <a:srgbClr val="8DA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24 / 25</a:t>
            </a:r>
            <a:endParaRPr lang="en-US" sz="825" dirty="0"/>
          </a:p>
        </p:txBody>
      </p:sp>
      <p:sp>
        <p:nvSpPr>
          <p:cNvPr id="7" name="Text 4"/>
          <p:cNvSpPr/>
          <p:nvPr/>
        </p:nvSpPr>
        <p:spPr>
          <a:xfrm>
            <a:off x="685692" y="971442"/>
            <a:ext cx="11145235" cy="4361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850" b="1" spc="-29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Oportunidades de Mejora</a:t>
            </a:r>
            <a:endParaRPr lang="en-US" sz="2850" dirty="0"/>
          </a:p>
        </p:txBody>
      </p:sp>
      <p:sp>
        <p:nvSpPr>
          <p:cNvPr id="8" name="Shape 5"/>
          <p:cNvSpPr/>
          <p:nvPr/>
        </p:nvSpPr>
        <p:spPr>
          <a:xfrm>
            <a:off x="685692" y="1559854"/>
            <a:ext cx="438096" cy="28548"/>
          </a:xfrm>
          <a:prstGeom prst="roundRect">
            <a:avLst>
              <a:gd name="adj" fmla="val 50000"/>
            </a:avLst>
          </a:prstGeom>
          <a:solidFill>
            <a:srgbClr val="4FC3F7"/>
          </a:solidFill>
          <a:ln/>
        </p:spPr>
      </p:sp>
      <p:sp>
        <p:nvSpPr>
          <p:cNvPr id="9" name="Shape 6"/>
          <p:cNvSpPr/>
          <p:nvPr/>
        </p:nvSpPr>
        <p:spPr>
          <a:xfrm>
            <a:off x="685692" y="1798121"/>
            <a:ext cx="3505308" cy="2078994"/>
          </a:xfrm>
          <a:prstGeom prst="roundRect">
            <a:avLst>
              <a:gd name="adj" fmla="val 6414"/>
            </a:avLst>
          </a:prstGeom>
          <a:solidFill>
            <a:srgbClr val="22324F"/>
          </a:solidFill>
          <a:ln w="8659">
            <a:solidFill>
              <a:srgbClr val="314363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84851" y="2618570"/>
            <a:ext cx="438096" cy="438096"/>
          </a:xfrm>
          <a:prstGeom prst="roundRect">
            <a:avLst>
              <a:gd name="adj" fmla="val 23916"/>
            </a:avLst>
          </a:prstGeom>
          <a:solidFill>
            <a:srgbClr val="4FC3F7">
              <a:alpha val="12000"/>
            </a:srgbClr>
          </a:solidFill>
          <a:ln w="8659">
            <a:solidFill>
              <a:srgbClr val="314363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9572" y="2723291"/>
            <a:ext cx="228519" cy="22851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475293" y="2641030"/>
            <a:ext cx="2485592" cy="2199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3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JWT Authentication</a:t>
            </a:r>
            <a:endParaRPr lang="en-US" sz="1238" dirty="0"/>
          </a:p>
        </p:txBody>
      </p:sp>
      <p:sp>
        <p:nvSpPr>
          <p:cNvPr id="13" name="Text 9"/>
          <p:cNvSpPr/>
          <p:nvPr/>
        </p:nvSpPr>
        <p:spPr>
          <a:xfrm>
            <a:off x="1475293" y="2860890"/>
            <a:ext cx="2485592" cy="2114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dirty="0">
                <a:solidFill>
                  <a:srgbClr val="8DA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Tokens seguros en vez de sesión en estado</a:t>
            </a:r>
            <a:endParaRPr lang="en-US" sz="975" dirty="0"/>
          </a:p>
        </p:txBody>
      </p:sp>
      <p:sp>
        <p:nvSpPr>
          <p:cNvPr id="14" name="Shape 10"/>
          <p:cNvSpPr/>
          <p:nvPr/>
        </p:nvSpPr>
        <p:spPr>
          <a:xfrm>
            <a:off x="4343346" y="1798121"/>
            <a:ext cx="3505308" cy="2078994"/>
          </a:xfrm>
          <a:prstGeom prst="roundRect">
            <a:avLst>
              <a:gd name="adj" fmla="val 6414"/>
            </a:avLst>
          </a:prstGeom>
          <a:solidFill>
            <a:srgbClr val="22324F"/>
          </a:solidFill>
          <a:ln w="8659">
            <a:solidFill>
              <a:srgbClr val="314363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4542505" y="2618570"/>
            <a:ext cx="438096" cy="438096"/>
          </a:xfrm>
          <a:prstGeom prst="roundRect">
            <a:avLst>
              <a:gd name="adj" fmla="val 23916"/>
            </a:avLst>
          </a:prstGeom>
          <a:solidFill>
            <a:srgbClr val="4FC3F7">
              <a:alpha val="12000"/>
            </a:srgbClr>
          </a:solidFill>
          <a:ln w="8659">
            <a:solidFill>
              <a:srgbClr val="314363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7226" y="2723291"/>
            <a:ext cx="228519" cy="228519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132947" y="2641030"/>
            <a:ext cx="2182253" cy="2199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3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Paginación y filtros</a:t>
            </a:r>
            <a:endParaRPr lang="en-US" sz="1238" dirty="0"/>
          </a:p>
        </p:txBody>
      </p:sp>
      <p:sp>
        <p:nvSpPr>
          <p:cNvPr id="18" name="Text 13"/>
          <p:cNvSpPr/>
          <p:nvPr/>
        </p:nvSpPr>
        <p:spPr>
          <a:xfrm>
            <a:off x="5132947" y="2860890"/>
            <a:ext cx="2182253" cy="2114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dirty="0">
                <a:solidFill>
                  <a:srgbClr val="8DA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Limitar y buscar en endpoints masivos</a:t>
            </a:r>
            <a:endParaRPr lang="en-US" sz="975" dirty="0"/>
          </a:p>
        </p:txBody>
      </p:sp>
      <p:sp>
        <p:nvSpPr>
          <p:cNvPr id="19" name="Shape 14"/>
          <p:cNvSpPr/>
          <p:nvPr/>
        </p:nvSpPr>
        <p:spPr>
          <a:xfrm>
            <a:off x="8001000" y="1798121"/>
            <a:ext cx="3505308" cy="2078994"/>
          </a:xfrm>
          <a:prstGeom prst="roundRect">
            <a:avLst>
              <a:gd name="adj" fmla="val 6414"/>
            </a:avLst>
          </a:prstGeom>
          <a:solidFill>
            <a:srgbClr val="22324F"/>
          </a:solidFill>
          <a:ln w="8659">
            <a:solidFill>
              <a:srgbClr val="314363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8200159" y="2618570"/>
            <a:ext cx="438096" cy="438096"/>
          </a:xfrm>
          <a:prstGeom prst="roundRect">
            <a:avLst>
              <a:gd name="adj" fmla="val 23916"/>
            </a:avLst>
          </a:prstGeom>
          <a:solidFill>
            <a:srgbClr val="4FC3F7">
              <a:alpha val="12000"/>
            </a:srgbClr>
          </a:solidFill>
          <a:ln w="8659">
            <a:solidFill>
              <a:srgbClr val="314363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4880" y="2723291"/>
            <a:ext cx="228519" cy="228519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790601" y="2641030"/>
            <a:ext cx="2265191" cy="2199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3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Repository Pattern</a:t>
            </a:r>
            <a:endParaRPr lang="en-US" sz="1238" dirty="0"/>
          </a:p>
        </p:txBody>
      </p:sp>
      <p:sp>
        <p:nvSpPr>
          <p:cNvPr id="23" name="Text 17"/>
          <p:cNvSpPr/>
          <p:nvPr/>
        </p:nvSpPr>
        <p:spPr>
          <a:xfrm>
            <a:off x="8790601" y="2860890"/>
            <a:ext cx="2265191" cy="2114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dirty="0">
                <a:solidFill>
                  <a:srgbClr val="8DA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Mayor separación de responsabilidades</a:t>
            </a:r>
            <a:endParaRPr lang="en-US" sz="975" dirty="0"/>
          </a:p>
        </p:txBody>
      </p:sp>
      <p:sp>
        <p:nvSpPr>
          <p:cNvPr id="24" name="Shape 18"/>
          <p:cNvSpPr/>
          <p:nvPr/>
        </p:nvSpPr>
        <p:spPr>
          <a:xfrm>
            <a:off x="685692" y="4029461"/>
            <a:ext cx="3505308" cy="2078994"/>
          </a:xfrm>
          <a:prstGeom prst="roundRect">
            <a:avLst>
              <a:gd name="adj" fmla="val 6414"/>
            </a:avLst>
          </a:prstGeom>
          <a:solidFill>
            <a:srgbClr val="22324F"/>
          </a:solidFill>
          <a:ln w="8659">
            <a:solidFill>
              <a:srgbClr val="314363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884851" y="4849910"/>
            <a:ext cx="438096" cy="438096"/>
          </a:xfrm>
          <a:prstGeom prst="roundRect">
            <a:avLst>
              <a:gd name="adj" fmla="val 23916"/>
            </a:avLst>
          </a:prstGeom>
          <a:solidFill>
            <a:srgbClr val="4FC3F7">
              <a:alpha val="12000"/>
            </a:srgbClr>
          </a:solidFill>
          <a:ln w="8659">
            <a:solidFill>
              <a:srgbClr val="314363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9572" y="4954631"/>
            <a:ext cx="228519" cy="228519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475293" y="4872369"/>
            <a:ext cx="2386960" cy="2199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3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FluentValidation</a:t>
            </a:r>
            <a:endParaRPr lang="en-US" sz="1238" dirty="0"/>
          </a:p>
        </p:txBody>
      </p:sp>
      <p:sp>
        <p:nvSpPr>
          <p:cNvPr id="28" name="Text 21"/>
          <p:cNvSpPr/>
          <p:nvPr/>
        </p:nvSpPr>
        <p:spPr>
          <a:xfrm>
            <a:off x="1475293" y="5092229"/>
            <a:ext cx="2386960" cy="2114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dirty="0">
                <a:solidFill>
                  <a:srgbClr val="8DA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Validación robusta de modelos de entrada</a:t>
            </a:r>
            <a:endParaRPr lang="en-US" sz="975" dirty="0"/>
          </a:p>
        </p:txBody>
      </p:sp>
      <p:sp>
        <p:nvSpPr>
          <p:cNvPr id="29" name="Shape 22"/>
          <p:cNvSpPr/>
          <p:nvPr/>
        </p:nvSpPr>
        <p:spPr>
          <a:xfrm>
            <a:off x="4343346" y="4029461"/>
            <a:ext cx="3505308" cy="2078994"/>
          </a:xfrm>
          <a:prstGeom prst="roundRect">
            <a:avLst>
              <a:gd name="adj" fmla="val 6414"/>
            </a:avLst>
          </a:prstGeom>
          <a:solidFill>
            <a:srgbClr val="22324F"/>
          </a:solidFill>
          <a:ln w="8659">
            <a:solidFill>
              <a:srgbClr val="314363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4542505" y="4849910"/>
            <a:ext cx="438096" cy="438096"/>
          </a:xfrm>
          <a:prstGeom prst="roundRect">
            <a:avLst>
              <a:gd name="adj" fmla="val 23916"/>
            </a:avLst>
          </a:prstGeom>
          <a:solidFill>
            <a:srgbClr val="4FC3F7">
              <a:alpha val="12000"/>
            </a:srgbClr>
          </a:solidFill>
          <a:ln w="8659">
            <a:solidFill>
              <a:srgbClr val="314363"/>
            </a:solidFill>
            <a:prstDash val="solid"/>
          </a:ln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47226" y="4954631"/>
            <a:ext cx="228519" cy="228519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5132947" y="4872369"/>
            <a:ext cx="2113657" cy="2199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3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Cache con Redis</a:t>
            </a:r>
            <a:endParaRPr lang="en-US" sz="1238" dirty="0"/>
          </a:p>
        </p:txBody>
      </p:sp>
      <p:sp>
        <p:nvSpPr>
          <p:cNvPr id="33" name="Text 25"/>
          <p:cNvSpPr/>
          <p:nvPr/>
        </p:nvSpPr>
        <p:spPr>
          <a:xfrm>
            <a:off x="5132947" y="5092229"/>
            <a:ext cx="2113657" cy="2114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dirty="0">
                <a:solidFill>
                  <a:srgbClr val="8DA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Rendimiento en consultas frecuentes</a:t>
            </a:r>
            <a:endParaRPr lang="en-US" sz="975" dirty="0"/>
          </a:p>
        </p:txBody>
      </p:sp>
      <p:sp>
        <p:nvSpPr>
          <p:cNvPr id="34" name="Shape 26"/>
          <p:cNvSpPr/>
          <p:nvPr/>
        </p:nvSpPr>
        <p:spPr>
          <a:xfrm>
            <a:off x="8001000" y="4029461"/>
            <a:ext cx="3505308" cy="2078994"/>
          </a:xfrm>
          <a:prstGeom prst="roundRect">
            <a:avLst>
              <a:gd name="adj" fmla="val 6414"/>
            </a:avLst>
          </a:prstGeom>
          <a:solidFill>
            <a:srgbClr val="22324F"/>
          </a:solidFill>
          <a:ln w="8659">
            <a:solidFill>
              <a:srgbClr val="314363"/>
            </a:solidFill>
            <a:prstDash val="solid"/>
          </a:ln>
        </p:spPr>
      </p:sp>
      <p:sp>
        <p:nvSpPr>
          <p:cNvPr id="35" name="Shape 27"/>
          <p:cNvSpPr/>
          <p:nvPr/>
        </p:nvSpPr>
        <p:spPr>
          <a:xfrm>
            <a:off x="8200159" y="4849910"/>
            <a:ext cx="438096" cy="438096"/>
          </a:xfrm>
          <a:prstGeom prst="roundRect">
            <a:avLst>
              <a:gd name="adj" fmla="val 23916"/>
            </a:avLst>
          </a:prstGeom>
          <a:solidFill>
            <a:srgbClr val="4FC3F7">
              <a:alpha val="12000"/>
            </a:srgbClr>
          </a:solidFill>
          <a:ln w="8659">
            <a:solidFill>
              <a:srgbClr val="314363"/>
            </a:solidFill>
            <a:prstDash val="solid"/>
          </a:ln>
        </p:spPr>
      </p:sp>
      <p:pic>
        <p:nvPicPr>
          <p:cNvPr id="3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04880" y="4954631"/>
            <a:ext cx="228519" cy="228519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8790601" y="4872369"/>
            <a:ext cx="2043708" cy="2199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3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en Azure</a:t>
            </a:r>
            <a:endParaRPr lang="en-US" sz="1238" dirty="0"/>
          </a:p>
        </p:txBody>
      </p:sp>
      <p:sp>
        <p:nvSpPr>
          <p:cNvPr id="38" name="Text 29"/>
          <p:cNvSpPr/>
          <p:nvPr/>
        </p:nvSpPr>
        <p:spPr>
          <a:xfrm>
            <a:off x="8790601" y="5092229"/>
            <a:ext cx="2043708" cy="2114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dirty="0">
                <a:solidFill>
                  <a:srgbClr val="8DA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Service + Azure SQL Database</a:t>
            </a:r>
            <a:endParaRPr lang="en-US" sz="975" dirty="0"/>
          </a:p>
        </p:txBody>
      </p:sp>
      <p:sp>
        <p:nvSpPr>
          <p:cNvPr id="39" name="Text 30"/>
          <p:cNvSpPr/>
          <p:nvPr/>
        </p:nvSpPr>
        <p:spPr>
          <a:xfrm>
            <a:off x="685692" y="6279600"/>
            <a:ext cx="1965505" cy="1593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spc="66" kern="0" dirty="0">
                <a:solidFill>
                  <a:srgbClr val="C4D0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RelojAPI · Dominican Watch Men</a:t>
            </a:r>
            <a:endParaRPr lang="en-US" sz="825" dirty="0"/>
          </a:p>
        </p:txBody>
      </p:sp>
      <p:sp>
        <p:nvSpPr>
          <p:cNvPr id="40" name="Text 31"/>
          <p:cNvSpPr/>
          <p:nvPr/>
        </p:nvSpPr>
        <p:spPr>
          <a:xfrm>
            <a:off x="11127202" y="6279600"/>
            <a:ext cx="455306" cy="1593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66" kern="0" dirty="0">
                <a:solidFill>
                  <a:srgbClr val="8DA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 / 25</a:t>
            </a:r>
            <a:endParaRPr lang="en-US" sz="825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13357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91173" y="1663628"/>
            <a:ext cx="609519" cy="60951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218999" y="2525884"/>
            <a:ext cx="3753866" cy="8762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600" b="1" spc="-198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¡Gracias!</a:t>
            </a:r>
            <a:endParaRPr lang="en-US" sz="6600" dirty="0"/>
          </a:p>
        </p:txBody>
      </p:sp>
      <p:sp>
        <p:nvSpPr>
          <p:cNvPr id="5" name="Text 2"/>
          <p:cNvSpPr/>
          <p:nvPr/>
        </p:nvSpPr>
        <p:spPr>
          <a:xfrm>
            <a:off x="5242863" y="3478248"/>
            <a:ext cx="1706274" cy="3498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4FC3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¿Preguntas?</a:t>
            </a:r>
            <a:endParaRPr lang="en-US" sz="2100" dirty="0"/>
          </a:p>
        </p:txBody>
      </p:sp>
      <p:sp>
        <p:nvSpPr>
          <p:cNvPr id="6" name="Shape 3"/>
          <p:cNvSpPr/>
          <p:nvPr/>
        </p:nvSpPr>
        <p:spPr>
          <a:xfrm>
            <a:off x="3241747" y="4075952"/>
            <a:ext cx="1666334" cy="360029"/>
          </a:xfrm>
          <a:prstGeom prst="roundRect">
            <a:avLst>
              <a:gd name="adj" fmla="val 50000"/>
            </a:avLst>
          </a:prstGeom>
          <a:solidFill>
            <a:srgbClr val="22324F"/>
          </a:solidFill>
          <a:ln w="8659">
            <a:solidFill>
              <a:srgbClr val="314363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1829" y="4170255"/>
            <a:ext cx="171423" cy="17142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678896" y="4177967"/>
            <a:ext cx="1125303" cy="185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88" b="1" dirty="0">
                <a:solidFill>
                  <a:srgbClr val="C4D0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ASP.NET Core 9</a:t>
            </a:r>
            <a:endParaRPr lang="en-US" sz="1088" dirty="0"/>
          </a:p>
        </p:txBody>
      </p:sp>
      <p:sp>
        <p:nvSpPr>
          <p:cNvPr id="9" name="Shape 5"/>
          <p:cNvSpPr/>
          <p:nvPr/>
        </p:nvSpPr>
        <p:spPr>
          <a:xfrm>
            <a:off x="5022273" y="4075952"/>
            <a:ext cx="1146788" cy="360029"/>
          </a:xfrm>
          <a:prstGeom prst="roundRect">
            <a:avLst>
              <a:gd name="adj" fmla="val 50000"/>
            </a:avLst>
          </a:prstGeom>
          <a:solidFill>
            <a:srgbClr val="22324F"/>
          </a:solidFill>
          <a:ln w="8659">
            <a:solidFill>
              <a:srgbClr val="314363"/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2355" y="4170255"/>
            <a:ext cx="171423" cy="171423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459421" y="4177967"/>
            <a:ext cx="605757" cy="185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88" b="1" dirty="0">
                <a:solidFill>
                  <a:srgbClr val="C4D0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 Core</a:t>
            </a:r>
            <a:endParaRPr lang="en-US" sz="1088" dirty="0"/>
          </a:p>
        </p:txBody>
      </p:sp>
      <p:sp>
        <p:nvSpPr>
          <p:cNvPr id="12" name="Shape 7"/>
          <p:cNvSpPr/>
          <p:nvPr/>
        </p:nvSpPr>
        <p:spPr>
          <a:xfrm>
            <a:off x="6283253" y="4075952"/>
            <a:ext cx="1367189" cy="360029"/>
          </a:xfrm>
          <a:prstGeom prst="roundRect">
            <a:avLst>
              <a:gd name="adj" fmla="val 50000"/>
            </a:avLst>
          </a:prstGeom>
          <a:solidFill>
            <a:srgbClr val="22324F"/>
          </a:solidFill>
          <a:ln w="8659">
            <a:solidFill>
              <a:srgbClr val="314363"/>
            </a:solidFill>
            <a:prstDash val="solid"/>
          </a:ln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3335" y="4170255"/>
            <a:ext cx="171423" cy="171423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720401" y="4177967"/>
            <a:ext cx="826158" cy="185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88" b="1" dirty="0">
                <a:solidFill>
                  <a:srgbClr val="C4D0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Server</a:t>
            </a:r>
            <a:endParaRPr lang="en-US" sz="1088" dirty="0"/>
          </a:p>
        </p:txBody>
      </p:sp>
      <p:sp>
        <p:nvSpPr>
          <p:cNvPr id="15" name="Shape 9"/>
          <p:cNvSpPr/>
          <p:nvPr/>
        </p:nvSpPr>
        <p:spPr>
          <a:xfrm>
            <a:off x="7764634" y="4075952"/>
            <a:ext cx="1185484" cy="360029"/>
          </a:xfrm>
          <a:prstGeom prst="roundRect">
            <a:avLst>
              <a:gd name="adj" fmla="val 50000"/>
            </a:avLst>
          </a:prstGeom>
          <a:solidFill>
            <a:srgbClr val="22324F"/>
          </a:solidFill>
          <a:ln w="8659">
            <a:solidFill>
              <a:srgbClr val="314363"/>
            </a:solidFill>
            <a:prstDash val="solid"/>
          </a:ln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44716" y="4170255"/>
            <a:ext cx="171423" cy="171423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8201783" y="4177967"/>
            <a:ext cx="644453" cy="185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88" b="1" dirty="0">
                <a:solidFill>
                  <a:srgbClr val="C4D0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18</a:t>
            </a:r>
            <a:endParaRPr lang="en-US" sz="1088" dirty="0"/>
          </a:p>
        </p:txBody>
      </p:sp>
      <p:sp>
        <p:nvSpPr>
          <p:cNvPr id="18" name="Shape 11"/>
          <p:cNvSpPr/>
          <p:nvPr/>
        </p:nvSpPr>
        <p:spPr>
          <a:xfrm>
            <a:off x="3062883" y="4740446"/>
            <a:ext cx="6066099" cy="9525"/>
          </a:xfrm>
          <a:prstGeom prst="rect">
            <a:avLst/>
          </a:prstGeom>
          <a:solidFill>
            <a:srgbClr val="314363"/>
          </a:solidFill>
          <a:ln/>
        </p:spPr>
      </p:sp>
      <p:sp>
        <p:nvSpPr>
          <p:cNvPr id="19" name="Text 12"/>
          <p:cNvSpPr/>
          <p:nvPr/>
        </p:nvSpPr>
        <p:spPr>
          <a:xfrm>
            <a:off x="2971891" y="4939605"/>
            <a:ext cx="6248082" cy="3498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spc="63" kern="0" dirty="0">
                <a:solidFill>
                  <a:srgbClr val="C4D0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Dominican Watch Men </a:t>
            </a:r>
            <a:pPr algn="ctr" indent="0" marL="0">
              <a:buNone/>
            </a:pPr>
            <a:r>
              <a:rPr lang="en-US" sz="1050" spc="63" kern="0" dirty="0">
                <a:solidFill>
                  <a:srgbClr val="8DA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Roberto Sánchez (24-0177) · Axel Santana (23-1568) Prof. Ing. Johanna Elisa Rodríguez Ricardo · UNPHU — Programación Web II · Junio 2026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2026-06-05T19:32:54Z</dcterms:created>
  <dcterms:modified xsi:type="dcterms:W3CDTF">2026-06-05T19:32:54Z</dcterms:modified>
</cp:coreProperties>
</file>